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0" r:id="rId9"/>
    <p:sldId id="279" r:id="rId10"/>
    <p:sldId id="278" r:id="rId11"/>
    <p:sldId id="281" r:id="rId12"/>
    <p:sldId id="282" r:id="rId13"/>
    <p:sldId id="283" r:id="rId14"/>
    <p:sldId id="317" r:id="rId15"/>
    <p:sldId id="318" r:id="rId16"/>
    <p:sldId id="284" r:id="rId17"/>
    <p:sldId id="319" r:id="rId18"/>
    <p:sldId id="285" r:id="rId19"/>
    <p:sldId id="263" r:id="rId20"/>
    <p:sldId id="264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265" r:id="rId35"/>
    <p:sldId id="301" r:id="rId36"/>
    <p:sldId id="302" r:id="rId37"/>
    <p:sldId id="303" r:id="rId38"/>
    <p:sldId id="304" r:id="rId39"/>
    <p:sldId id="266" r:id="rId40"/>
    <p:sldId id="305" r:id="rId41"/>
    <p:sldId id="306" r:id="rId42"/>
    <p:sldId id="307" r:id="rId43"/>
    <p:sldId id="308" r:id="rId44"/>
    <p:sldId id="309" r:id="rId45"/>
    <p:sldId id="310" r:id="rId46"/>
    <p:sldId id="311" r:id="rId47"/>
    <p:sldId id="312" r:id="rId48"/>
    <p:sldId id="313" r:id="rId49"/>
    <p:sldId id="314" r:id="rId50"/>
    <p:sldId id="269" r:id="rId51"/>
    <p:sldId id="270" r:id="rId52"/>
    <p:sldId id="271" r:id="rId53"/>
    <p:sldId id="315" r:id="rId54"/>
    <p:sldId id="316" r:id="rId5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45" y="5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D588F5-2A56-4CF5-8A48-D09671EFF392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71191B-8851-4968-95DB-C81B10526D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357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前四种角色相当于后世的“生旦净丑”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E5BAB8-B91D-48EA-87F8-57C9BF08CE6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1726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视频</a:t>
            </a:r>
            <a:r>
              <a:rPr lang="en-US" altLang="zh-CN" dirty="0"/>
              <a:t>《</a:t>
            </a:r>
            <a:r>
              <a:rPr lang="zh-CN" altLang="en-US" dirty="0"/>
              <a:t>张协状元</a:t>
            </a:r>
            <a:r>
              <a:rPr lang="en-US" altLang="zh-CN" dirty="0"/>
              <a:t>》</a:t>
            </a:r>
            <a:r>
              <a:rPr lang="zh-CN" altLang="en-US" dirty="0"/>
              <a:t>片段 </a:t>
            </a:r>
            <a:r>
              <a:rPr lang="en-US" altLang="zh-CN" dirty="0"/>
              <a:t>from</a:t>
            </a:r>
            <a:r>
              <a:rPr lang="zh-CN" altLang="en-US" dirty="0"/>
              <a:t>哔哩哔哩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E5BAB8-B91D-48EA-87F8-57C9BF08CE63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071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D08582-619F-B32E-8353-0329C029A8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48FAEEE-1674-7177-1422-26E14ABC8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94CE76-F7D6-DB49-282A-A7FA934D6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791A-12D6-42FC-809B-ABFD85C1E540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8F8AC2-9C9F-4091-0F6C-387676384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7D3609-AB4D-24AD-8748-E9909B65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983BB-6695-4680-ACDA-4999DE12FD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068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63E350-D16D-1767-552B-90160777C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66AB0B-ACF7-275E-A210-88453DB57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42003D-B43B-85E7-4014-EC29BF9A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791A-12D6-42FC-809B-ABFD85C1E540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EF8D5C-09FB-FF94-23BB-0481099EF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28FA6A-44E2-3126-E91A-0265116D9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983BB-6695-4680-ACDA-4999DE12FD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688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64E734-A41C-6E98-B786-6792F6E75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9C3C6D-A292-B689-B26A-45997BA81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FCDEF1-BA26-EC84-7442-A8BC68AD4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791A-12D6-42FC-809B-ABFD85C1E540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4938AC-1E2F-63DD-5820-64B3A12E5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1F1E53-DF50-814C-FA0D-FB6B3F92B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983BB-6695-4680-ACDA-4999DE12FD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476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CC163F-77CA-88A2-D8F2-ED76EAE09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1D95A3-BDE2-65C5-96BA-639A6303D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9A4606-3582-5254-CA80-5797D8960E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50088A-865D-4FB1-D7FE-05B6008E6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791A-12D6-42FC-809B-ABFD85C1E540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140832-EEAE-A076-0245-B6828CD90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1C5E69-99FA-8761-95C6-CF7B5C22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983BB-6695-4680-ACDA-4999DE12FD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663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390D0C-9635-16A1-2221-F64F1D81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31E639-75C3-02E7-FE0F-498C7817C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701246-D763-43A4-6693-2D2E1E409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C7C2DCC-1976-1414-D2CC-014EED9936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D6BF4C8-6D39-90A3-3E12-1ECAC3F23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077B48A-AA53-FB2F-422C-B9F57F258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791A-12D6-42FC-809B-ABFD85C1E540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50BB7AD-B54B-DCE4-E8A2-ECA953D8B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7CD6C3D-AA81-A5BF-2FDF-90C5D39C9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983BB-6695-4680-ACDA-4999DE12FD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346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71F402-4549-7137-6724-1B529ECF3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A1D7543-2048-7E7E-086F-3F64BE299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791A-12D6-42FC-809B-ABFD85C1E540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C6EA9E3-7BE5-A5DE-ABA8-CAC2CB3E1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DBF5D0-A5AE-D567-F72D-D04495FF5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983BB-6695-4680-ACDA-4999DE12FD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5390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CF52376-CC18-5158-F802-A179C2BD1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791A-12D6-42FC-809B-ABFD85C1E540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E334C32-E845-A82C-0B0C-5FC07865A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07BB6D-06A8-435B-BB95-22B59880B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983BB-6695-4680-ACDA-4999DE12FD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871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DA455-9DEF-506B-4C6E-3AFD29205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87ACD1-BFFC-06A8-F005-160F7AD6A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206E9E-4F22-5498-442D-331E04801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64F39E-697F-1FB1-76EF-3F42CB1BE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791A-12D6-42FC-809B-ABFD85C1E540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189762-056E-6D28-2526-3E4B12127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0F1738-296D-6D76-10A9-8C70F5A1E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983BB-6695-4680-ACDA-4999DE12FD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166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5818A4-D212-08EB-DFF5-61A790164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86320E2-7FFB-E20B-1806-7603240F64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E82D1C1-3759-FCC2-337B-4396EBA38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547FD3-7283-F9FD-A2BE-935CB30DC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791A-12D6-42FC-809B-ABFD85C1E540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450DA4-7953-FD06-1C4C-9D37D94FE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94FC69-B045-96EF-076C-027A16EAA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983BB-6695-4680-ACDA-4999DE12FD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5261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040171-89C0-74A7-D44A-098FA801D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F08E037-2D50-F66D-6FBF-5BF64C579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31C993-335C-B9FC-EA1B-E7AC81D26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791A-12D6-42FC-809B-ABFD85C1E540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6826B7-FF20-FBB2-676A-DB7E383B8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3C53A8-5112-3FA8-F40F-59B566F4C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983BB-6695-4680-ACDA-4999DE12FD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404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71EDB64-910E-271F-F21A-FFCDC9F429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C4733E-A334-88A1-5211-47C1A7832D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56F694-D7DA-ACBE-2302-0EC66A5C9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791A-12D6-42FC-809B-ABFD85C1E540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F416E5-B16F-3285-665E-3BAF9A66B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0EB675-A761-8B5B-EA4F-95B331D90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983BB-6695-4680-ACDA-4999DE12FD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110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5A5DE80-ED9F-4727-3999-625990C47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47412E-38BF-54A3-3890-D806DB748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B2E2FD-8F93-B36C-E0D5-DB123C8F9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1791A-12D6-42FC-809B-ABFD85C1E540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1EC6E0-2C12-ED45-D852-0412C25FA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492A76-EF9A-FA47-4AE1-162DD5A22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983BB-6695-4680-ACDA-4999DE12FD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556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2A4DCA-0D5A-25F2-5FEC-925BB9C978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43CB4A-0272-FD3D-0CC6-464BC1C7A8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974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1A3F98-2DD0-BBDA-C7A7-E155282376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中国戏曲发展历程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25D00B4-BA49-23BF-38B5-241903B6BA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402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4ACD1D-DD63-9CE8-3A9D-E40217644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教学目标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83EA7E-7596-9C93-7F83-55ED48E3D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了解中国戏曲从萌芽、形成、成熟到高峰的基本发展脉络。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了解各历史时期最具代表性的戏曲形式、作家和作品。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3. </a:t>
            </a:r>
            <a:r>
              <a:rPr lang="zh-CN" altLang="en-US" dirty="0"/>
              <a:t>理解社会经济、文化政策对戏曲发展的深刻影响。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4. </a:t>
            </a:r>
            <a:r>
              <a:rPr lang="zh-CN" altLang="en-US" dirty="0"/>
              <a:t>感受中国戏曲作为综合艺术的独特魅力与文化内涵。</a:t>
            </a:r>
          </a:p>
        </p:txBody>
      </p:sp>
    </p:spTree>
    <p:extLst>
      <p:ext uri="{BB962C8B-B14F-4D97-AF65-F5344CB8AC3E}">
        <p14:creationId xmlns:p14="http://schemas.microsoft.com/office/powerpoint/2010/main" val="3489388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4F51-E5C9-AC50-53A4-D89636AD9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课程框架介绍：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F1FC10-B44A-D651-58C0-4AB82F179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时间轴：孕育（远古</a:t>
            </a:r>
            <a:r>
              <a:rPr lang="en-US" altLang="zh-CN" dirty="0"/>
              <a:t>-</a:t>
            </a:r>
            <a:r>
              <a:rPr lang="zh-CN" altLang="en-US" dirty="0"/>
              <a:t>唐）→ 形成（宋金）→ 成熟（元）→ 繁荣（明）→ 高峰（清） 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戏曲是一门综合艺术，融合了音乐、舞蹈、文学、美术、杂技等多种元素，它的发展是漫长而复杂的融合过程。</a:t>
            </a:r>
          </a:p>
        </p:txBody>
      </p:sp>
    </p:spTree>
    <p:extLst>
      <p:ext uri="{BB962C8B-B14F-4D97-AF65-F5344CB8AC3E}">
        <p14:creationId xmlns:p14="http://schemas.microsoft.com/office/powerpoint/2010/main" val="1751912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368B30-2386-2858-D447-744D6E9C0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B0F96B-484C-8343-FC14-B00E77B80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          </a:t>
            </a:r>
            <a:r>
              <a:rPr lang="zh-CN" altLang="en-US" dirty="0"/>
              <a:t>萌芽与孕育期 </a:t>
            </a:r>
            <a:r>
              <a:rPr lang="en-US" altLang="zh-CN" dirty="0"/>
              <a:t>(</a:t>
            </a:r>
            <a:r>
              <a:rPr lang="zh-CN" altLang="en-US" dirty="0"/>
              <a:t>远古至唐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5432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934EE0-BEEF-39CA-D36E-A1E0A0736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远古祭祀与巫觋活动 </a:t>
            </a:r>
            <a:r>
              <a:rPr lang="en-US" altLang="zh-CN" dirty="0"/>
              <a:t>(</a:t>
            </a:r>
            <a:r>
              <a:rPr lang="zh-CN" altLang="en-US" dirty="0"/>
              <a:t>先秦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EE2BFD-E666-1003-0A13-E2BF6EDE1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 傩（</a:t>
            </a:r>
            <a:r>
              <a:rPr lang="en-US" altLang="zh-CN" dirty="0" err="1"/>
              <a:t>nuó</a:t>
            </a:r>
            <a:r>
              <a:rPr lang="zh-CN" altLang="en-US" dirty="0"/>
              <a:t>）戏、</a:t>
            </a:r>
            <a:r>
              <a:rPr lang="en-US" altLang="zh-CN" dirty="0"/>
              <a:t>《</a:t>
            </a:r>
            <a:r>
              <a:rPr lang="zh-CN" altLang="en-US" dirty="0"/>
              <a:t>诗经</a:t>
            </a:r>
            <a:r>
              <a:rPr lang="en-US" altLang="zh-CN" dirty="0"/>
              <a:t>》《</a:t>
            </a:r>
            <a:r>
              <a:rPr lang="zh-CN" altLang="en-US" dirty="0"/>
              <a:t>楚辞</a:t>
            </a:r>
            <a:r>
              <a:rPr lang="en-US" altLang="zh-CN" dirty="0"/>
              <a:t>》 </a:t>
            </a:r>
            <a:r>
              <a:rPr lang="zh-CN" altLang="en-US" dirty="0"/>
              <a:t>中的祭祀乐舞。</a:t>
            </a:r>
            <a:endParaRPr lang="en-US" altLang="zh-CN" dirty="0"/>
          </a:p>
          <a:p>
            <a:r>
              <a:rPr lang="zh-CN" altLang="en-US" dirty="0"/>
              <a:t>傩戏：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又称鬼戏，是汉族最古老的一种祭神跳鬼、驱瘟避疫、表示安庆的娱神</a:t>
            </a:r>
            <a:r>
              <a:rPr lang="zh-CN" altLang="en-US" b="0" i="0" dirty="0">
                <a:effectLst/>
                <a:latin typeface="Helvetica Neue"/>
              </a:rPr>
              <a:t>舞蹈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。</a:t>
            </a:r>
            <a:r>
              <a:rPr lang="zh-CN" altLang="en-US" dirty="0"/>
              <a:t>  </a:t>
            </a:r>
            <a:endParaRPr lang="en-US" altLang="zh-CN" dirty="0"/>
          </a:p>
          <a:p>
            <a:r>
              <a:rPr lang="zh-CN" altLang="en-US" dirty="0"/>
              <a:t>特点： 带有宗教和巫术色彩的仪式性表演，是戏曲的远源。  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zh-CN" altLang="en-US" u="sng" dirty="0">
              <a:solidFill>
                <a:srgbClr val="FF0000"/>
              </a:solidFill>
            </a:endParaRPr>
          </a:p>
        </p:txBody>
      </p:sp>
      <p:pic>
        <p:nvPicPr>
          <p:cNvPr id="5" name="图片 4" descr="人们在看台上的人演出&#10;&#10;AI 生成的内容可能不正确。">
            <a:extLst>
              <a:ext uri="{FF2B5EF4-FFF2-40B4-BE49-F238E27FC236}">
                <a16:creationId xmlns:a16="http://schemas.microsoft.com/office/drawing/2014/main" id="{D82365B9-A290-3B76-0129-D78BD71F10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066" y="3707981"/>
            <a:ext cx="4050755" cy="2784894"/>
          </a:xfrm>
          <a:prstGeom prst="rect">
            <a:avLst/>
          </a:prstGeom>
        </p:spPr>
      </p:pic>
      <p:pic>
        <p:nvPicPr>
          <p:cNvPr id="7" name="图片 6" descr="墙上有涂鸦&#10;&#10;AI 生成的内容可能不正确。">
            <a:extLst>
              <a:ext uri="{FF2B5EF4-FFF2-40B4-BE49-F238E27FC236}">
                <a16:creationId xmlns:a16="http://schemas.microsoft.com/office/drawing/2014/main" id="{6563D276-D864-D60D-668A-025E273467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5925" y="3704110"/>
            <a:ext cx="4587518" cy="2788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938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75C75B-3327-F6C2-95AE-194E06B10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汉代百戏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78B7F-24ED-94BD-22FF-7138094C8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2974"/>
            <a:ext cx="10515600" cy="4813989"/>
          </a:xfrm>
        </p:spPr>
        <p:txBody>
          <a:bodyPr>
            <a:normAutofit fontScale="77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汉武帝时期，张骞通西域后，中外文化交流增多，百戏中融入西域杂技和幻术。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“百戏”一词初见于文帝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纂要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：“百戏起于秦汉曼衍之戏。”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汉代墓葬文物（如壁画、陶俑、画像石）中常见百戏场景，如山东济南汉墓画像石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百戏图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展现了弄丸、倒立、舞轮等技艺。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百戏为后世杂技、戏曲的发展奠定基础，唐代的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"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散乐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"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和宋元杂剧均受其影响。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汉代百戏是中国汉代时期各种民间表演艺术和杂技的总称，是古代中国早期综合性娱乐形式的代表。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“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百戏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”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并非特指某一类表演，而是涵盖了音乐、舞蹈、杂技、魔术、角抵（类似摔跤）、幻术、滑稽戏、驯兽等多种艺术形式，相当于古代的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“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综艺表演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”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，不少项目传自西域。</a:t>
            </a:r>
            <a:endParaRPr lang="en-US" altLang="zh-CN" dirty="0"/>
          </a:p>
          <a:p>
            <a:r>
              <a:rPr lang="zh-CN" altLang="en-US" dirty="0"/>
              <a:t>特点：表演性、娱乐性。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00244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5D74BB-A8FD-F5CB-A4BD-2AFE701B2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 descr="图片包含 窗帘, 房间, 一群, 人们&#10;&#10;AI 生成的内容可能不正确。">
            <a:extLst>
              <a:ext uri="{FF2B5EF4-FFF2-40B4-BE49-F238E27FC236}">
                <a16:creationId xmlns:a16="http://schemas.microsoft.com/office/drawing/2014/main" id="{3B43E1A2-B8BE-66C6-3634-8CAD7E049E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227" y="1825625"/>
            <a:ext cx="8823546" cy="4351338"/>
          </a:xfrm>
        </p:spPr>
      </p:pic>
    </p:spTree>
    <p:extLst>
      <p:ext uri="{BB962C8B-B14F-4D97-AF65-F5344CB8AC3E}">
        <p14:creationId xmlns:p14="http://schemas.microsoft.com/office/powerpoint/2010/main" val="1037454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8C2FC6-ADF9-0802-FD76-5F360E1B0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百戏的主要特点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9F2F9B-5E27-9231-C79F-4B9137195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多样性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：包括角抵戏、爬杆、走索（走钢丝）、吞刀吐火、鱼龙曼延（大型幻术）、跳丸弄剑（抛掷技巧）等。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融合性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：吸收中原传统技艺与西域、匈奴等外来文化元素，体现汉代开放的文化交流。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宫廷与民间流行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：不仅盛行于民间集市、节庆活动，也进入宫廷宴会，成为上层社会的娱乐项目。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宗教与世俗结合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：部分表演与祭祀仪式相关（如傩戏），但更多侧重娱乐性。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4290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AA1950-0677-B43D-6C20-2E238FA30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C1E9E3-6021-CA47-92C5-927485E39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东海黄公</a:t>
            </a:r>
            <a:r>
              <a:rPr lang="en-US" altLang="zh-CN" dirty="0"/>
              <a:t>》——</a:t>
            </a:r>
            <a:r>
              <a:rPr lang="zh-CN" altLang="en-US" dirty="0"/>
              <a:t>被认为是最早的戏曲雏形，有简单的故事情节和角色扮演。 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一个名为“黄公”的东海郡方士，年轻时身怀法术，能施咒降服虎蛇。到了老年，因精力衰退、饮酒过度而导致法力尽失。某日，东海出现白虎为患，黄公依然手持赤金刀，以红色丝带束发，前往降虎。结果法术失灵，最终被白虎所害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3056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3F68B-FA54-6FEE-4566-5F672A9BB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</a:t>
            </a:r>
            <a:r>
              <a:rPr lang="en-US" altLang="zh-CN" dirty="0"/>
              <a:t>《</a:t>
            </a:r>
            <a:r>
              <a:rPr lang="zh-CN" altLang="en-US" dirty="0"/>
              <a:t>东海黄公</a:t>
            </a:r>
            <a:r>
              <a:rPr lang="en-US" altLang="zh-CN" dirty="0"/>
              <a:t>》</a:t>
            </a:r>
            <a:r>
              <a:rPr lang="zh-CN" altLang="en-US" dirty="0"/>
              <a:t>如此重要？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AD54B2-E155-4555-5374-2BC36F9D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0008"/>
            <a:ext cx="10515600" cy="4606955"/>
          </a:xfrm>
        </p:spPr>
        <p:txBody>
          <a:bodyPr>
            <a:normAutofit fontScale="850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从“角抵”到“戏剧”的飞跃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：古代的“角抵”是一种竞技搏斗，主要以比拼力气和技巧为主，没有固定剧情。而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东海黄公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首次为这种搏斗表演设定了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固定的角色（黄公、白虎）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预设的情节（降虎失败）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和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明确的结局（黄公被杀死）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。演员必须按照剧本演出，无法凭临场发挥改变结果。这使它超越了单纯的体育竞技，成为了中国最早的“戏剧”形态之一。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融合了多种艺术形式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：演出中包含了武术、舞蹈（模仿降虎的动作）、魔术（表现法术）、化妆（红束发、赤金刀）和音乐伴奏，是一种综合性的表演艺术。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记载于文献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：该剧在东汉科学家、文学家张衡的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西京赋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中被简要提及：“东海黄公，赤刀粤祝，冀厌白虎，卒不能救。” 东晋葛洪的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西京杂记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中则有更详细的记载。</a:t>
            </a:r>
          </a:p>
          <a:p>
            <a:pPr algn="l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总而言之，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东海黄公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讲的是一个关于年老失术的方士试图降虎却反遭虎害的悲剧故事。它因其固定的角色和情节，被公认为中国戏剧的早期雏形，标志着中国表演艺术从即兴竞技向叙事戏剧转变的关键一步。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4513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05CDA8-E018-CA9D-AF43-0C3A74013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魏晋南北朝至唐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177662-DC2D-5A08-3DC7-386716F3D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歌舞小戏与参军戏 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歌舞戏： </a:t>
            </a:r>
            <a:r>
              <a:rPr lang="en-US" altLang="zh-CN" dirty="0"/>
              <a:t>《</a:t>
            </a:r>
            <a:r>
              <a:rPr lang="zh-CN" altLang="en-US" dirty="0"/>
              <a:t>踏摇娘</a:t>
            </a:r>
            <a:r>
              <a:rPr lang="en-US" altLang="zh-CN" dirty="0"/>
              <a:t>》——</a:t>
            </a:r>
            <a:r>
              <a:rPr lang="zh-CN" altLang="en-US" dirty="0"/>
              <a:t>有故事、有歌唱、有舞蹈、有化妆，已具备戏曲的诸多要素。 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参军戏： 两个角色（参军、苍鹘）的滑稽表演，类似于今天的相声，是“行当”的起源（净、丑的雏形）。 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唐代： 政治经济繁荣，设立了官方音乐机构“教坊”和“梨园”（唐玄宗被誉为“梨园祖师”），为戏曲发展提供了组织和人才基础。</a:t>
            </a:r>
          </a:p>
        </p:txBody>
      </p:sp>
    </p:spTree>
    <p:extLst>
      <p:ext uri="{BB962C8B-B14F-4D97-AF65-F5344CB8AC3E}">
        <p14:creationId xmlns:p14="http://schemas.microsoft.com/office/powerpoint/2010/main" val="3272883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F88052-0E13-6933-3262-032E4D87E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1752"/>
            <a:ext cx="10515600" cy="796566"/>
          </a:xfrm>
        </p:spPr>
        <p:txBody>
          <a:bodyPr/>
          <a:lstStyle/>
          <a:p>
            <a:r>
              <a:rPr lang="zh-CN" altLang="en-US" dirty="0"/>
              <a:t>歌舞小戏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944CE6-6FF4-4C14-5F3D-A29AE24F4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2903"/>
            <a:ext cx="10515600" cy="4789971"/>
          </a:xfrm>
        </p:spPr>
        <p:txBody>
          <a:bodyPr>
            <a:normAutofit/>
          </a:bodyPr>
          <a:lstStyle/>
          <a:p>
            <a:pPr algn="l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“歌舞小戏”是一个比较宽泛的概念，泛指那些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以歌舞表演为主、情节相对简单短小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的早期戏剧形式。它不同于宫廷大型乐舞，更侧重于叙事和角色扮演，流行于民间。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299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1EDE9A-9ADD-BBF6-49B2-DAABA2FFD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F1115"/>
                </a:solidFill>
                <a:latin typeface="quote-cjk-patch"/>
              </a:rPr>
              <a:t>主要特点：</a:t>
            </a:r>
            <a:br>
              <a:rPr lang="zh-CN" altLang="en-US" dirty="0">
                <a:solidFill>
                  <a:srgbClr val="0F1115"/>
                </a:solidFill>
                <a:latin typeface="quote-cjk-patch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0BA101-959C-3DC9-E111-F538F4C06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起源悠久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：其源头可以追溯到先秦的巫舞、傩舞，以及汉代的百戏（角抵戏）。像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东海黄公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这样有固定情节和人物的表演，就被认为是歌舞小戏的早期形态。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歌舞为主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：表演的核心是歌唱和舞蹈，通过歌舞来叙述故事、表达情感。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情节简单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：故事结构不复杂，通常只表现一个生活片段或一个核心矛盾，短小精悍。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角色初步形成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：虽然行当划分不如后世清晰，但已经开始出现角色分工的苗头，如旦（女性角色）、丑（滑稽角色）等。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民间性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：多在市井、乡村表演，内容贴近普通百姓的生活，活泼生动，富有生活气息。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3712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02E2B3-3B50-C8A9-2C3E-507BDA411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5BB6E4-4276-CAD4-6A26-C2BBC7E03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踏摇娘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（又名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谈容娘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：这是歌舞小戏的代表作。讲述了一位美丽的妻子（踏摇娘）经常被其酗酒丑恶的丈夫殴打虐待，她一边摇摆着身体（“踏摇”），一边悲苦地歌唱，向邻里诉说自己的不幸。周围有众人帮腔唱和：“踏摇，和来！踏摇娘苦，和来！”最后丈夫上场，两人斗殴，引得观众大笑。这个戏已经有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旦角（妻子）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和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丑角（丈夫）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的明确对立，有故事、有歌舞、有冲突、有互动，戏剧要素非常齐全。</a:t>
            </a:r>
          </a:p>
          <a:p>
            <a:pPr algn="l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歌舞小戏将歌舞、表演和叙事结合，为中国戏曲“唱、念、做、打”的综合艺术形式奠定了基础。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0993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5E3746-CEB8-BE8B-323C-95C01976B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366F2D-3FF0-8444-A522-714C0ED8A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“参军戏”是一种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以言语和动作的滑稽调笑为主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的表演形式，诞生于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魏晋南北朝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，在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唐代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极为盛行。它被认为是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中国戏曲中“净”（花脸）、“丑”行当的直接源头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9735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049762-A6B0-55BB-DB9D-E8D7DCF8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戏弄周延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FC3388-F411-6F8E-7074-7867009A5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后赵皇帝石勒因一个叫周延的“参军”贪污官绢，遂在宴会上让优人（演员）戏弄他。一优人穿绢衣上场，另一优问：“你是何官，为何在我辈中？”答：“我本是馆陶令。”抖擞其衣曰：“正因拿了这个（指官绢），才被调到你们中间来了。”引得满堂大笑。这被认为是参军戏的起源，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“参军”一词也由此成了被讽刺角色的代称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  <a:r>
              <a:rPr lang="zh-CN" altLang="en-US" sz="2800" b="0" i="0" dirty="0">
                <a:solidFill>
                  <a:srgbClr val="0F1115"/>
                </a:solidFill>
                <a:effectLst/>
                <a:latin typeface="quote-cjk-patch"/>
              </a:rPr>
              <a:t>这类讽刺贪官的表演就被称为“参军戏”。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2022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189164-E72B-B2D6-757A-157D6017D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0301"/>
          </a:xfrm>
        </p:spPr>
        <p:txBody>
          <a:bodyPr/>
          <a:lstStyle/>
          <a:p>
            <a:r>
              <a:rPr lang="zh-CN" altLang="en-US" dirty="0"/>
              <a:t>主要特点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1DE809-2480-3682-CAA0-4B2FF66C8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687"/>
            <a:ext cx="10515600" cy="5037276"/>
          </a:xfrm>
        </p:spPr>
        <p:txBody>
          <a:bodyPr>
            <a:normAutofit fontScale="77500" lnSpcReduction="20000"/>
          </a:bodyPr>
          <a:lstStyle/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两个固定角色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参军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zh-CN" altLang="en-US" sz="3200" b="0" i="0" dirty="0">
                <a:solidFill>
                  <a:srgbClr val="0F1115"/>
                </a:solidFill>
                <a:effectLst/>
                <a:latin typeface="quote-cjk-patch"/>
              </a:rPr>
              <a:t>那个被戏弄、被讽刺的愚蠢角色，相当于后来的“净角”或“丑角”。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苍鹘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zh-CN" altLang="en-US" sz="3200" b="0" i="0" dirty="0">
                <a:solidFill>
                  <a:srgbClr val="0F1115"/>
                </a:solidFill>
                <a:effectLst/>
                <a:latin typeface="quote-cjk-patch"/>
              </a:rPr>
              <a:t>那个机灵幽默、戏弄参军的角色，相当于后来的“丑角”或“末角”。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sz="3200" b="0" i="0" dirty="0">
                <a:solidFill>
                  <a:srgbClr val="0F1115"/>
                </a:solidFill>
                <a:effectLst/>
                <a:latin typeface="quote-cjk-patch"/>
              </a:rPr>
              <a:t>表演通常是“苍鹘”打“参军”，“参军”装傻充愣，一智一愚，一问一答，形成滑稽效果。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对白为主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：虽然可能有简单的音乐伴奏，但表演的核心是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机智幽默的对白和动作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，而非歌舞。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讽刺性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：内容具有很强的讽刺意味，最初多讽刺贪官污吏，后来题材扩大，也讽刺社会现象，类似于今天的讽刺相声或小品。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女演员参与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：到了晚唐，出现了女性演员（如著名的刘采春）表演参军戏，称为“弄参军”或“陆参军”。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参军戏确立了戏剧中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角色对立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的表演模式，极大地发展了中国戏剧的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喜剧传统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和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讽刺精神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，并直接催生了“净”和“丑”这两个重要的戏曲行当。</a:t>
            </a:r>
          </a:p>
          <a:p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77449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ED8C07-C3CC-B9B1-EFD3-66F8770F9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E94F52-A461-64ED-B592-226BB13D4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                               </a:t>
            </a:r>
            <a:r>
              <a:rPr lang="zh-CN" altLang="en-US" dirty="0"/>
              <a:t>形成期 </a:t>
            </a:r>
            <a:r>
              <a:rPr lang="en-US" altLang="zh-CN" dirty="0"/>
              <a:t>(</a:t>
            </a:r>
            <a:r>
              <a:rPr lang="zh-CN" altLang="en-US" dirty="0"/>
              <a:t>宋金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655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BD2471-F9EC-5AB2-5140-D05DE1C5D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4845"/>
          </a:xfrm>
        </p:spPr>
        <p:txBody>
          <a:bodyPr/>
          <a:lstStyle/>
          <a:p>
            <a:r>
              <a:rPr lang="zh-CN" altLang="en-US" dirty="0"/>
              <a:t>宋代：市民经济的繁荣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456597-233E-F2C6-DE2F-0FCF8674E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991"/>
            <a:ext cx="10515600" cy="4698971"/>
          </a:xfrm>
        </p:spPr>
        <p:txBody>
          <a:bodyPr>
            <a:normAutofit fontScale="77500" lnSpcReduction="20000"/>
          </a:bodyPr>
          <a:lstStyle/>
          <a:p>
            <a:r>
              <a:rPr lang="zh-CN" altLang="en-US" dirty="0"/>
              <a:t> 城市发展，市民阶层壮大，出现了专门的娱乐场所</a:t>
            </a:r>
            <a:r>
              <a:rPr lang="en-US" altLang="zh-CN" dirty="0"/>
              <a:t>——</a:t>
            </a:r>
            <a:r>
              <a:rPr lang="zh-CN" altLang="en-US" dirty="0"/>
              <a:t>瓦舍勾栏。  </a:t>
            </a:r>
            <a:endParaRPr lang="en-US" altLang="zh-CN" dirty="0"/>
          </a:p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瓦舍是一个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大型的、固定的城市商业娱乐中心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。它不是一个单一的建筑物，而是一个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占地面积很大的街区或围场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，里面包含了各种各样的娱乐和商业设施。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一个瓦舍就像一座“娱乐城”，其内部设施包括：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多个勾栏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：这是瓦舍的核心，是专门的演出场所。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商铺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：卖食物、饮料、鲜花、珠宝、衣服等各类商品的店铺。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饭馆、茶楼、酒肆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：供人们休息、餐饮、社交的场所。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赌博摊位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：如关扑（一种流行的赌博游戏）。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露天表演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：还有一些不在勾栏内，而是在空地上进行的杂耍、卖艺等表演。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社会意义：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瓦舍的兴起是宋代城市经济和市民文化高度繁荣的标志。</a:t>
            </a:r>
          </a:p>
          <a:p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102515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4413BD-F9C4-7FB8-6210-FD91970EF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7554"/>
          </a:xfrm>
        </p:spPr>
        <p:txBody>
          <a:bodyPr>
            <a:normAutofit/>
          </a:bodyPr>
          <a:lstStyle/>
          <a:p>
            <a:r>
              <a:rPr lang="zh-CN" altLang="en-US" dirty="0"/>
              <a:t>勾栏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236191-F335-35A8-E165-6756E18EC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996"/>
            <a:ext cx="10515600" cy="4675967"/>
          </a:xfrm>
        </p:spPr>
        <p:txBody>
          <a:bodyPr>
            <a:normAutofit/>
          </a:bodyPr>
          <a:lstStyle/>
          <a:p>
            <a:pPr algn="l"/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一个勾栏就是一个完整的剧场，其结构包括：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戏台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：高出地面的舞台，三面面向观众。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后台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：戏台后面用幕布（称为“戏房”）隔开的空间，供演员化妆和准备，相当于今天的后台。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观众席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神楼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：正对戏台、位置最好的看台，类似“包厢”。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腰棚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：围绕在戏台三面的、带有坡度的看台，类似“看台座”。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池子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：戏台前的平地，观众可以站着观看，类似“站票区”。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出入口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：称为“鬼门道”或“古门”，是演员上下场的通道。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69296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BC5FF1-C05E-15BB-59B0-75A787052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F1115"/>
                </a:solidFill>
                <a:latin typeface="quote-cjk-patch"/>
              </a:rPr>
              <a:t>瓦舍与勾栏的关系</a:t>
            </a:r>
            <a:br>
              <a:rPr lang="zh-CN" altLang="en-US" b="1" dirty="0">
                <a:solidFill>
                  <a:srgbClr val="0F1115"/>
                </a:solidFill>
                <a:latin typeface="quote-cjk-patch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070AAD-0C2E-FDFC-4697-E68B98608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瓦舍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是一个 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“面”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——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一个大型的综合性娱乐社区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勾栏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是瓦舍这个社区里的 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“点”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——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一个个具体的、专业的演出剧院。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52418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026C40-1A60-F413-1422-BEE2A3674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勾栏瓦舍的意义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ED79FB-B42F-47AB-9012-85BB3D6AB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瓦舍勾栏为各种表演艺术提供了稳定、专业的演出场地和赖以生存的经济来源，使得宋杂剧、南戏等得以迅速发展成熟，为中国戏曲的黄金时代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——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元杂剧的兴起奠定了坚实基础。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它标志着中国文化的重心从唐代以前的贵族精英文化，开始向宋元以后的市民通俗文化转移。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68984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A94C3B-052C-69BA-5222-CE5EF9068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宋杂剧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563E15-72E8-F70E-11D8-906D6129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宋杂剧是在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宋代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瓦舍勾栏中盛行的一种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综合性舞台表演艺术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。它继承了唐代参军戏、歌舞戏的传统，并广泛吸收各种表演技艺，最终形成了更具戏剧性的独立艺术形式。它是“杂”的，融合了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对白、歌舞、滑稽表演、故事剧情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等多种元素。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56795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8C7343-ED5B-2F31-40B3-8D203A4C3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2098"/>
          </a:xfrm>
        </p:spPr>
        <p:txBody>
          <a:bodyPr/>
          <a:lstStyle/>
          <a:p>
            <a:r>
              <a:rPr lang="zh-CN" altLang="en-US" dirty="0"/>
              <a:t>宋杂剧的主要特点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28B356-1980-61B8-6472-335EEEA86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7224"/>
            <a:ext cx="10515600" cy="4819739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固定的演出结构：“一场两段”制</a:t>
            </a:r>
          </a:p>
          <a:p>
            <a:pPr algn="l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宋杂剧的一场演出通常分为两大部分，中间有时会穿插“散段”（又称“杂扮”，即小的玩笑段子）。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第一部分：艳段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意为“正剧前的小段”，也叫“爨”（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cuàn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内容通常是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一段滑稽可笑的小品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或一段歌舞，目的是热场子，吸引观众注意力。情节简单，与后面的正剧不一定有直接关联。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类似于现代演出的“开场秀”或“暖场环节”。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第二部分：正杂剧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这是演出的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核心主体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内容更加丰富完整，通常是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表演一个复杂的故事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，或有激烈矛盾冲突的段落。表演形式可以是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唱念做打兼备的“戏曲”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，也可以是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以对白为主的“滑稽戏”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这是展现演员技艺和剧本深度的部分。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（可选）散段：杂扮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在正杂剧之后加演的一个小段子，内容多为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模仿乡下人进城闹笑话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的滑稽表演，以求再次逗乐观众后散场。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05783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7AAD67-2D8D-BAEF-3896-180CB99A6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6840"/>
          </a:xfrm>
        </p:spPr>
        <p:txBody>
          <a:bodyPr/>
          <a:lstStyle/>
          <a:p>
            <a:r>
              <a:rPr lang="zh-CN" altLang="en-US" dirty="0"/>
              <a:t>成熟的角色行当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F1E263-A1E0-0745-7279-12E9A22BF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2330"/>
            <a:ext cx="10515600" cy="5240545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宋杂剧最重大的贡献之一，是形成了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五个相对固定的角色行当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，这是中国戏曲“行当制”的雏形。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末泥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：也叫“戏头”，是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一班之首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，兼扮演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男主角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，负责安排演出。是后世“生”行的前身。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引戏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：负责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出场安排和调度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，兼扮演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女主角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。是后世“旦”行的前身。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副净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被调笑、捉弄的滑稽角色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。源自参军戏中的“参军”，装傻发呆，做出各种蠢态。是后世“净”行的来源之一。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副末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调笑、捉弄副净的角色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。源自参军戏中的“苍鹘”，通常手拿磕瓜（一种道具），击打副净以引发笑料。是后世“末”行的来源之一。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装孤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扮演官员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的角色。“孤”是宋元时对官员的俗称。这个角色是后来戏曲中官员形象的雏形。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核心喜剧搭配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：“副净”和“副末”是宋杂剧的喜剧灵魂，他们的插科打诨是表演中的重要笑料来源。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2069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CAAED0-60E1-21C2-8249-84A1562A3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6962"/>
          </a:xfrm>
        </p:spPr>
        <p:txBody>
          <a:bodyPr/>
          <a:lstStyle/>
          <a:p>
            <a:r>
              <a:rPr lang="zh-CN" altLang="en-US" dirty="0"/>
              <a:t>丰富的内容与风格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1DD622-7719-F55A-E84E-DBC4BE91B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2452"/>
            <a:ext cx="10515600" cy="4944511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题材广泛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：既有反映市井生活的讽刺喜剧，也有历史故事、爱情故事等。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强烈的讽刺性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：继承了参军戏的传统，许多剧目大胆地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讽刺时政、揭露社会黑暗、嘲笑贪官污吏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。南宋周密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武林旧事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记载的“官本杂剧段数”名目有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280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种之多，如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眼药酸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三十六髻（计）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二圣环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等，都具有强烈的讽刺意味。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音乐的重要性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：许多剧目都配有大曲、法曲、词调等音乐，说明“唱”已是重要的表现手段。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42428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805005-F77C-1664-8A18-6989BA0EB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宋杂剧剧目举例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CBAC1E-2289-C654-2E67-423C41C38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7861"/>
            <a:ext cx="10515600" cy="4739102"/>
          </a:xfrm>
        </p:spPr>
        <p:txBody>
          <a:bodyPr>
            <a:normAutofit fontScale="92500" lnSpcReduction="20000"/>
          </a:bodyPr>
          <a:lstStyle/>
          <a:p>
            <a:pPr algn="l">
              <a:buFont typeface="+mj-lt"/>
              <a:buAutoNum type="arabicPeriod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二圣环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著名的政治讽刺剧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岳飞的冤案平反后，一次宴会上，有优人表演：一人头上戴环，掉于地上，问是何环，答是“二圣环”（谐音“二圣还”，喻指迎回被金人掳走的徽、钦二帝）。另一优人捡起环，说：“你只顾坐太师椅（暗指秦桧）领取赏赐，此环（还）掉在脑后了！”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直接讽刺秦桧只图权位，把迎回二圣、恢复中原的大事抛在脑后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。演员因此下狱甚至被杀。</a:t>
            </a:r>
          </a:p>
          <a:p>
            <a:pPr algn="l">
              <a:buFont typeface="+mj-lt"/>
              <a:buAutoNum type="arabicPeriod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三十六髻（计）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讽刺童贯带兵打仗只会逃跑。优人扮成婢女，头上梳着不同的发髻。一个说：“我是蔡太师（蔡京）家的，我家发髻叫‘朝天髻’。”一个说：“我是郑太宰（郑居中）家的，我家叫‘懒梳髻’。”最后一个说：“我是童大王（童贯）家的，我家叫‘三十六髻’。”问为什么，答：“因为我们大王用兵，从来只是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走为上计（髻）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啊！”（活用“三十六计，走为上计”的俗语）。</a:t>
            </a:r>
          </a:p>
          <a:p>
            <a:pPr algn="l">
              <a:buFont typeface="+mj-lt"/>
              <a:buAutoNum type="arabicPeriod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眼药酸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从故宫博物院藏的一幅宋画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眼药酸图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可知其表演情景。一个秀才（酸，指迂腐的读书人）卖眼药，另一个乡下人（副末角色）被忽悠买了药，最后发现没用，二人发生争执笑闹。这是典型的副末戏弄副净的滑稽戏。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34457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10C9F1-F7C8-DAE9-E1E7-B2BCBB55E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南戏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A646A2-393A-C201-E1D7-98D3F4373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南戏，又称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戏文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温州杂剧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或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永嘉杂剧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，是中国戏曲史上第一个成熟的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戏剧形态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，与北方的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元杂剧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并列为中国戏曲的两大源头，对后世戏曲（如明清传奇）产生了极其深远的影响。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南戏是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12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世纪至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14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世纪（宋元时期）流行于中国南方（以浙江温州为中心）的戏曲形式。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它是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中国最早成熟的完整戏曲艺术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。与结构严整的元杂剧相比，南戏形式更自由，更贴近民间生活，叙事能力更强。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因起源于东南沿海的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永嘉（今温州）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地区，为区别于北方的杂剧，故称“南戏”或“温州杂剧”。</a:t>
            </a:r>
          </a:p>
          <a:p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49686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CA8E79-2D4B-2D35-FD73-9480F6E96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产生与发展的背景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BB8B87-61AA-8E3E-696F-A2C991AF4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4852"/>
            <a:ext cx="10515600" cy="4792111"/>
          </a:xfrm>
        </p:spPr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经济基础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：宋代以来，南方成为全国经济中心，城市繁荣，商品经济发达。温州作为重要港口，商业活动频繁，为市民娱乐提供了经济土壤。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文化环境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：南方文化底蕴深厚，民歌小调、说唱艺术（如诸宫调）、傀儡戏等民间技艺非常兴盛，为南戏提供了丰富的艺术养分。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观众需求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：庞大的市民阶层需要更长篇、更复杂、更能反映他们情感和生活的娱乐形式，简单的宋杂剧段子已无法满足需求。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政治因素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：北宋灭亡、宋室南渡（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1127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年），政治文化中心南移，大量北方艺人南下，带来了北方的表演技艺，与南方本地艺术融合，加速了南戏的形成。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01779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CD6083-34BF-F46C-A812-F3D09B7B0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1066"/>
          </a:xfrm>
        </p:spPr>
        <p:txBody>
          <a:bodyPr/>
          <a:lstStyle/>
          <a:p>
            <a:r>
              <a:rPr lang="zh-CN" altLang="en-US" dirty="0"/>
              <a:t>艺术特点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56D4E6-B4AA-E116-1016-BB359E528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4957763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自由灵活，长篇叙事，以情动人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marL="0" indent="0" algn="l"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剧本结构：长短自由，分出（场）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与元杂剧“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四折一楔子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”的固定结构不同，南戏的剧本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长短自由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，根据剧情需要，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少则十几出，多则几十出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（如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张协状元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有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53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出）。这种结构非常适合表现复杂曲折的完整故事。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剧本开始有“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副末开场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”（或称“家门大意”），由副末角色上场概括介绍剧情主旨，引出正戏。</a:t>
            </a:r>
          </a:p>
          <a:p>
            <a:pPr marL="0" indent="0" algn="l"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演唱形式：灵活多样，人人可唱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这是南戏与元杂剧最根本的区别之一。元杂剧通常由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一人（正旦或正末）主唱到底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南戏则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所有角色均可演唱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，包括生、旦、净、丑、末等。演唱形式丰富，有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独唱、对唱、接唱、合唱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等，更能表现人物之间的情感交流和戏剧冲突。</a:t>
            </a:r>
          </a:p>
          <a:p>
            <a:pPr marL="0" indent="0" algn="l"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音乐曲调：南曲为主，柔和婉转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南戏音乐多采用南方民间歌谣和小曲，统称为“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南曲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”。与元杂剧采用的“北曲”相比，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南曲用五声音阶（宫商角徵羽）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，节奏舒缓，旋律婉转，风格清丽柔美，擅长表达缠绵悱恻的情绪。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宫调运用也较北曲自由，不拘一格。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92107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180D48-D1B1-1164-BCC4-0CB4689AF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3745"/>
          </a:xfrm>
        </p:spPr>
        <p:txBody>
          <a:bodyPr>
            <a:normAutofit fontScale="90000"/>
          </a:bodyPr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CBD922-EDA6-26B5-D31F-D50C797D1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8017"/>
            <a:ext cx="10515600" cy="5308946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角色行当：七大行当，体系完备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南戏在宋杂剧五个角色基础上发展出了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七大行当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，为中国戏曲行当体系奠定了基础：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生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：男主角。多为青年书生。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旦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：女主角。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净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：性格豪放或鲁莽的角色，常插科打诨。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丑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：滑稽调笑的小人物。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外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：生之外的另一中年男性角色。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贴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：“贴旦”的简称，次要以外的旦角，如丫鬟。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末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：副末，负责开场和串场。</a:t>
            </a:r>
          </a:p>
          <a:p>
            <a:pPr marL="0" indent="0" algn="l"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内容题材：聚焦家庭婚恋，反映社会现实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南戏的题材多为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家庭伦理、婚姻爱情、悲欢离合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的故事，深刻反映了宋代科举制度下文人发迹后婚恋观的变化，以及由此带来的社会问题（如“富易交，贵易妻”）。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许多作品表达了底层百姓，特别是妇女的苦难和抗争，具有强烈的现实意义。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37271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8DAD28-1988-0F6A-0E58-2B57D83D7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579"/>
          </a:xfrm>
        </p:spPr>
        <p:txBody>
          <a:bodyPr/>
          <a:lstStyle/>
          <a:p>
            <a:r>
              <a:rPr lang="zh-CN" altLang="en-US" dirty="0"/>
              <a:t>重要作品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35A2BA-9D15-BC4C-3892-A89067997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5704"/>
            <a:ext cx="10515600" cy="4931259"/>
          </a:xfrm>
        </p:spPr>
        <p:txBody>
          <a:bodyPr/>
          <a:lstStyle/>
          <a:p>
            <a:pPr algn="l">
              <a:buFont typeface="+mj-lt"/>
              <a:buAutoNum type="arabicPeriod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张协状元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marL="457200" lvl="1" indent="0" algn="l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现存最古老的南戏剧本，被誉为“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中国第一戏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”和“戏曲活化石”。由温州“九山书会”才人编写。讲述了书生张协负心弃妻，最终又破镜重圆的故事。剧本中保留了丰富的表演形态，非常珍贵。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56043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AC0EEA-30AD-19B5-84F5-F7B4C5D2A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金代：诸宫调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B674D0-C335-2383-06E2-DBD23DBC5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诸宫调是中国宋、金、元时期一种非常流行且极其重要的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大型说唱艺术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。它虽然不是纯粹的戏剧，但被公认为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中国戏曲走向成熟的关键“催化剂”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，尤其是对元杂剧的形成产生了最直接、最深刻的影响。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049074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CF9100-B94D-333C-51C4-DCDD7909F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82945"/>
          </a:xfrm>
        </p:spPr>
        <p:txBody>
          <a:bodyPr>
            <a:normAutofit fontScale="90000"/>
          </a:bodyPr>
          <a:lstStyle/>
          <a:p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诸宫调是一种有说有唱、以唱为主、用多种宫调的曲子联套来演唱长篇故事的说唱音乐形式。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B15015-9735-08B3-F587-FB6DD58A5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4209"/>
            <a:ext cx="10515600" cy="4631634"/>
          </a:xfrm>
        </p:spPr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“说”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：即散文体的叙述和对话。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“唱”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：即韵文体的演唱，这是其主要部分。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“多种宫调”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：这是其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最核心、最革命性的特征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。“宫调”相当于今天的“调式”和“调性”，不同的宫调能表现不同的情感色彩（如欢乐、悲伤、激昂、平静）。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“曲子联套”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：它将属于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同一宫调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的若干支曲子（词牌或曲牌）组合成一个“套曲”，用来讲述一个情节段落。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“演唱长篇故事”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：它不再是演唱小段子，而是有能力表演情节复杂、人物众多的长篇巨著，如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西厢记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三国志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等。</a:t>
            </a:r>
          </a:p>
          <a:p>
            <a:pPr algn="l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简单来说，诸宫调就像是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宋元时期的“音乐小说”或“长篇歌剧剧本”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，由一个演员（或少数几个）表演，自击乐器（如锣、板、鼓），边说边唱，用音乐和语言来“演”尽世间百态。</a:t>
            </a:r>
          </a:p>
          <a:p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96244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9BFE91-7FBA-D4FF-9251-1198AB5DC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2858"/>
          </a:xfrm>
        </p:spPr>
        <p:txBody>
          <a:bodyPr/>
          <a:lstStyle/>
          <a:p>
            <a:r>
              <a:rPr lang="zh-CN" altLang="en-US" dirty="0"/>
              <a:t>艺术特点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B08810-5E77-8A49-1D92-AAAE43EF6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8348"/>
            <a:ext cx="10515600" cy="4818615"/>
          </a:xfrm>
        </p:spPr>
        <p:txBody>
          <a:bodyPr>
            <a:normAutofit fontScale="92500" lnSpcReduction="10000"/>
          </a:bodyPr>
          <a:lstStyle/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宏伟的音乐结构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这是诸宫调最伟大的创造。它打破了之前说唱艺术（如“鼓子词”）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只用一个宫调、反复演唱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的单调模式。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它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将不同宫调的多个套曲连接起来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，形成一个庞大的音乐整体。在讲述一个长篇故事时，可以根据故事情节和情绪的变化，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自由变换宫调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。情节紧张时用高亢的宫调，哀伤时用婉转的宫调，使得音乐表现力变得无比丰富和立体。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丰富的表演题材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题材广泛，包括爱情、神怪、历史、侠义等。现存最完整的诸宫调作品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西厢记诸宫调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就是一部伟大的爱情史诗。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第三人称叙事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表演者以“说书人”的身份进行叙述，时而“跳入”故事模仿人物（“代言”），时而“跳出”故事进行评论和交代，这种“叙事体”为后来的戏曲“代言体”做好了准备。</a:t>
            </a:r>
          </a:p>
          <a:p>
            <a:pPr marL="0" indent="0">
              <a:buNone/>
            </a:pP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65495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0BCE8C-CF76-418C-3A0B-633FC3587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诸宫调重要作品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F759B6-E2FD-CB3A-00E4-0F51F3409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现存完整或部分的诸宫调作品非常稀少，尤显珍贵：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西厢记诸宫调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（金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·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董解元 作），又称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董西厢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这是现存最完整、思想性和艺术性最高、篇幅最长的诸宫调作品，堪称“诸宫调之王”。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它改编自元稹的唐传奇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莺莺传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，但从根本上改变了故事的主题：将张生对莺莺“始乱终弃”的悲剧，改为了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二人共同反抗封建礼教、追求爱情自由并最终团圆的喜剧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全书共使用了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14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种宫调、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193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个套曲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，结构宏大，文辞优美，人物形象鲜明生动。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其重要性在于：它直接为王实甫创作元杂剧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崔莺莺待月西厢记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（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王西厢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）提供了完整的蓝本。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王西厢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的基本情节、人物设定甚至部分曲词都直接继承自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董西厢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29605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E19616-64F3-D1F6-1704-96D155F43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6718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为何说它是“戏曲成熟的关键催化剂”？</a:t>
            </a:r>
            <a:b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2BCA6F-132E-5B4C-E82F-58CF57737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7043"/>
            <a:ext cx="10515600" cy="5149920"/>
          </a:xfrm>
        </p:spPr>
        <p:txBody>
          <a:bodyPr/>
          <a:lstStyle/>
          <a:p>
            <a:pPr algn="l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诸宫调对元杂剧的影响是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结构性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和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根本性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的：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提供了音乐体制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：元杂剧“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四大套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”（一本四折，每折一个宫调）的音乐结构，直接源于诸宫调“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多宫调联套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”的成熟经验。没有诸宫调在音乐上的探索，就没有元杂剧严谨的宫调套曲结构。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提供了叙事能力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：诸宫调证明了用歌曲演唱复杂长篇故事的可行性。它将中国文学的叙事传统与音乐完美结合，为戏曲处理宏大题材积累了宝贵经验。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提供了文学基础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：像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董西厢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这样的杰作，本身就是伟大的文学作品，其人物塑造、戏剧冲突、曲词写作都达到了极高水准，直接为元杂剧提供了可改编的、高质量的剧本基础。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06633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23C8EE-D983-5682-9947-FE429B998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成熟与黄金期 </a:t>
            </a:r>
            <a:r>
              <a:rPr lang="en-US" altLang="zh-CN" dirty="0"/>
              <a:t>(</a:t>
            </a:r>
            <a:r>
              <a:rPr lang="zh-CN" altLang="en-US" dirty="0"/>
              <a:t>元代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D8F9FE-5D4D-6F3B-8999-5B0EA3F90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 元朝前期科举中断，文人“沉抑下僚”，转而与民间艺人合作，投身戏剧创作，极大地提升了戏曲的文学品位。</a:t>
            </a:r>
          </a:p>
        </p:txBody>
      </p:sp>
    </p:spTree>
    <p:extLst>
      <p:ext uri="{BB962C8B-B14F-4D97-AF65-F5344CB8AC3E}">
        <p14:creationId xmlns:p14="http://schemas.microsoft.com/office/powerpoint/2010/main" val="13729175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01E676-2881-4AC2-07AA-23EC6C77C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元杂剧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73ED8A-0BF3-533B-E538-B5B4054FF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元杂剧，又称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北杂剧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，是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13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世纪下半叶到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14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世纪末（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元代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）盛行于北方，并流布全国的一种成熟戏曲形式。它被公认为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中国戏曲艺术第一个黄金时代的代表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，与唐诗、宋词并称，被誉为“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一代之文学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”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73535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3A76AA-29D2-FD15-7D5F-68AC164EF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4B0F41-080D-E53C-7C45-7E1328AE9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定义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：元杂剧是在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金院本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和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诸宫调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基础上深度融合发展而成的，以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北方曲调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演唱的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成熟戏曲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形式。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地位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：它是中国真正意义上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完整成熟的戏剧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，具备了完整的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文学剧本、音乐结构、表演体系和角色行当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本质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：是一种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综合性舞台艺术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，融合了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唱、念、做、打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（舞蹈、武打），以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演唱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为核心。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31314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A85C9-AF7D-987E-7FFC-8CC427EDC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元杂剧的形成标志着中国戏曲进入了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程式化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和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规范化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的阶段，其体制非常严谨。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45EAD1-44D1-6DA4-3454-FCC2C165F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altLang="zh-CN" b="1" dirty="0">
                <a:solidFill>
                  <a:srgbClr val="0F1115"/>
                </a:solidFill>
                <a:effectLst/>
                <a:latin typeface="quote-cjk-patch"/>
              </a:rPr>
              <a:t>1. </a:t>
            </a:r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剧本结构：“四折一楔子”</a:t>
            </a:r>
          </a:p>
          <a:p>
            <a:pPr algn="l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这是元杂剧最显著的外部特征。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折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既是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音乐单位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（一折用一个宫调的一套曲子），也是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情节单位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（相当于现代戏剧的“幕”）。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一本戏通常由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四折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构成，分别对应故事的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开端、发展、高潮、结局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楔子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放在全剧开头或折与折之间，起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序幕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或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过场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作用。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篇幅短小，通常只用一两支曲子。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用于交代背景、埋伏线索或连接剧情。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67817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62DB27-DE07-5430-6A2E-8B0F0DFA0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AA12C6-958B-E582-60C9-083A0DAC1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 音乐体制：“北曲四大套”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宫调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：每一折的套曲都必须使用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同一个宫调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。宫调的选择与剧情情绪紧密相关（如仙吕宫清新绵邈，正宫惆怅雄壮）。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曲牌联套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：每一折的音乐由同一宫调下的若干支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曲牌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（固定的旋律格式）按一定顺序联缀而成。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北曲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：音乐基础是北方民歌和少数民族乐曲，形成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七声音阶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，风格豪放激昂、慷慨悲壮。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78507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34E583-9501-35C9-5805-CCC76A8A2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39E6AE-427F-CC74-6E75-9AAF8FF95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演唱规则：“一人主唱”</a:t>
            </a:r>
          </a:p>
          <a:p>
            <a:pPr algn="l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这是元杂剧一个非常独特且核心的规则。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一本戏中，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全部套曲（四折的唱词）只能由一名主角演唱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由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正旦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（女主角）主唱的戏称为“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旦本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”；由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正末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（男主角）主唱的戏称为“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末本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”。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其他角色（如副末、净、丑等）通常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只有念白（对白）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，不能演唱套曲。</a:t>
            </a:r>
          </a:p>
          <a:p>
            <a:pPr algn="l"/>
            <a:r>
              <a:rPr lang="zh-CN" altLang="en-US" b="0" i="1" dirty="0">
                <a:solidFill>
                  <a:srgbClr val="0F1115"/>
                </a:solidFill>
                <a:effectLst/>
                <a:latin typeface="quote-cjk-patch"/>
              </a:rPr>
              <a:t>优点与局限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优点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：极大地突出了主角的形象，酣畅淋漓地抒发了主人公的内心世界。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局限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：限制了其他角色的音乐表现力，叙事视角相对单一。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43052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426517-6BE1-5D0B-ABE0-3C0F7FF8D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312D75-A1DB-175D-9DD5-16D94824E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角色行当：“旦、末、净、杂”</a:t>
            </a:r>
          </a:p>
          <a:p>
            <a:pPr algn="l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元杂剧的角色行当更为细化，奠定了后世戏曲行当的基础。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旦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：女性角色。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正旦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为女主角。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末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：男性角色。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正末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为男主角。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净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：性格粗豪或奸诈的角色，用油彩化妆（脸谱雏形），多为喜剧或反面人物。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杂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：其他次要角色，如孤（官员）、孛老（老头）、卜儿（老妇）、徕儿（小孩）等。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93834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7A5694-11C9-C341-909C-D29F767A2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33C123-D402-5733-8DC7-C5BEAF270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 内容与语言：“曲本位的诗剧”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题材广泛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：包括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公案戏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（如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窦娥冤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）、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爱情戏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（如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西厢记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）、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历史戏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（如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汉宫秋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）、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水浒戏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（如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李逵负荆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）、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神仙道化戏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现实批判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：许多作品深刻揭露社会黑暗（官场腐败、阶级压迫），抒发了元代文人和普通民众的愤懑与反抗，具有强烈的现实主义精神。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语言艺术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：其文学成就极高。曲词（唱词）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本色当行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，既生动活泼、贴近生活，又充满诗意的感染力。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宾白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（对白）则通俗口语化，富于动作性和戏剧性。</a:t>
            </a:r>
          </a:p>
          <a:p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08662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8BE336-7D14-49E5-F438-2D95B6D40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6962"/>
          </a:xfrm>
        </p:spPr>
        <p:txBody>
          <a:bodyPr/>
          <a:lstStyle/>
          <a:p>
            <a:r>
              <a:rPr lang="zh-CN" altLang="en-US" dirty="0"/>
              <a:t>代表人物与作品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6BF63E-9C2E-19DB-69F0-9919808AF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元曲四大家”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关汉卿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：被誉为“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曲圣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”、“梨园领袖”。作品数量最多，题材最广，风格泼辣豪放。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代表作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窦娥冤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：中国古典悲剧的巅峰之作，写弱小寡妇窦娥蒙冤被斩，临刑前发下三桩誓愿（血溅白练、六月飞雪、大旱三年）皆应验，最终沉冤得雪。感天动地，震撼人心。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其他作品：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救风尘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望江亭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单刀会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马致远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：文采派代表，曲词典雅清丽，充满意境。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代表作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汉宫秋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：写王昭君出塞和亲的故事，抒发了浓烈的民族情绪和文人忧思。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散曲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天净沙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·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秋思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被誉为“秋思之祖”。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白朴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：文采派代表，作品以爱情剧见长。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代表作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梧桐雨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：写唐明皇与杨贵妃的爱情悲剧，文辞华美，情感深沉。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墙头马上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：一部歌颂自由恋爱的喜剧。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郑光祖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：后期文采派大家。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代表作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倩女离魂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：用浪漫主义手法写张倩女的魂魄离开躯体，追随爱人王文举。深刻表现了青年男女对爱情的执着追求。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66857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94A666-14BF-E1D9-1E18-D7CBD1754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AD74D1-6E96-CD75-A6DD-0B02EF89F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另一位巨匠：王实甫</a:t>
            </a:r>
          </a:p>
          <a:p>
            <a:pPr algn="l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其成就与“四大家”并肩，甚至更高。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代表作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西厢记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突破了元杂剧“一本四折”的体制，长达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五本二十一折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打破了“一人主唱”的模式，张生、莺莺、红娘均可演唱。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提出了“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愿普天下有情的都成了眷属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”的爱情理想。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文辞优美，如“碧云天，黄花地，西风紧，北雁南飞”成为千古绝唱。被誉为“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天下夺魁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”之作。</a:t>
            </a:r>
          </a:p>
          <a:p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35110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F31039-846B-73A9-D59A-5F725BE2A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元杂剧的历史意义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506382-70DA-E62D-8B58-CC34E25CA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戏曲成熟的标志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：元杂剧标志着中国戏曲从内容到形式得以全面成熟。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宝贵的文化遗产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：留下了大量文学价值极高的剧本，是中国古典文学宝库中的璀璨明珠。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世界艺术瑰宝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：比欧洲文艺复兴时期的戏剧早数百年，是世界戏剧史上最早的成熟戏剧形态之一。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22153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287CCC-57F1-57A1-CECD-11928F469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D99BE5-C708-0BD5-3FE8-FF666F274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                          </a:t>
            </a:r>
            <a:r>
              <a:rPr lang="zh-CN" altLang="en-US" dirty="0"/>
              <a:t>繁荣与革新期 </a:t>
            </a:r>
            <a:r>
              <a:rPr lang="en-US" altLang="zh-CN" dirty="0"/>
              <a:t>(</a:t>
            </a:r>
            <a:r>
              <a:rPr lang="zh-CN" altLang="en-US" dirty="0"/>
              <a:t>明代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1953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5CFAD-5FF6-7359-6289-EA15672D6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明代传奇、四大声腔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DEF715-19D7-39C7-C339-47D83EE21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在明初，传奇（由南戏发展而来）并没有一个全国性的标准唱腔。它在流传过程中，与各地方言、民歌小调相结合，形成了多种地方唱腔。其中影响最大、流传最广的是“四大声腔”。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en-US" altLang="zh-CN" dirty="0">
              <a:solidFill>
                <a:srgbClr val="0F1115"/>
              </a:solidFill>
              <a:latin typeface="quote-cjk-patch"/>
            </a:endParaRPr>
          </a:p>
          <a:p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海盐腔、余姚腔、弋阳腔、昆山腔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13270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4A212B-D69F-FD00-2B0B-B0576AEB1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70986"/>
          </a:xfrm>
        </p:spPr>
        <p:txBody>
          <a:bodyPr>
            <a:normAutofit fontScale="90000"/>
          </a:bodyPr>
          <a:lstStyle/>
          <a:p>
            <a:endParaRPr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B3A43592-D0FC-918B-2598-694A8A3ED97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07774" y="828260"/>
          <a:ext cx="10515600" cy="6029735"/>
        </p:xfrm>
        <a:graphic>
          <a:graphicData uri="http://schemas.openxmlformats.org/drawingml/2006/table">
            <a:tbl>
              <a:tblPr/>
              <a:tblGrid>
                <a:gridCol w="2244904">
                  <a:extLst>
                    <a:ext uri="{9D8B030D-6E8A-4147-A177-3AD203B41FA5}">
                      <a16:colId xmlns:a16="http://schemas.microsoft.com/office/drawing/2014/main" val="3907407671"/>
                    </a:ext>
                  </a:extLst>
                </a:gridCol>
                <a:gridCol w="2067674">
                  <a:extLst>
                    <a:ext uri="{9D8B030D-6E8A-4147-A177-3AD203B41FA5}">
                      <a16:colId xmlns:a16="http://schemas.microsoft.com/office/drawing/2014/main" val="4260117070"/>
                    </a:ext>
                  </a:extLst>
                </a:gridCol>
                <a:gridCol w="2067674">
                  <a:extLst>
                    <a:ext uri="{9D8B030D-6E8A-4147-A177-3AD203B41FA5}">
                      <a16:colId xmlns:a16="http://schemas.microsoft.com/office/drawing/2014/main" val="3362159622"/>
                    </a:ext>
                  </a:extLst>
                </a:gridCol>
                <a:gridCol w="2067674">
                  <a:extLst>
                    <a:ext uri="{9D8B030D-6E8A-4147-A177-3AD203B41FA5}">
                      <a16:colId xmlns:a16="http://schemas.microsoft.com/office/drawing/2014/main" val="2811094479"/>
                    </a:ext>
                  </a:extLst>
                </a:gridCol>
                <a:gridCol w="2067674">
                  <a:extLst>
                    <a:ext uri="{9D8B030D-6E8A-4147-A177-3AD203B41FA5}">
                      <a16:colId xmlns:a16="http://schemas.microsoft.com/office/drawing/2014/main" val="3768385721"/>
                    </a:ext>
                  </a:extLst>
                </a:gridCol>
              </a:tblGrid>
              <a:tr h="291211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  <a:latin typeface="quote-cjk-patch"/>
                        </a:rPr>
                        <a:t>声腔名称</a:t>
                      </a:r>
                    </a:p>
                  </a:txBody>
                  <a:tcPr marL="54250" marR="45209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  <a:latin typeface="quote-cjk-patch"/>
                        </a:rPr>
                        <a:t>发源地</a:t>
                      </a:r>
                    </a:p>
                  </a:txBody>
                  <a:tcPr marL="45209" marR="45209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  <a:latin typeface="quote-cjk-patch"/>
                        </a:rPr>
                        <a:t>主要特点</a:t>
                      </a:r>
                    </a:p>
                  </a:txBody>
                  <a:tcPr marL="45209" marR="45209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  <a:latin typeface="quote-cjk-patch"/>
                        </a:rPr>
                        <a:t>流行区域与地位</a:t>
                      </a:r>
                    </a:p>
                  </a:txBody>
                  <a:tcPr marL="45209" marR="45209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>
                          <a:effectLst/>
                          <a:latin typeface="quote-cjk-patch"/>
                        </a:rPr>
                        <a:t>最终走向</a:t>
                      </a:r>
                    </a:p>
                  </a:txBody>
                  <a:tcPr marL="45209" marR="45209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190823"/>
                  </a:ext>
                </a:extLst>
              </a:tr>
              <a:tr h="1380183"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effectLst/>
                          <a:latin typeface="quote-cjk-patch"/>
                        </a:rPr>
                        <a:t>海盐腔</a:t>
                      </a:r>
                      <a:endParaRPr lang="zh-CN" altLang="en-US" sz="1100" b="0">
                        <a:effectLst/>
                        <a:latin typeface="quote-cjk-patch"/>
                      </a:endParaRPr>
                    </a:p>
                  </a:txBody>
                  <a:tcPr marL="54250" marR="45209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effectLst/>
                          <a:latin typeface="quote-cjk-patch"/>
                        </a:rPr>
                        <a:t>浙江海盐</a:t>
                      </a:r>
                    </a:p>
                  </a:txBody>
                  <a:tcPr marL="45209" marR="45209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effectLst/>
                          <a:latin typeface="quote-cjk-patch"/>
                        </a:rPr>
                        <a:t>“体局静好”</a:t>
                      </a:r>
                      <a:r>
                        <a:rPr lang="zh-CN" altLang="en-US" sz="1100" b="0">
                          <a:effectLst/>
                          <a:latin typeface="quote-cjk-patch"/>
                        </a:rPr>
                        <a:t>、</a:t>
                      </a:r>
                      <a:r>
                        <a:rPr lang="zh-CN" altLang="en-US" sz="1100" b="1">
                          <a:effectLst/>
                          <a:latin typeface="quote-cjk-patch"/>
                        </a:rPr>
                        <a:t>“官话”演唱</a:t>
                      </a:r>
                      <a:r>
                        <a:rPr lang="zh-CN" altLang="en-US" sz="1100" b="0">
                          <a:effectLst/>
                          <a:latin typeface="quote-cjk-patch"/>
                        </a:rPr>
                        <a:t>、风格婉约、细腻雅致。伴奏以锣、鼓、板为主，可能较少用丝弦。</a:t>
                      </a:r>
                    </a:p>
                  </a:txBody>
                  <a:tcPr marL="45209" marR="45209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effectLst/>
                          <a:latin typeface="quote-cjk-patch"/>
                        </a:rPr>
                        <a:t>明前期主流</a:t>
                      </a:r>
                      <a:r>
                        <a:rPr lang="zh-CN" altLang="en-US" sz="1100" b="0">
                          <a:effectLst/>
                          <a:latin typeface="quote-cjk-patch"/>
                        </a:rPr>
                        <a:t>。深受</a:t>
                      </a:r>
                      <a:r>
                        <a:rPr lang="zh-CN" altLang="en-US" sz="1100" b="1">
                          <a:effectLst/>
                          <a:latin typeface="quote-cjk-patch"/>
                        </a:rPr>
                        <a:t>文人士大夫</a:t>
                      </a:r>
                      <a:r>
                        <a:rPr lang="zh-CN" altLang="en-US" sz="1100" b="0">
                          <a:effectLst/>
                          <a:latin typeface="quote-cjk-patch"/>
                        </a:rPr>
                        <a:t>喜爱，多用于士大夫的宴集和堂会，被誉为“</a:t>
                      </a:r>
                      <a:r>
                        <a:rPr lang="zh-CN" altLang="en-US" sz="1100" b="1">
                          <a:effectLst/>
                          <a:latin typeface="quote-cjk-patch"/>
                        </a:rPr>
                        <a:t>官腔</a:t>
                      </a:r>
                      <a:r>
                        <a:rPr lang="zh-CN" altLang="en-US" sz="1100" b="0">
                          <a:effectLst/>
                          <a:latin typeface="quote-cjk-patch"/>
                        </a:rPr>
                        <a:t>”。</a:t>
                      </a:r>
                    </a:p>
                  </a:txBody>
                  <a:tcPr marL="45209" marR="45209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effectLst/>
                          <a:latin typeface="quote-cjk-patch"/>
                        </a:rPr>
                        <a:t>明中叶后，因其改革缓慢，逐渐被改革后的昆山腔所取代，最终失传。</a:t>
                      </a:r>
                    </a:p>
                  </a:txBody>
                  <a:tcPr marL="45209" marR="45209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162699"/>
                  </a:ext>
                </a:extLst>
              </a:tr>
              <a:tr h="944593"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effectLst/>
                          <a:latin typeface="quote-cjk-patch"/>
                        </a:rPr>
                        <a:t>余姚腔</a:t>
                      </a:r>
                      <a:endParaRPr lang="zh-CN" altLang="en-US" sz="1100" b="0">
                        <a:effectLst/>
                        <a:latin typeface="quote-cjk-patch"/>
                      </a:endParaRPr>
                    </a:p>
                  </a:txBody>
                  <a:tcPr marL="54250" marR="45209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effectLst/>
                          <a:latin typeface="quote-cjk-patch"/>
                        </a:rPr>
                        <a:t>浙江余姚</a:t>
                      </a:r>
                    </a:p>
                  </a:txBody>
                  <a:tcPr marL="45209" marR="45209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effectLst/>
                          <a:latin typeface="quote-cjk-patch"/>
                        </a:rPr>
                        <a:t>“俚词肤曲”</a:t>
                      </a:r>
                      <a:r>
                        <a:rPr lang="zh-CN" altLang="en-US" sz="1100" b="0" dirty="0">
                          <a:effectLst/>
                          <a:latin typeface="quote-cjk-patch"/>
                        </a:rPr>
                        <a:t>、</a:t>
                      </a:r>
                      <a:r>
                        <a:rPr lang="zh-CN" altLang="en-US" sz="1100" b="1" dirty="0">
                          <a:effectLst/>
                          <a:latin typeface="quote-cjk-patch"/>
                        </a:rPr>
                        <a:t>“杂白混唱”</a:t>
                      </a:r>
                      <a:r>
                        <a:rPr lang="zh-CN" altLang="en-US" sz="1100" b="0" dirty="0">
                          <a:effectLst/>
                          <a:latin typeface="quote-cjk-patch"/>
                        </a:rPr>
                        <a:t>、语言通俗、风格活泼。</a:t>
                      </a:r>
                    </a:p>
                  </a:txBody>
                  <a:tcPr marL="45209" marR="45209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effectLst/>
                          <a:latin typeface="quote-cjk-patch"/>
                        </a:rPr>
                        <a:t>主要流行于</a:t>
                      </a:r>
                      <a:r>
                        <a:rPr lang="zh-CN" altLang="en-US" sz="1100" b="1">
                          <a:effectLst/>
                          <a:latin typeface="quote-cjk-patch"/>
                        </a:rPr>
                        <a:t>民间</a:t>
                      </a:r>
                      <a:r>
                        <a:rPr lang="zh-CN" altLang="en-US" sz="1100" b="0">
                          <a:effectLst/>
                          <a:latin typeface="quote-cjk-patch"/>
                        </a:rPr>
                        <a:t>，在江苏、安徽一带影响很大。因其通俗性，记载较少。</a:t>
                      </a:r>
                    </a:p>
                  </a:txBody>
                  <a:tcPr marL="45209" marR="45209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effectLst/>
                          <a:latin typeface="quote-cjk-patch"/>
                        </a:rPr>
                        <a:t>与各地土声土调结合，逐渐演变为其他地方剧种，其独立形态最终消亡。</a:t>
                      </a:r>
                    </a:p>
                  </a:txBody>
                  <a:tcPr marL="45209" marR="45209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283311"/>
                  </a:ext>
                </a:extLst>
              </a:tr>
              <a:tr h="1597977"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effectLst/>
                          <a:latin typeface="quote-cjk-patch"/>
                        </a:rPr>
                        <a:t>弋阳腔</a:t>
                      </a:r>
                      <a:endParaRPr lang="zh-CN" altLang="en-US" sz="1100" b="0">
                        <a:effectLst/>
                        <a:latin typeface="quote-cjk-patch"/>
                      </a:endParaRPr>
                    </a:p>
                  </a:txBody>
                  <a:tcPr marL="54250" marR="45209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effectLst/>
                          <a:latin typeface="quote-cjk-patch"/>
                        </a:rPr>
                        <a:t>江西弋阳</a:t>
                      </a:r>
                    </a:p>
                  </a:txBody>
                  <a:tcPr marL="45209" marR="45209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effectLst/>
                          <a:latin typeface="quote-cjk-patch"/>
                        </a:rPr>
                        <a:t>“其节以鼓，其调喧”</a:t>
                      </a:r>
                      <a:r>
                        <a:rPr lang="zh-CN" altLang="en-US" sz="1100" b="0">
                          <a:effectLst/>
                          <a:latin typeface="quote-cjk-patch"/>
                        </a:rPr>
                        <a:t>、</a:t>
                      </a:r>
                      <a:r>
                        <a:rPr lang="zh-CN" altLang="en-US" sz="1100" b="1">
                          <a:effectLst/>
                          <a:latin typeface="quote-cjk-patch"/>
                        </a:rPr>
                        <a:t>“一唱众和”</a:t>
                      </a:r>
                      <a:r>
                        <a:rPr lang="zh-CN" altLang="en-US" sz="1100" b="0">
                          <a:effectLst/>
                          <a:latin typeface="quote-cjk-patch"/>
                        </a:rPr>
                        <a:t>（帮腔）、</a:t>
                      </a:r>
                      <a:r>
                        <a:rPr lang="zh-CN" altLang="en-US" sz="1100" b="1">
                          <a:effectLst/>
                          <a:latin typeface="quote-cjk-patch"/>
                        </a:rPr>
                        <a:t>“错用乡语”</a:t>
                      </a:r>
                      <a:r>
                        <a:rPr lang="zh-CN" altLang="en-US" sz="1100" b="0">
                          <a:effectLst/>
                          <a:latin typeface="quote-cjk-patch"/>
                        </a:rPr>
                        <a:t>、</a:t>
                      </a:r>
                      <a:r>
                        <a:rPr lang="zh-CN" altLang="en-US" sz="1100" b="1">
                          <a:effectLst/>
                          <a:latin typeface="quote-cjk-patch"/>
                        </a:rPr>
                        <a:t>“改调歌之”</a:t>
                      </a:r>
                      <a:r>
                        <a:rPr lang="zh-CN" altLang="en-US" sz="1100" b="0">
                          <a:effectLst/>
                          <a:latin typeface="quote-cjk-patch"/>
                        </a:rPr>
                        <a:t>。</a:t>
                      </a:r>
                      <a:r>
                        <a:rPr lang="zh-CN" altLang="en-US" sz="1100" b="1">
                          <a:effectLst/>
                          <a:latin typeface="quote-cjk-patch"/>
                        </a:rPr>
                        <a:t>不用管弦，只以锣鼓伴奏</a:t>
                      </a:r>
                      <a:r>
                        <a:rPr lang="zh-CN" altLang="en-US" sz="1100" b="0">
                          <a:effectLst/>
                          <a:latin typeface="quote-cjk-patch"/>
                        </a:rPr>
                        <a:t>，高亢激越，震撼人心。</a:t>
                      </a:r>
                    </a:p>
                  </a:txBody>
                  <a:tcPr marL="45209" marR="45209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effectLst/>
                          <a:latin typeface="quote-cjk-patch"/>
                        </a:rPr>
                        <a:t>生命力最强！流行于</a:t>
                      </a:r>
                      <a:r>
                        <a:rPr lang="zh-CN" altLang="en-US" sz="1100" b="1">
                          <a:effectLst/>
                          <a:latin typeface="quote-cjk-patch"/>
                        </a:rPr>
                        <a:t>全国广大民间</a:t>
                      </a:r>
                      <a:r>
                        <a:rPr lang="zh-CN" altLang="en-US" sz="1100" b="0">
                          <a:effectLst/>
                          <a:latin typeface="quote-cjk-patch"/>
                        </a:rPr>
                        <a:t>，足迹遍及南北，衍生出无数变种，如</a:t>
                      </a:r>
                      <a:r>
                        <a:rPr lang="zh-CN" altLang="en-US" sz="1100" b="1">
                          <a:effectLst/>
                          <a:latin typeface="quote-cjk-patch"/>
                        </a:rPr>
                        <a:t>北京京腔、广东高腔</a:t>
                      </a:r>
                      <a:r>
                        <a:rPr lang="zh-CN" altLang="en-US" sz="1100" b="0">
                          <a:effectLst/>
                          <a:latin typeface="quote-cjk-patch"/>
                        </a:rPr>
                        <a:t>等，形成庞大的“</a:t>
                      </a:r>
                      <a:r>
                        <a:rPr lang="zh-CN" altLang="en-US" sz="1100" b="1">
                          <a:effectLst/>
                          <a:latin typeface="quote-cjk-patch"/>
                        </a:rPr>
                        <a:t>高腔系统</a:t>
                      </a:r>
                      <a:r>
                        <a:rPr lang="zh-CN" altLang="en-US" sz="1100" b="0">
                          <a:effectLst/>
                          <a:latin typeface="quote-cjk-patch"/>
                        </a:rPr>
                        <a:t>”。</a:t>
                      </a:r>
                    </a:p>
                  </a:txBody>
                  <a:tcPr marL="45209" marR="45209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effectLst/>
                          <a:latin typeface="quote-cjk-patch"/>
                        </a:rPr>
                        <a:t>从未消亡，其血脉广泛留存于川剧高腔、湘剧高腔、赣剧高腔、绍兴高腔等数十个地方剧种中。</a:t>
                      </a:r>
                    </a:p>
                  </a:txBody>
                  <a:tcPr marL="45209" marR="45209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247856"/>
                  </a:ext>
                </a:extLst>
              </a:tr>
              <a:tr h="1815771"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effectLst/>
                          <a:latin typeface="quote-cjk-patch"/>
                        </a:rPr>
                        <a:t>昆山腔（昆曲）</a:t>
                      </a:r>
                      <a:endParaRPr lang="zh-CN" altLang="en-US" sz="1100" b="0">
                        <a:effectLst/>
                        <a:latin typeface="quote-cjk-patch"/>
                      </a:endParaRPr>
                    </a:p>
                  </a:txBody>
                  <a:tcPr marL="54250" marR="45209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effectLst/>
                          <a:latin typeface="quote-cjk-patch"/>
                        </a:rPr>
                        <a:t>江苏昆山</a:t>
                      </a:r>
                    </a:p>
                  </a:txBody>
                  <a:tcPr marL="45209" marR="45209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effectLst/>
                          <a:latin typeface="quote-cjk-patch"/>
                        </a:rPr>
                        <a:t>“流丽悠远”</a:t>
                      </a:r>
                      <a:r>
                        <a:rPr lang="zh-CN" altLang="en-US" sz="1100" b="0">
                          <a:effectLst/>
                          <a:latin typeface="quote-cjk-patch"/>
                        </a:rPr>
                        <a:t>、</a:t>
                      </a:r>
                      <a:r>
                        <a:rPr lang="zh-CN" altLang="en-US" sz="1100" b="1">
                          <a:effectLst/>
                          <a:latin typeface="quote-cjk-patch"/>
                        </a:rPr>
                        <a:t>“调用水磨”</a:t>
                      </a:r>
                      <a:r>
                        <a:rPr lang="zh-CN" altLang="en-US" sz="1100" b="0">
                          <a:effectLst/>
                          <a:latin typeface="quote-cjk-patch"/>
                        </a:rPr>
                        <a:t>（水磨调）。经</a:t>
                      </a:r>
                      <a:r>
                        <a:rPr lang="zh-CN" altLang="en-US" sz="1100" b="1">
                          <a:effectLst/>
                          <a:latin typeface="quote-cjk-patch"/>
                        </a:rPr>
                        <a:t>魏良辅</a:t>
                      </a:r>
                      <a:r>
                        <a:rPr lang="zh-CN" altLang="en-US" sz="1100" b="0">
                          <a:effectLst/>
                          <a:latin typeface="quote-cjk-patch"/>
                        </a:rPr>
                        <a:t>改革后，变得</a:t>
                      </a:r>
                      <a:r>
                        <a:rPr lang="zh-CN" altLang="en-US" sz="1100" b="1">
                          <a:effectLst/>
                          <a:latin typeface="quote-cjk-patch"/>
                        </a:rPr>
                        <a:t>细腻婉转、悠扬流畅</a:t>
                      </a:r>
                      <a:r>
                        <a:rPr lang="zh-CN" altLang="en-US" sz="1100" b="0">
                          <a:effectLst/>
                          <a:latin typeface="quote-cjk-patch"/>
                        </a:rPr>
                        <a:t>，伴奏乐器丰富（笛、箫、笙、琵琶等）。</a:t>
                      </a:r>
                    </a:p>
                  </a:txBody>
                  <a:tcPr marL="45209" marR="45209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0">
                          <a:effectLst/>
                          <a:latin typeface="quote-cjk-patch"/>
                        </a:rPr>
                        <a:t>明初仅“</a:t>
                      </a:r>
                      <a:r>
                        <a:rPr lang="zh-CN" altLang="en-US" sz="1100" b="1">
                          <a:effectLst/>
                          <a:latin typeface="quote-cjk-patch"/>
                        </a:rPr>
                        <a:t>止行于吴中</a:t>
                      </a:r>
                      <a:r>
                        <a:rPr lang="zh-CN" altLang="en-US" sz="1100" b="0">
                          <a:effectLst/>
                          <a:latin typeface="quote-cjk-patch"/>
                        </a:rPr>
                        <a:t>”。</a:t>
                      </a:r>
                      <a:r>
                        <a:rPr lang="zh-CN" altLang="en-US" sz="1100" b="1">
                          <a:effectLst/>
                          <a:latin typeface="quote-cjk-patch"/>
                        </a:rPr>
                        <a:t>改革后一跃成为四大声腔之首</a:t>
                      </a:r>
                      <a:r>
                        <a:rPr lang="zh-CN" altLang="en-US" sz="1100" b="0">
                          <a:effectLst/>
                          <a:latin typeface="quote-cjk-patch"/>
                        </a:rPr>
                        <a:t>，征服了士大夫和市民阶层，成为全国性的“</a:t>
                      </a:r>
                      <a:r>
                        <a:rPr lang="zh-CN" altLang="en-US" sz="1100" b="1">
                          <a:effectLst/>
                          <a:latin typeface="quote-cjk-patch"/>
                        </a:rPr>
                        <a:t>正声</a:t>
                      </a:r>
                      <a:r>
                        <a:rPr lang="zh-CN" altLang="en-US" sz="1100" b="0">
                          <a:effectLst/>
                          <a:latin typeface="quote-cjk-patch"/>
                        </a:rPr>
                        <a:t>”、“</a:t>
                      </a:r>
                      <a:r>
                        <a:rPr lang="zh-CN" altLang="en-US" sz="1100" b="1">
                          <a:effectLst/>
                          <a:latin typeface="quote-cjk-patch"/>
                        </a:rPr>
                        <a:t>官腔</a:t>
                      </a:r>
                      <a:r>
                        <a:rPr lang="zh-CN" altLang="en-US" sz="1100" b="0">
                          <a:effectLst/>
                          <a:latin typeface="quote-cjk-patch"/>
                        </a:rPr>
                        <a:t>”，统治剧坛近</a:t>
                      </a:r>
                      <a:r>
                        <a:rPr lang="en-US" altLang="zh-CN" sz="1100" b="0">
                          <a:effectLst/>
                          <a:latin typeface="quote-cjk-patch"/>
                        </a:rPr>
                        <a:t>300</a:t>
                      </a:r>
                      <a:r>
                        <a:rPr lang="zh-CN" altLang="en-US" sz="1100" b="0">
                          <a:effectLst/>
                          <a:latin typeface="quote-cjk-patch"/>
                        </a:rPr>
                        <a:t>年。</a:t>
                      </a:r>
                    </a:p>
                  </a:txBody>
                  <a:tcPr marL="45209" marR="45209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0" dirty="0">
                          <a:effectLst/>
                          <a:latin typeface="quote-cjk-patch"/>
                        </a:rPr>
                        <a:t>成为“</a:t>
                      </a:r>
                      <a:r>
                        <a:rPr lang="zh-CN" altLang="en-US" sz="1100" b="1" dirty="0">
                          <a:effectLst/>
                          <a:latin typeface="quote-cjk-patch"/>
                        </a:rPr>
                        <a:t>百戏之祖</a:t>
                      </a:r>
                      <a:r>
                        <a:rPr lang="zh-CN" altLang="en-US" sz="1100" b="0" dirty="0">
                          <a:effectLst/>
                          <a:latin typeface="quote-cjk-patch"/>
                        </a:rPr>
                        <a:t>”，被联合国列为“人类口述和非物质遗产代表作”。至今仍以“昆剧”形式活跃在舞台上。</a:t>
                      </a:r>
                    </a:p>
                  </a:txBody>
                  <a:tcPr marL="45209" marR="45209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088458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EDFA8F7F-7BF5-AC40-0F78-8802E72CA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1153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89C7E6-4E7F-F144-21A2-5AAB5C494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7449"/>
          </a:xfrm>
        </p:spPr>
        <p:txBody>
          <a:bodyPr/>
          <a:lstStyle/>
          <a:p>
            <a:r>
              <a:rPr lang="zh-CN" altLang="en-US" dirty="0"/>
              <a:t>昆山腔的重要人物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35CF42-9620-35F8-AF21-24775974F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6313"/>
            <a:ext cx="10515600" cy="503065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四大声腔的格局在明代中叶发生了一次决定性转变，其核心是两位关键人物：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魏良辅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：一位杰出的戏曲音乐家。他对原本相对质朴的昆山腔进行了全面改革：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吸收海盐腔、弋阳腔的优长。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融合北曲音乐元素。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革新唱法，创立了极其细腻、缠绵婉转的“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水磨腔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”（形容其像水磨打磨一样精细）。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丰富伴奏乐队，加入笛、管、笙、琴、琵琶等丝竹乐器。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梁辰鱼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：一位传奇作家。他率先运用改革后的新昆山腔创作了传奇剧本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浣纱记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浣纱记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讲述西施与范蠡的故事，文辞优美，情节动人。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该剧一经演出，轰动天下，“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四方歌者皆宗吴门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”（全国的歌手都来学习苏州的唱法）。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79579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7E894C-4A94-7CF3-4CBC-9BEE15C6D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517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四大声腔的历史意义与影响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FE68AC-9F72-849D-77E1-26E2D797C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0296"/>
            <a:ext cx="10515600" cy="5136667"/>
          </a:xfrm>
        </p:spPr>
        <p:txBody>
          <a:bodyPr/>
          <a:lstStyle/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奠定了戏曲音乐格局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：四大声腔的竞争与融合，形成了中国戏曲“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雅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”（昆山腔）与“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俗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”（弋阳腔等）分流的格局，这种格局一直延续到清代“花雅之争”。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滋养了后世地方戏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：四大声腔，尤其是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弋阳腔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和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昆山腔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，如同两条大河：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弋阳腔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（高腔系统）流向民间，与各地方言结合，催生了无数地方剧种。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昆山腔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（昆曲）流向全国，成为所有剧种学习和借鉴的艺术宝库，被誉为“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百戏之祖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”。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推动了传奇文学的繁荣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：声腔的成熟为传奇剧本提供了最佳的音乐载体，刺激了文人的创作热情，从而催生了以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《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牡丹亭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为代表的明代传奇文学高峰。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8045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6668</Words>
  <Application>Microsoft Office PowerPoint</Application>
  <PresentationFormat>宽屏</PresentationFormat>
  <Paragraphs>337</Paragraphs>
  <Slides>54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60" baseType="lpstr">
      <vt:lpstr>Helvetica Neue</vt:lpstr>
      <vt:lpstr>quote-cjk-patch</vt:lpstr>
      <vt:lpstr>等线</vt:lpstr>
      <vt:lpstr>等线 Light</vt:lpstr>
      <vt:lpstr>Arial</vt:lpstr>
      <vt:lpstr>Office 主题​​</vt:lpstr>
      <vt:lpstr>PowerPoint 演示文稿</vt:lpstr>
      <vt:lpstr>中国戏曲发展历程</vt:lpstr>
      <vt:lpstr>教学目标</vt:lpstr>
      <vt:lpstr>课程框架介绍： </vt:lpstr>
      <vt:lpstr>PowerPoint 演示文稿</vt:lpstr>
      <vt:lpstr>远古祭祀与巫觋活动 (先秦)</vt:lpstr>
      <vt:lpstr>汉代百戏</vt:lpstr>
      <vt:lpstr>PowerPoint 演示文稿</vt:lpstr>
      <vt:lpstr>百戏的主要特点</vt:lpstr>
      <vt:lpstr>PowerPoint 演示文稿</vt:lpstr>
      <vt:lpstr>为什么《东海黄公》如此重要？</vt:lpstr>
      <vt:lpstr>魏晋南北朝至唐</vt:lpstr>
      <vt:lpstr>歌舞小戏</vt:lpstr>
      <vt:lpstr>主要特点： </vt:lpstr>
      <vt:lpstr>PowerPoint 演示文稿</vt:lpstr>
      <vt:lpstr>PowerPoint 演示文稿</vt:lpstr>
      <vt:lpstr>《戏弄周延》</vt:lpstr>
      <vt:lpstr>主要特点</vt:lpstr>
      <vt:lpstr>PowerPoint 演示文稿</vt:lpstr>
      <vt:lpstr>宋代：市民经济的繁荣</vt:lpstr>
      <vt:lpstr>勾栏</vt:lpstr>
      <vt:lpstr>瓦舍与勾栏的关系 </vt:lpstr>
      <vt:lpstr>勾栏瓦舍的意义</vt:lpstr>
      <vt:lpstr>宋杂剧</vt:lpstr>
      <vt:lpstr>宋杂剧的主要特点</vt:lpstr>
      <vt:lpstr>成熟的角色行当</vt:lpstr>
      <vt:lpstr>丰富的内容与风格</vt:lpstr>
      <vt:lpstr>宋杂剧剧目举例</vt:lpstr>
      <vt:lpstr>南戏</vt:lpstr>
      <vt:lpstr>产生与发展的背景</vt:lpstr>
      <vt:lpstr>艺术特点</vt:lpstr>
      <vt:lpstr>PowerPoint 演示文稿</vt:lpstr>
      <vt:lpstr>重要作品</vt:lpstr>
      <vt:lpstr>金代：诸宫调</vt:lpstr>
      <vt:lpstr>诸宫调是一种有说有唱、以唱为主、用多种宫调的曲子联套来演唱长篇故事的说唱音乐形式。 </vt:lpstr>
      <vt:lpstr>艺术特点</vt:lpstr>
      <vt:lpstr>诸宫调重要作品</vt:lpstr>
      <vt:lpstr>为何说它是“戏曲成熟的关键催化剂”？ </vt:lpstr>
      <vt:lpstr>成熟与黄金期 (元代)</vt:lpstr>
      <vt:lpstr>元杂剧</vt:lpstr>
      <vt:lpstr>核心概述</vt:lpstr>
      <vt:lpstr>元杂剧的形成标志着中国戏曲进入了程式化和规范化的阶段，其体制非常严谨。</vt:lpstr>
      <vt:lpstr>PowerPoint 演示文稿</vt:lpstr>
      <vt:lpstr>PowerPoint 演示文稿</vt:lpstr>
      <vt:lpstr>PowerPoint 演示文稿</vt:lpstr>
      <vt:lpstr>PowerPoint 演示文稿</vt:lpstr>
      <vt:lpstr>代表人物与作品</vt:lpstr>
      <vt:lpstr>PowerPoint 演示文稿</vt:lpstr>
      <vt:lpstr>元杂剧的历史意义</vt:lpstr>
      <vt:lpstr>PowerPoint 演示文稿</vt:lpstr>
      <vt:lpstr>明代传奇、四大声腔</vt:lpstr>
      <vt:lpstr>PowerPoint 演示文稿</vt:lpstr>
      <vt:lpstr>昆山腔的重要人物</vt:lpstr>
      <vt:lpstr>四大声腔的历史意义与影响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XIYAO CHEN</dc:creator>
  <cp:lastModifiedBy>XIYAO CHEN</cp:lastModifiedBy>
  <cp:revision>1</cp:revision>
  <dcterms:created xsi:type="dcterms:W3CDTF">2025-09-23T00:28:22Z</dcterms:created>
  <dcterms:modified xsi:type="dcterms:W3CDTF">2025-09-23T00:28:59Z</dcterms:modified>
</cp:coreProperties>
</file>
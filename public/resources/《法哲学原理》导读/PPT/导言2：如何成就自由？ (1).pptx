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301" r:id="rId2"/>
    <p:sldId id="302" r:id="rId3"/>
    <p:sldId id="340" r:id="rId4"/>
    <p:sldId id="324" r:id="rId5"/>
    <p:sldId id="325" r:id="rId6"/>
    <p:sldId id="303" r:id="rId7"/>
    <p:sldId id="327" r:id="rId8"/>
    <p:sldId id="328" r:id="rId9"/>
    <p:sldId id="329" r:id="rId10"/>
    <p:sldId id="338" r:id="rId11"/>
    <p:sldId id="304" r:id="rId12"/>
    <p:sldId id="330" r:id="rId13"/>
    <p:sldId id="331" r:id="rId14"/>
    <p:sldId id="332" r:id="rId15"/>
    <p:sldId id="339" r:id="rId16"/>
    <p:sldId id="273" r:id="rId17"/>
    <p:sldId id="341"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p15:clr>
            <a:srgbClr val="A4A3A4"/>
          </p15:clr>
        </p15:guide>
        <p15:guide id="2" pos="38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8A"/>
    <a:srgbClr val="335899"/>
    <a:srgbClr val="3F6AB7"/>
    <a:srgbClr val="7991CE"/>
    <a:srgbClr val="B3BEDF"/>
    <a:srgbClr val="0171C5"/>
    <a:srgbClr val="7E3A66"/>
    <a:srgbClr val="7E6CC3"/>
    <a:srgbClr val="68578F"/>
    <a:srgbClr val="3F57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29" autoAdjust="0"/>
    <p:restoredTop sz="94660"/>
  </p:normalViewPr>
  <p:slideViewPr>
    <p:cSldViewPr snapToGrid="0" showGuides="1">
      <p:cViewPr varScale="1">
        <p:scale>
          <a:sx n="68" d="100"/>
          <a:sy n="68" d="100"/>
        </p:scale>
        <p:origin x="864" y="32"/>
      </p:cViewPr>
      <p:guideLst>
        <p:guide orient="horz" pos="2137"/>
        <p:guide pos="3803"/>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圆角矩形 6"/>
          <p:cNvSpPr/>
          <p:nvPr userDrawn="1"/>
        </p:nvSpPr>
        <p:spPr>
          <a:xfrm>
            <a:off x="2019869" y="5501898"/>
            <a:ext cx="10172131" cy="1284102"/>
          </a:xfrm>
          <a:prstGeom prst="roundRect">
            <a:avLst>
              <a:gd name="adj" fmla="val 0"/>
            </a:avLst>
          </a:prstGeom>
          <a:solidFill>
            <a:srgbClr val="004F8A">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userDrawn="1"/>
        </p:nvSpPr>
        <p:spPr>
          <a:xfrm>
            <a:off x="0" y="5501898"/>
            <a:ext cx="3048000" cy="1284102"/>
          </a:xfrm>
          <a:custGeom>
            <a:avLst/>
            <a:gdLst>
              <a:gd name="connsiteX0" fmla="*/ 0 w 3036468"/>
              <a:gd name="connsiteY0" fmla="*/ 0 h 1800000"/>
              <a:gd name="connsiteX1" fmla="*/ 3036468 w 3036468"/>
              <a:gd name="connsiteY1" fmla="*/ 0 h 1800000"/>
              <a:gd name="connsiteX2" fmla="*/ 2061536 w 3036468"/>
              <a:gd name="connsiteY2" fmla="*/ 1800000 h 1800000"/>
              <a:gd name="connsiteX3" fmla="*/ 0 w 3036468"/>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036468" h="1800000">
                <a:moveTo>
                  <a:pt x="0" y="0"/>
                </a:moveTo>
                <a:lnTo>
                  <a:pt x="3036468" y="0"/>
                </a:lnTo>
                <a:lnTo>
                  <a:pt x="2061536" y="1800000"/>
                </a:lnTo>
                <a:lnTo>
                  <a:pt x="0" y="1800000"/>
                </a:lnTo>
                <a:close/>
              </a:path>
            </a:pathLst>
          </a:cu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5429898"/>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6786000"/>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2743201" y="5970198"/>
            <a:ext cx="9448799" cy="522360"/>
          </a:xfrm>
        </p:spPr>
        <p:txBody>
          <a:bodyPr anchor="ctr"/>
          <a:lstStyle>
            <a:lvl1pPr algn="l">
              <a:defRPr sz="6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362" y="5611454"/>
            <a:ext cx="1100407" cy="11036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任意多边形 9"/>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1" name="矩形 10"/>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rgbClr val="004F8A"/>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lgn="ctr">
              <a:defRPr sz="60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9" name="图片占位符 8"/>
          <p:cNvSpPr>
            <a:spLocks noGrp="1"/>
          </p:cNvSpPr>
          <p:nvPr>
            <p:ph type="pic" sz="quarter" idx="13"/>
          </p:nvPr>
        </p:nvSpPr>
        <p:spPr>
          <a:xfrm>
            <a:off x="0" y="0"/>
            <a:ext cx="6813176" cy="6858000"/>
          </a:xfrm>
          <a:ln>
            <a:noFill/>
          </a:ln>
        </p:spPr>
        <p:txBody>
          <a:bodyPr/>
          <a:lstStyle/>
          <a:p>
            <a:endParaRPr lang="zh-CN" altLang="en-US" dirty="0"/>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8" name="任意多边形 7"/>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807DB26E-7550-4A68-B9ED-0930F4C79F79}" type="datetimeFigureOut">
              <a:rPr lang="zh-CN" altLang="en-US" smtClean="0"/>
              <a:t>2024/3/13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0" name="矩形 9"/>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6" name="矩形 5"/>
          <p:cNvSpPr/>
          <p:nvPr userDrawn="1"/>
        </p:nvSpPr>
        <p:spPr>
          <a:xfrm>
            <a:off x="7858760" y="607949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2024/3/13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5" name="矩形 4"/>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空白">
    <p:bg>
      <p:bgPr>
        <a:solidFill>
          <a:srgbClr val="004F8A"/>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2024/3/13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10" name="矩形 9"/>
          <p:cNvSpPr/>
          <p:nvPr userDrawn="1"/>
        </p:nvSpPr>
        <p:spPr>
          <a:xfrm>
            <a:off x="-1" y="1"/>
            <a:ext cx="10468725" cy="9525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6096000" y="6108700"/>
            <a:ext cx="6096000" cy="7493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nvPr>
        </p:nvSpPr>
        <p:spPr/>
        <p:txBody>
          <a:bodyPr/>
          <a:lstStyle/>
          <a:p>
            <a:fld id="{72BB5F89-3C37-49A6-B7CC-41D189EEC0B1}" type="datetimeFigureOut">
              <a:rPr lang="zh-CN" altLang="en-US" smtClean="0"/>
              <a:t>2024/3/13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89001C-556A-4238-A7E0-2B72E20C5D72}" type="slidenum">
              <a:rPr lang="zh-CN" altLang="en-US" smtClean="0"/>
              <a:t>‹#›</a:t>
            </a:fld>
            <a:endParaRPr lang="zh-CN" altLang="en-US"/>
          </a:p>
        </p:txBody>
      </p:sp>
      <p:sp>
        <p:nvSpPr>
          <p:cNvPr id="7" name="矩形 6"/>
          <p:cNvSpPr/>
          <p:nvPr userDrawn="1"/>
        </p:nvSpPr>
        <p:spPr>
          <a:xfrm>
            <a:off x="-6350" y="5349875"/>
            <a:ext cx="8286750" cy="1511300"/>
          </a:xfrm>
          <a:custGeom>
            <a:avLst/>
            <a:gdLst>
              <a:gd name="connsiteX0" fmla="*/ 0 w 7404100"/>
              <a:gd name="connsiteY0" fmla="*/ 0 h 1498600"/>
              <a:gd name="connsiteX1" fmla="*/ 7404100 w 7404100"/>
              <a:gd name="connsiteY1" fmla="*/ 0 h 1498600"/>
              <a:gd name="connsiteX2" fmla="*/ 7404100 w 7404100"/>
              <a:gd name="connsiteY2" fmla="*/ 1498600 h 1498600"/>
              <a:gd name="connsiteX3" fmla="*/ 0 w 7404100"/>
              <a:gd name="connsiteY3" fmla="*/ 1498600 h 1498600"/>
              <a:gd name="connsiteX4" fmla="*/ 0 w 7404100"/>
              <a:gd name="connsiteY4" fmla="*/ 0 h 1498600"/>
              <a:gd name="connsiteX0-1" fmla="*/ 0 w 7404100"/>
              <a:gd name="connsiteY0-2" fmla="*/ 0 h 1498600"/>
              <a:gd name="connsiteX1-3" fmla="*/ 6121400 w 7404100"/>
              <a:gd name="connsiteY1-4" fmla="*/ 0 h 1498600"/>
              <a:gd name="connsiteX2-5" fmla="*/ 7404100 w 7404100"/>
              <a:gd name="connsiteY2-6" fmla="*/ 1498600 h 1498600"/>
              <a:gd name="connsiteX3-7" fmla="*/ 0 w 7404100"/>
              <a:gd name="connsiteY3-8" fmla="*/ 1498600 h 1498600"/>
              <a:gd name="connsiteX4-9" fmla="*/ 0 w 7404100"/>
              <a:gd name="connsiteY4-10" fmla="*/ 0 h 1498600"/>
              <a:gd name="connsiteX0-11" fmla="*/ 0 w 8280400"/>
              <a:gd name="connsiteY0-12" fmla="*/ 0 h 1511300"/>
              <a:gd name="connsiteX1-13" fmla="*/ 6121400 w 8280400"/>
              <a:gd name="connsiteY1-14" fmla="*/ 0 h 1511300"/>
              <a:gd name="connsiteX2-15" fmla="*/ 8280400 w 8280400"/>
              <a:gd name="connsiteY2-16" fmla="*/ 1511300 h 1511300"/>
              <a:gd name="connsiteX3-17" fmla="*/ 0 w 8280400"/>
              <a:gd name="connsiteY3-18" fmla="*/ 1498600 h 1511300"/>
              <a:gd name="connsiteX4-19" fmla="*/ 0 w 8280400"/>
              <a:gd name="connsiteY4-20" fmla="*/ 0 h 1511300"/>
              <a:gd name="connsiteX0-21" fmla="*/ 6350 w 8286750"/>
              <a:gd name="connsiteY0-22" fmla="*/ 0 h 1511300"/>
              <a:gd name="connsiteX1-23" fmla="*/ 6127750 w 8286750"/>
              <a:gd name="connsiteY1-24" fmla="*/ 0 h 1511300"/>
              <a:gd name="connsiteX2-25" fmla="*/ 8286750 w 8286750"/>
              <a:gd name="connsiteY2-26" fmla="*/ 1511300 h 1511300"/>
              <a:gd name="connsiteX3-27" fmla="*/ 0 w 8286750"/>
              <a:gd name="connsiteY3-28" fmla="*/ 1504950 h 1511300"/>
              <a:gd name="connsiteX4-29" fmla="*/ 6350 w 8286750"/>
              <a:gd name="connsiteY4-30" fmla="*/ 0 h 1511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286750" h="1511300">
                <a:moveTo>
                  <a:pt x="6350" y="0"/>
                </a:moveTo>
                <a:lnTo>
                  <a:pt x="6127750" y="0"/>
                </a:lnTo>
                <a:lnTo>
                  <a:pt x="8286750" y="1511300"/>
                </a:lnTo>
                <a:lnTo>
                  <a:pt x="0" y="1504950"/>
                </a:lnTo>
                <a:cubicBezTo>
                  <a:pt x="2117" y="1003300"/>
                  <a:pt x="4233" y="501650"/>
                  <a:pt x="6350" y="0"/>
                </a:cubicBez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0121900" y="0"/>
            <a:ext cx="2070100" cy="825500"/>
          </a:xfrm>
          <a:custGeom>
            <a:avLst/>
            <a:gdLst>
              <a:gd name="connsiteX0" fmla="*/ 0 w 2692400"/>
              <a:gd name="connsiteY0" fmla="*/ 0 h 825500"/>
              <a:gd name="connsiteX1" fmla="*/ 2692400 w 2692400"/>
              <a:gd name="connsiteY1" fmla="*/ 0 h 825500"/>
              <a:gd name="connsiteX2" fmla="*/ 2692400 w 2692400"/>
              <a:gd name="connsiteY2" fmla="*/ 825500 h 825500"/>
              <a:gd name="connsiteX3" fmla="*/ 0 w 2692400"/>
              <a:gd name="connsiteY3" fmla="*/ 825500 h 825500"/>
              <a:gd name="connsiteX4" fmla="*/ 0 w 2692400"/>
              <a:gd name="connsiteY4" fmla="*/ 0 h 825500"/>
              <a:gd name="connsiteX0-1" fmla="*/ 0 w 2692400"/>
              <a:gd name="connsiteY0-2" fmla="*/ 0 h 825500"/>
              <a:gd name="connsiteX1-3" fmla="*/ 2692400 w 2692400"/>
              <a:gd name="connsiteY1-4" fmla="*/ 0 h 825500"/>
              <a:gd name="connsiteX2-5" fmla="*/ 2692400 w 2692400"/>
              <a:gd name="connsiteY2-6" fmla="*/ 825500 h 825500"/>
              <a:gd name="connsiteX3-7" fmla="*/ 965200 w 2692400"/>
              <a:gd name="connsiteY3-8" fmla="*/ 825500 h 825500"/>
              <a:gd name="connsiteX4-9" fmla="*/ 0 w 2692400"/>
              <a:gd name="connsiteY4-10" fmla="*/ 0 h 8255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92400" h="825500">
                <a:moveTo>
                  <a:pt x="0" y="0"/>
                </a:moveTo>
                <a:lnTo>
                  <a:pt x="2692400" y="0"/>
                </a:lnTo>
                <a:lnTo>
                  <a:pt x="2692400" y="825500"/>
                </a:lnTo>
                <a:lnTo>
                  <a:pt x="965200" y="825500"/>
                </a:lnTo>
                <a:lnTo>
                  <a:pt x="0" y="0"/>
                </a:ln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393699" y="5816203"/>
            <a:ext cx="6355444" cy="800893"/>
          </a:xfrm>
        </p:spPr>
        <p:txBody>
          <a:bodyPr anchor="b">
            <a:noAutofit/>
          </a:bodyPr>
          <a:lstStyle>
            <a:lvl1pPr algn="l">
              <a:defRPr sz="48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8153400" y="6285706"/>
            <a:ext cx="3966030" cy="506411"/>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5625" y="34567"/>
            <a:ext cx="754150" cy="756366"/>
          </a:xfrm>
          <a:prstGeom prst="rect">
            <a:avLst/>
          </a:prstGeom>
        </p:spPr>
      </p:pic>
      <p:sp>
        <p:nvSpPr>
          <p:cNvPr id="13" name="矩形 12"/>
          <p:cNvSpPr/>
          <p:nvPr userDrawn="1"/>
        </p:nvSpPr>
        <p:spPr>
          <a:xfrm>
            <a:off x="126999" y="5718629"/>
            <a:ext cx="139701" cy="959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72000"/>
            <a:ext cx="10515600" cy="9144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DB26E-7550-4A68-B9ED-0930F4C79F79}" type="datetimeFigureOut">
              <a:rPr lang="zh-CN" altLang="en-US" smtClean="0"/>
              <a:t>2024/3/13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BC2DF-976F-4C49-92B9-E79BD60CFE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000" dirty="0"/>
              <a:t>《导论》</a:t>
            </a:r>
            <a:r>
              <a:rPr lang="en-US" altLang="zh-CN" sz="4000" dirty="0"/>
              <a:t>2</a:t>
            </a:r>
            <a:r>
              <a:rPr lang="zh-CN" altLang="en-US" sz="4000" dirty="0"/>
              <a:t>：如何成就自由？</a:t>
            </a:r>
          </a:p>
        </p:txBody>
      </p:sp>
      <p:sp>
        <p:nvSpPr>
          <p:cNvPr id="3" name="副标题 2"/>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normAutofit/>
          </a:bodyPr>
          <a:lstStyle/>
          <a:p>
            <a:pPr algn="r"/>
            <a:r>
              <a:rPr lang="zh-CN" altLang="en-US" sz="4000" dirty="0"/>
              <a:t>从自然意志到理性意志</a:t>
            </a:r>
          </a:p>
        </p:txBody>
      </p:sp>
      <p:sp>
        <p:nvSpPr>
          <p:cNvPr id="12" name="文本框 11"/>
          <p:cNvSpPr txBox="1"/>
          <p:nvPr/>
        </p:nvSpPr>
        <p:spPr>
          <a:xfrm>
            <a:off x="6956723" y="-1518701"/>
            <a:ext cx="4044950" cy="9324975"/>
          </a:xfrm>
          <a:prstGeom prst="rect">
            <a:avLst/>
          </a:prstGeom>
          <a:noFill/>
        </p:spPr>
        <p:txBody>
          <a:bodyPr wrap="none" rtlCol="0">
            <a:spAutoFit/>
          </a:bodyPr>
          <a:lstStyle/>
          <a:p>
            <a:r>
              <a:rPr lang="en-US" altLang="zh-CN" sz="60000" dirty="0">
                <a:solidFill>
                  <a:srgbClr val="004F8A"/>
                </a:solidFill>
              </a:rPr>
              <a:t>1</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自由的理念是自在自为的</a:t>
            </a:r>
          </a:p>
        </p:txBody>
      </p:sp>
      <p:sp>
        <p:nvSpPr>
          <p:cNvPr id="3" name="文本框 2"/>
          <p:cNvSpPr txBox="1"/>
          <p:nvPr/>
        </p:nvSpPr>
        <p:spPr>
          <a:xfrm>
            <a:off x="610235" y="986790"/>
            <a:ext cx="10375265" cy="4892675"/>
          </a:xfrm>
          <a:prstGeom prst="rect">
            <a:avLst/>
          </a:prstGeom>
          <a:noFill/>
        </p:spPr>
        <p:txBody>
          <a:bodyPr wrap="square" rtlCol="0">
            <a:spAutoFit/>
          </a:bodyPr>
          <a:lstStyle/>
          <a:p>
            <a:r>
              <a:rPr lang="zh-CN" altLang="en-US" sz="2400" dirty="0"/>
              <a:t>自由意志是自我区分的概念，既具有自在的方面，也具有自为的方面，自在与自为不是对立的，就如主观与客观不是对立的一样。作为目的的实现，意志的规定性或者是自在地自由的，或者作为概念中的意志，对我们来说是自为的。然而，两者必然是统一的：只有意志把自身当作对象时，自在的东西才变成自为的东西。</a:t>
            </a:r>
          </a:p>
          <a:p>
            <a:r>
              <a:rPr lang="zh-CN" altLang="en-US" sz="2400" dirty="0">
                <a:ea typeface="宋体" panose="02010600030101010101" pitchFamily="2" charset="-122"/>
              </a:rPr>
              <a:t>自由的自在与自为。</a:t>
            </a:r>
            <a:r>
              <a:rPr lang="en-US" altLang="zh-CN" sz="2400" dirty="0">
                <a:ea typeface="宋体" panose="02010600030101010101" pitchFamily="2" charset="-122"/>
              </a:rPr>
              <a:t>“</a:t>
            </a:r>
            <a:r>
              <a:rPr lang="en-US" altLang="zh-CN" sz="2400" dirty="0" err="1">
                <a:ea typeface="宋体" panose="02010600030101010101" pitchFamily="2" charset="-122"/>
              </a:rPr>
              <a:t>光是符合概念的意思是自在的，自由的，而同时又是不自由的，因为它只是作为被规定的内容，才是真实的自由的</a:t>
            </a:r>
            <a:r>
              <a:rPr lang="zh-CN" altLang="en-US" sz="2400" dirty="0">
                <a:ea typeface="宋体" panose="02010600030101010101" pitchFamily="2" charset="-122"/>
              </a:rPr>
              <a:t>。</a:t>
            </a:r>
            <a:r>
              <a:rPr lang="en-US" altLang="zh-CN" sz="2400" dirty="0">
                <a:ea typeface="宋体" panose="02010600030101010101" pitchFamily="2" charset="-122"/>
              </a:rPr>
              <a:t>”</a:t>
            </a:r>
            <a:r>
              <a:rPr lang="zh-CN" altLang="en-US" sz="2400" dirty="0">
                <a:ea typeface="宋体" panose="02010600030101010101" pitchFamily="2" charset="-122"/>
              </a:rPr>
              <a:t>自然的意志自在地是自由的，因为它具有自由的可能性，但不是自为地自由的，因为自由没有作为自由意志的自我规定。</a:t>
            </a:r>
            <a:r>
              <a:rPr lang="en-US" altLang="zh-CN" sz="2400" dirty="0">
                <a:ea typeface="宋体" panose="02010600030101010101" pitchFamily="2" charset="-122"/>
              </a:rPr>
              <a:t>“</a:t>
            </a:r>
            <a:r>
              <a:rPr lang="en-US" altLang="zh-CN" sz="2400" dirty="0" err="1">
                <a:ea typeface="宋体" panose="02010600030101010101" pitchFamily="2" charset="-122"/>
              </a:rPr>
              <a:t>小孩是自在的大人，最初他是自在的具有理性，开始时他是理性和自由的可能性，因</a:t>
            </a:r>
            <a:r>
              <a:rPr lang="zh-CN" altLang="en-US" sz="2400" dirty="0">
                <a:ea typeface="宋体" panose="02010600030101010101" pitchFamily="2" charset="-122"/>
              </a:rPr>
              <a:t>而</a:t>
            </a:r>
            <a:r>
              <a:rPr lang="en-US" altLang="zh-CN" sz="2400" dirty="0" err="1">
                <a:ea typeface="宋体" panose="02010600030101010101" pitchFamily="2" charset="-122"/>
              </a:rPr>
              <a:t>仅仅从概念上是自由的</a:t>
            </a:r>
            <a:r>
              <a:rPr lang="zh-CN" altLang="en-US" sz="2400" dirty="0">
                <a:ea typeface="宋体" panose="02010600030101010101" pitchFamily="2" charset="-122"/>
              </a:rPr>
              <a:t>。然而这种最初自在的存在的东西还不是在它的现实性中的存在着。</a:t>
            </a:r>
            <a:r>
              <a:rPr lang="en-US" altLang="zh-CN" sz="2400" dirty="0" err="1">
                <a:ea typeface="宋体" panose="02010600030101010101" pitchFamily="2" charset="-122"/>
              </a:rPr>
              <a:t>这种自在的具有理性的人</a:t>
            </a:r>
            <a:r>
              <a:rPr lang="en-US" altLang="zh-CN" sz="2400" dirty="0">
                <a:ea typeface="宋体" panose="02010600030101010101" pitchFamily="2" charset="-122"/>
              </a:rPr>
              <a:t>……</a:t>
            </a:r>
            <a:r>
              <a:rPr lang="en-US" altLang="zh-CN" sz="2400" dirty="0" err="1">
                <a:ea typeface="宋体" panose="02010600030101010101" pitchFamily="2" charset="-122"/>
              </a:rPr>
              <a:t>既要超出自身，又要在自身内部培养自身，这样他也就成为自卑的，具有理性的人</a:t>
            </a:r>
            <a:r>
              <a:rPr lang="zh-CN" altLang="en-US" sz="2400" dirty="0">
                <a:ea typeface="宋体" panose="02010600030101010101" pitchFamily="2" charset="-122"/>
              </a:rPr>
              <a:t>。</a:t>
            </a:r>
            <a:r>
              <a:rPr lang="en-US" altLang="zh-CN" sz="2400" dirty="0">
                <a:ea typeface="宋体" panose="02010600030101010101" pitchFamily="2" charset="-122"/>
              </a:rPr>
              <a:t>”</a:t>
            </a:r>
            <a:r>
              <a:rPr lang="zh-CN" altLang="en-US" sz="2400" dirty="0">
                <a:ea typeface="宋体" panose="02010600030101010101" pitchFamily="2" charset="-122"/>
                <a:sym typeface="+mn-ea"/>
              </a:rPr>
              <a:t>（第</a:t>
            </a:r>
            <a:r>
              <a:rPr lang="en-US" altLang="zh-CN" sz="2400" dirty="0">
                <a:ea typeface="宋体" panose="02010600030101010101" pitchFamily="2" charset="-122"/>
                <a:sym typeface="+mn-ea"/>
              </a:rPr>
              <a:t>10</a:t>
            </a:r>
            <a:r>
              <a:rPr lang="zh-CN" altLang="en-US" sz="2400" dirty="0">
                <a:ea typeface="宋体" panose="02010600030101010101" pitchFamily="2" charset="-122"/>
                <a:sym typeface="+mn-ea"/>
              </a:rPr>
              <a:t>节）</a:t>
            </a:r>
            <a:endParaRPr lang="en-US" altLang="zh-CN" sz="2400" dirty="0">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从自然意志到理性意志</a:t>
            </a:r>
          </a:p>
        </p:txBody>
      </p:sp>
      <p:sp>
        <p:nvSpPr>
          <p:cNvPr id="3" name="文本框 2"/>
          <p:cNvSpPr txBox="1"/>
          <p:nvPr/>
        </p:nvSpPr>
        <p:spPr>
          <a:xfrm>
            <a:off x="636270" y="1579245"/>
            <a:ext cx="10967720" cy="4399915"/>
          </a:xfrm>
          <a:prstGeom prst="rect">
            <a:avLst/>
          </a:prstGeom>
          <a:noFill/>
        </p:spPr>
        <p:txBody>
          <a:bodyPr wrap="square" rtlCol="0">
            <a:spAutoFit/>
          </a:bodyPr>
          <a:lstStyle/>
          <a:p>
            <a:pPr algn="l"/>
            <a:r>
              <a:rPr lang="zh-CN" altLang="en-US" sz="2000" dirty="0"/>
              <a:t>自然意志是自在的自由的，它包含着自由的可能性，还不是自由的现实性。</a:t>
            </a:r>
            <a:r>
              <a:rPr lang="en-US" altLang="zh-CN" sz="2000" dirty="0"/>
              <a:t>“</a:t>
            </a:r>
            <a:r>
              <a:rPr lang="en-US" altLang="zh-CN" sz="2000" dirty="0" err="1"/>
              <a:t>那最初的仅仅自在的自由的意</a:t>
            </a:r>
            <a:r>
              <a:rPr lang="zh-CN" altLang="en-US" sz="2000" dirty="0">
                <a:ea typeface="宋体" panose="02010600030101010101" pitchFamily="2" charset="-122"/>
              </a:rPr>
              <a:t>志</a:t>
            </a:r>
            <a:r>
              <a:rPr lang="en-US" altLang="zh-CN" sz="2000" dirty="0" err="1"/>
              <a:t>是直接的和自然的意</a:t>
            </a:r>
            <a:r>
              <a:rPr lang="zh-CN" altLang="en-US" sz="2000" dirty="0">
                <a:ea typeface="宋体" panose="02010600030101010101" pitchFamily="2" charset="-122"/>
              </a:rPr>
              <a:t>志</a:t>
            </a:r>
            <a:r>
              <a:rPr lang="en-US" altLang="zh-CN" sz="2000" dirty="0"/>
              <a:t>，</a:t>
            </a:r>
            <a:r>
              <a:rPr lang="zh-CN" altLang="en-US" sz="2000" dirty="0">
                <a:ea typeface="宋体" panose="02010600030101010101" pitchFamily="2" charset="-122"/>
              </a:rPr>
              <a:t>自然意志</a:t>
            </a:r>
            <a:r>
              <a:rPr lang="en-US" altLang="zh-CN" sz="2000" dirty="0"/>
              <a:t>表</a:t>
            </a:r>
            <a:r>
              <a:rPr lang="zh-CN" altLang="en-US" sz="2000" dirty="0">
                <a:ea typeface="宋体" panose="02010600030101010101" pitchFamily="2" charset="-122"/>
              </a:rPr>
              <a:t>现</a:t>
            </a:r>
            <a:r>
              <a:rPr lang="en-US" altLang="zh-CN" sz="2000" dirty="0" err="1"/>
              <a:t>为冲动情绪和倾向</a:t>
            </a:r>
            <a:r>
              <a:rPr lang="en-US" altLang="zh-CN" sz="2000" dirty="0"/>
              <a:t>，</a:t>
            </a:r>
            <a:r>
              <a:rPr lang="zh-CN" altLang="en-US" sz="2000" dirty="0">
                <a:ea typeface="宋体" panose="02010600030101010101" pitchFamily="2" charset="-122"/>
              </a:rPr>
              <a:t>因而表明它</a:t>
            </a:r>
            <a:r>
              <a:rPr lang="en-US" altLang="zh-CN" sz="2000" dirty="0" err="1"/>
              <a:t>是被自然所规定的</a:t>
            </a:r>
            <a:r>
              <a:rPr lang="zh-CN" altLang="en-US" sz="2000" dirty="0">
                <a:ea typeface="宋体" panose="02010600030101010101" pitchFamily="2" charset="-122"/>
              </a:rPr>
              <a:t>。自然意志是自在的的</a:t>
            </a:r>
            <a:r>
              <a:rPr lang="en-US" altLang="zh-CN" sz="2000" dirty="0" err="1"/>
              <a:t>直接</a:t>
            </a:r>
            <a:r>
              <a:rPr lang="zh-CN" altLang="en-US" sz="2000" dirty="0">
                <a:ea typeface="宋体" panose="02010600030101010101" pitchFamily="2" charset="-122"/>
              </a:rPr>
              <a:t>的意志，</a:t>
            </a:r>
            <a:r>
              <a:rPr lang="en-US" altLang="zh-CN" sz="2000" dirty="0"/>
              <a:t>没</a:t>
            </a:r>
            <a:r>
              <a:rPr lang="zh-CN" altLang="en-US" sz="2000" dirty="0">
                <a:ea typeface="宋体" panose="02010600030101010101" pitchFamily="2" charset="-122"/>
              </a:rPr>
              <a:t>有</a:t>
            </a:r>
            <a:r>
              <a:rPr lang="en-US" altLang="zh-CN" sz="2000" dirty="0" err="1"/>
              <a:t>取得合理性的形式</a:t>
            </a:r>
            <a:r>
              <a:rPr lang="zh-CN" altLang="en-US" sz="2000" dirty="0">
                <a:ea typeface="宋体" panose="02010600030101010101" pitchFamily="2" charset="-122"/>
              </a:rPr>
              <a:t>。就人的自然意志而言，</a:t>
            </a:r>
            <a:r>
              <a:rPr lang="en-US" altLang="zh-CN" sz="2000" dirty="0" err="1"/>
              <a:t>这种意思</a:t>
            </a:r>
            <a:r>
              <a:rPr lang="zh-CN" altLang="en-US" sz="2000" dirty="0">
                <a:ea typeface="宋体" panose="02010600030101010101" pitchFamily="2" charset="-122"/>
              </a:rPr>
              <a:t>固然</a:t>
            </a:r>
            <a:r>
              <a:rPr lang="en-US" altLang="zh-CN" sz="2000" dirty="0"/>
              <a:t>是”</a:t>
            </a:r>
            <a:r>
              <a:rPr lang="en-US" altLang="zh-CN" sz="2000" dirty="0" err="1"/>
              <a:t>我的东西</a:t>
            </a:r>
            <a:r>
              <a:rPr lang="en-US" altLang="zh-CN" sz="2000" dirty="0"/>
              <a:t>“，但</a:t>
            </a:r>
            <a:r>
              <a:rPr lang="zh-CN" altLang="en-US" sz="2000" dirty="0">
                <a:ea typeface="宋体" panose="02010600030101010101" pitchFamily="2" charset="-122"/>
              </a:rPr>
              <a:t>这只是被我所有，发生在我身上，在形式上从属于我，我对其内容并没有自觉地加以规定，因而</a:t>
            </a:r>
            <a:r>
              <a:rPr lang="en-US" altLang="zh-CN" sz="2000" dirty="0" err="1"/>
              <a:t>是在自身中有限的</a:t>
            </a:r>
            <a:r>
              <a:rPr lang="zh-CN" altLang="en-US" sz="2000" dirty="0">
                <a:ea typeface="宋体" panose="02010600030101010101" pitchFamily="2" charset="-122"/>
              </a:rPr>
              <a:t>意志。</a:t>
            </a:r>
          </a:p>
          <a:p>
            <a:pPr algn="l"/>
            <a:r>
              <a:rPr lang="zh-CN" altLang="en-US" sz="2000" dirty="0">
                <a:ea typeface="宋体" panose="02010600030101010101" pitchFamily="2" charset="-122"/>
              </a:rPr>
              <a:t>冲动与自由的关系：</a:t>
            </a:r>
            <a:r>
              <a:rPr lang="en-US" altLang="zh-CN" sz="2000" dirty="0">
                <a:ea typeface="宋体" panose="02010600030101010101" pitchFamily="2" charset="-122"/>
              </a:rPr>
              <a:t>“</a:t>
            </a:r>
            <a:r>
              <a:rPr lang="en-US" altLang="zh-CN" sz="2000" dirty="0" err="1">
                <a:ea typeface="宋体" panose="02010600030101010101" pitchFamily="2" charset="-122"/>
              </a:rPr>
              <a:t>动物也有冲动，但动物没有意志</a:t>
            </a:r>
            <a:r>
              <a:rPr lang="en-US" altLang="zh-CN" sz="2000" dirty="0">
                <a:ea typeface="宋体" panose="02010600030101010101" pitchFamily="2" charset="-122"/>
              </a:rPr>
              <a:t>”，</a:t>
            </a:r>
            <a:r>
              <a:rPr lang="zh-CN" altLang="en-US" sz="2000" dirty="0">
                <a:ea typeface="宋体" panose="02010600030101010101" pitchFamily="2" charset="-122"/>
              </a:rPr>
              <a:t>动物除了冲动外，</a:t>
            </a:r>
            <a:r>
              <a:rPr lang="en-US" altLang="zh-CN" sz="2000" dirty="0" err="1">
                <a:ea typeface="宋体" panose="02010600030101010101" pitchFamily="2" charset="-122"/>
              </a:rPr>
              <a:t>没有外在东西阻止</a:t>
            </a:r>
            <a:r>
              <a:rPr lang="zh-CN" altLang="en-US" sz="2000" dirty="0">
                <a:ea typeface="宋体" panose="02010600030101010101" pitchFamily="2" charset="-122"/>
              </a:rPr>
              <a:t>它</a:t>
            </a:r>
            <a:r>
              <a:rPr lang="en-US" altLang="zh-CN" sz="2000" dirty="0">
                <a:ea typeface="宋体" panose="02010600030101010101" pitchFamily="2" charset="-122"/>
              </a:rPr>
              <a:t>，</a:t>
            </a:r>
            <a:r>
              <a:rPr lang="zh-CN" altLang="en-US" sz="2000" dirty="0">
                <a:ea typeface="宋体" panose="02010600030101010101" pitchFamily="2" charset="-122"/>
              </a:rPr>
              <a:t>因而它</a:t>
            </a:r>
            <a:r>
              <a:rPr lang="en-US" altLang="zh-CN" sz="2000" dirty="0" err="1">
                <a:ea typeface="宋体" panose="02010600030101010101" pitchFamily="2" charset="-122"/>
              </a:rPr>
              <a:t>只听命于冲动</a:t>
            </a:r>
            <a:r>
              <a:rPr lang="zh-CN" altLang="en-US" sz="2000" dirty="0">
                <a:ea typeface="宋体" panose="02010600030101010101" pitchFamily="2" charset="-122"/>
              </a:rPr>
              <a:t>。人的意志包含着冲动，但不等于冲动。</a:t>
            </a:r>
            <a:r>
              <a:rPr lang="en-US" altLang="zh-CN" sz="2000" dirty="0">
                <a:ea typeface="宋体" panose="02010600030101010101" pitchFamily="2" charset="-122"/>
              </a:rPr>
              <a:t>“</a:t>
            </a:r>
            <a:r>
              <a:rPr lang="zh-CN" altLang="en-US" sz="2000" dirty="0">
                <a:ea typeface="宋体" panose="02010600030101010101" pitchFamily="2" charset="-122"/>
              </a:rPr>
              <a:t>惟有人作为全无规定的东西，才能凌驾于冲动之上，并且还能够把它规定和设定为他自己的东西。冲动是一种自然的东西，但是我把它设定在这个自我中，这件事依赖于我的意志，因此我的意思就不能以冲动是一种自然的东西为借口来替自己辩解。</a:t>
            </a:r>
            <a:r>
              <a:rPr lang="en-US" altLang="zh-CN" sz="2000" dirty="0">
                <a:ea typeface="宋体" panose="02010600030101010101" pitchFamily="2" charset="-122"/>
              </a:rPr>
              <a:t>”</a:t>
            </a:r>
            <a:r>
              <a:rPr lang="zh-CN" altLang="en-US" sz="2000" dirty="0">
                <a:ea typeface="宋体" panose="02010600030101010101" pitchFamily="2" charset="-122"/>
                <a:sym typeface="+mn-ea"/>
              </a:rPr>
              <a:t>人的意志包含着冲动，但不等于冲动。</a:t>
            </a:r>
          </a:p>
          <a:p>
            <a:pPr algn="l"/>
            <a:r>
              <a:rPr lang="zh-CN" altLang="en-US" sz="2000" dirty="0">
                <a:ea typeface="宋体" panose="02010600030101010101" pitchFamily="2" charset="-122"/>
              </a:rPr>
              <a:t>意志作为直接的存在，包含着各种冲动，但自由不是冲动的满足，而是冲动的扬弃。停留在冲动阶段的意志既不具有普遍性，也不具有规定性。</a:t>
            </a:r>
            <a:r>
              <a:rPr lang="en-US" altLang="zh-CN" sz="2000" dirty="0">
                <a:ea typeface="宋体" panose="02010600030101010101" pitchFamily="2" charset="-122"/>
              </a:rPr>
              <a:t>“</a:t>
            </a:r>
            <a:r>
              <a:rPr lang="zh-CN" altLang="en-US" sz="2000" dirty="0">
                <a:ea typeface="宋体" panose="02010600030101010101" pitchFamily="2" charset="-122"/>
              </a:rPr>
              <a:t>当意志在这双重无规定性中给自己以单一性的形式（第</a:t>
            </a:r>
            <a:r>
              <a:rPr lang="en-US" altLang="zh-CN" sz="2000" dirty="0">
                <a:ea typeface="宋体" panose="02010600030101010101" pitchFamily="2" charset="-122"/>
              </a:rPr>
              <a:t>7</a:t>
            </a:r>
            <a:r>
              <a:rPr lang="zh-CN" altLang="en-US" sz="2000" dirty="0">
                <a:ea typeface="宋体" panose="02010600030101010101" pitchFamily="2" charset="-122"/>
              </a:rPr>
              <a:t>节），这就构成了意志的决定。总之，只有当它做出决定，它进现实的意志。（第</a:t>
            </a:r>
            <a:r>
              <a:rPr lang="en-US" altLang="zh-CN" sz="2000" dirty="0">
                <a:ea typeface="宋体" panose="02010600030101010101" pitchFamily="2" charset="-122"/>
              </a:rPr>
              <a:t>11</a:t>
            </a:r>
            <a:r>
              <a:rPr lang="zh-CN" altLang="en-US" sz="2000" dirty="0">
                <a:ea typeface="宋体" panose="02010600030101010101" pitchFamily="2" charset="-122"/>
              </a:rPr>
              <a:t>、</a:t>
            </a:r>
            <a:r>
              <a:rPr lang="en-US" altLang="zh-CN" sz="2000" dirty="0">
                <a:ea typeface="宋体" panose="02010600030101010101" pitchFamily="2" charset="-122"/>
              </a:rPr>
              <a:t>12</a:t>
            </a:r>
            <a:r>
              <a:rPr lang="zh-CN" altLang="en-US" sz="2000" dirty="0">
                <a:ea typeface="宋体" panose="02010600030101010101" pitchFamily="2" charset="-122"/>
              </a:rPr>
              <a:t>节）</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自由是意志的单一性</a:t>
            </a:r>
          </a:p>
        </p:txBody>
      </p:sp>
      <p:sp>
        <p:nvSpPr>
          <p:cNvPr id="5" name="文本框 4"/>
          <p:cNvSpPr txBox="1"/>
          <p:nvPr/>
        </p:nvSpPr>
        <p:spPr>
          <a:xfrm>
            <a:off x="501015" y="986155"/>
            <a:ext cx="11191240" cy="5631180"/>
          </a:xfrm>
          <a:prstGeom prst="rect">
            <a:avLst/>
          </a:prstGeom>
          <a:noFill/>
        </p:spPr>
        <p:txBody>
          <a:bodyPr wrap="square" rtlCol="0">
            <a:spAutoFit/>
          </a:bodyPr>
          <a:lstStyle/>
          <a:p>
            <a:r>
              <a:rPr lang="zh-CN" altLang="en-US" sz="2000" dirty="0"/>
              <a:t>自身反思的以特殊性为中介的普遍性，或经过在自身中反思而返回到普遍性的特殊性 是单一性。单一性不同于</a:t>
            </a:r>
            <a:r>
              <a:rPr lang="en-US" altLang="zh-CN" sz="2000" dirty="0"/>
              <a:t>“</a:t>
            </a:r>
            <a:r>
              <a:rPr lang="zh-CN" altLang="en-US" sz="2000" dirty="0"/>
              <a:t>单个人的意志</a:t>
            </a:r>
            <a:r>
              <a:rPr lang="en-US" altLang="zh-CN" sz="2000" dirty="0"/>
              <a:t>”</a:t>
            </a:r>
            <a:r>
              <a:rPr lang="zh-CN" altLang="en-US" sz="2000" dirty="0">
                <a:ea typeface="宋体" panose="02010600030101010101" pitchFamily="2" charset="-122"/>
              </a:rPr>
              <a:t>。</a:t>
            </a:r>
            <a:r>
              <a:rPr lang="zh-CN" altLang="en-US" sz="2000" dirty="0"/>
              <a:t>特定的个人意志是意志的现实形态，每一个人作为单个的意志与其他意志相区别。但是，人作为理智的存在物，对象和内容都是普遍物，追求普遍性是人的理性的要求。当普遍性不是通过特殊性的任一个体，而是通思维着的自我规定的特殊个体实现自己时，特定的单个人的意志就转变成了</a:t>
            </a:r>
            <a:r>
              <a:rPr lang="en-US" altLang="zh-CN" sz="2000" dirty="0"/>
              <a:t>”</a:t>
            </a:r>
            <a:r>
              <a:rPr lang="zh-CN" altLang="en-US" sz="2000" dirty="0">
                <a:ea typeface="宋体" panose="02010600030101010101" pitchFamily="2" charset="-122"/>
              </a:rPr>
              <a:t>单一性</a:t>
            </a:r>
            <a:r>
              <a:rPr lang="en-US" altLang="zh-CN" sz="2000" dirty="0">
                <a:ea typeface="宋体" panose="02010600030101010101" pitchFamily="2" charset="-122"/>
              </a:rPr>
              <a:t>“</a:t>
            </a:r>
            <a:r>
              <a:rPr lang="zh-CN" altLang="en-US" sz="2000" dirty="0">
                <a:ea typeface="宋体" panose="02010600030101010101" pitchFamily="2" charset="-122"/>
              </a:rPr>
              <a:t>。</a:t>
            </a:r>
          </a:p>
          <a:p>
            <a:r>
              <a:rPr lang="zh-CN" altLang="en-US" sz="2000" dirty="0">
                <a:ea typeface="宋体" panose="02010600030101010101" pitchFamily="2" charset="-122"/>
              </a:rPr>
              <a:t>在抽象的否定自由中，人的意志是抽象的普遍性，在特殊的选择自由中，人的意志是特殊性。</a:t>
            </a:r>
            <a:r>
              <a:rPr lang="en-US" altLang="zh-CN" sz="2000" dirty="0">
                <a:ea typeface="宋体" panose="02010600030101010101" pitchFamily="2" charset="-122"/>
              </a:rPr>
              <a:t>“</a:t>
            </a:r>
            <a:r>
              <a:rPr lang="en-US" altLang="zh-CN" sz="2000" dirty="0" err="1">
                <a:ea typeface="宋体" panose="02010600030101010101" pitchFamily="2" charset="-122"/>
              </a:rPr>
              <a:t>理智固有的有限性</a:t>
            </a:r>
            <a:r>
              <a:rPr lang="zh-CN" altLang="en-US" sz="2000" dirty="0">
                <a:ea typeface="宋体" panose="02010600030101010101" pitchFamily="2" charset="-122"/>
              </a:rPr>
              <a:t>肇始</a:t>
            </a:r>
            <a:r>
              <a:rPr lang="en-US" altLang="zh-CN" sz="2000" dirty="0">
                <a:ea typeface="宋体" panose="02010600030101010101" pitchFamily="2" charset="-122"/>
              </a:rPr>
              <a:t>于</a:t>
            </a:r>
            <a:r>
              <a:rPr lang="zh-CN" altLang="en-US" sz="2000" dirty="0">
                <a:ea typeface="宋体" panose="02010600030101010101" pitchFamily="2" charset="-122"/>
              </a:rPr>
              <a:t>意志，而意志</a:t>
            </a:r>
            <a:r>
              <a:rPr lang="en-US" altLang="zh-CN" sz="2000" dirty="0" err="1">
                <a:ea typeface="宋体" panose="02010600030101010101" pitchFamily="2" charset="-122"/>
              </a:rPr>
              <a:t>只有把自己再提升为思维，并给自己的种种目的以内在的普遍性，才会扬</a:t>
            </a:r>
            <a:r>
              <a:rPr lang="zh-CN" altLang="en-US" sz="2000" dirty="0">
                <a:ea typeface="宋体" panose="02010600030101010101" pitchFamily="2" charset="-122"/>
              </a:rPr>
              <a:t>弃</a:t>
            </a:r>
            <a:r>
              <a:rPr lang="en-US" altLang="zh-CN" sz="2000" dirty="0" err="1">
                <a:ea typeface="宋体" panose="02010600030101010101" pitchFamily="2" charset="-122"/>
              </a:rPr>
              <a:t>形式和内容的差别，而使自己成为客观的无限的意志</a:t>
            </a:r>
            <a:r>
              <a:rPr lang="zh-CN" altLang="en-US" sz="2000" dirty="0">
                <a:ea typeface="宋体" panose="02010600030101010101" pitchFamily="2" charset="-122"/>
              </a:rPr>
              <a:t>。</a:t>
            </a:r>
            <a:r>
              <a:rPr lang="en-US" altLang="zh-CN" sz="2000" dirty="0">
                <a:ea typeface="宋体" panose="02010600030101010101" pitchFamily="2" charset="-122"/>
              </a:rPr>
              <a:t>”</a:t>
            </a:r>
            <a:r>
              <a:rPr lang="zh-CN" altLang="en-US" sz="2000" dirty="0">
                <a:ea typeface="宋体" panose="02010600030101010101" pitchFamily="2" charset="-122"/>
              </a:rPr>
              <a:t>人的意志开始是有限的意志，当他赋予自己的有限意志的目的以普遍性和同一性时，它就成了无限的意志，理性的意志。意志来源于决定，但决定不是任意的，而是把普遍性（概念）客观化为特殊性（定在）。</a:t>
            </a:r>
          </a:p>
          <a:p>
            <a:r>
              <a:rPr lang="zh-CN" altLang="en-US" sz="2000" dirty="0">
                <a:ea typeface="宋体" panose="02010600030101010101" pitchFamily="2" charset="-122"/>
              </a:rPr>
              <a:t>自由概念具有诊断学意义。不做什么决定的意志不是现实的意志，这种人不愿意因决定而陷入有限性，给自己的设定而放弃无限性。</a:t>
            </a:r>
            <a:r>
              <a:rPr lang="en-US" altLang="zh-CN" sz="2000" dirty="0">
                <a:ea typeface="宋体" panose="02010600030101010101" pitchFamily="2" charset="-122"/>
              </a:rPr>
              <a:t>“</a:t>
            </a:r>
            <a:r>
              <a:rPr lang="en-US" altLang="zh-CN" sz="2000" dirty="0" err="1">
                <a:ea typeface="宋体" panose="02010600030101010101" pitchFamily="2" charset="-122"/>
              </a:rPr>
              <a:t>哥德说</a:t>
            </a:r>
            <a:r>
              <a:rPr lang="zh-CN" altLang="en-US" sz="2000" dirty="0">
                <a:ea typeface="宋体" panose="02010600030101010101" pitchFamily="2" charset="-122"/>
              </a:rPr>
              <a:t>，</a:t>
            </a:r>
            <a:r>
              <a:rPr lang="en-US" altLang="zh-CN" sz="2000" dirty="0" err="1">
                <a:ea typeface="宋体" panose="02010600030101010101" pitchFamily="2" charset="-122"/>
              </a:rPr>
              <a:t>励志成大事者，必必须善于限制自己</a:t>
            </a:r>
            <a:r>
              <a:rPr lang="zh-CN" altLang="en-US" sz="2000" dirty="0">
                <a:ea typeface="宋体" panose="02010600030101010101" pitchFamily="2" charset="-122"/>
              </a:rPr>
              <a:t>。人唯有通过决断才投入现实，不论做出决定对他来说来是怎样的艰苦。</a:t>
            </a:r>
            <a:r>
              <a:rPr lang="en-US" altLang="zh-CN" sz="2000" dirty="0">
                <a:ea typeface="宋体" panose="02010600030101010101" pitchFamily="2" charset="-122"/>
              </a:rPr>
              <a:t>”</a:t>
            </a:r>
            <a:r>
              <a:rPr lang="en-US" altLang="zh-CN" sz="2000" dirty="0" err="1">
                <a:ea typeface="宋体" panose="02010600030101010101" pitchFamily="2" charset="-122"/>
              </a:rPr>
              <a:t>踌躇不绝</a:t>
            </a:r>
            <a:r>
              <a:rPr lang="zh-CN" altLang="en-US" sz="2000" dirty="0">
                <a:ea typeface="宋体" panose="02010600030101010101" pitchFamily="2" charset="-122"/>
              </a:rPr>
              <a:t>、</a:t>
            </a:r>
            <a:r>
              <a:rPr lang="en-US" altLang="zh-CN" sz="2000" dirty="0" err="1">
                <a:ea typeface="宋体" panose="02010600030101010101" pitchFamily="2" charset="-122"/>
              </a:rPr>
              <a:t>优柔寡断是一种</a:t>
            </a:r>
            <a:r>
              <a:rPr lang="zh-CN" altLang="en-US" sz="2000" dirty="0">
                <a:ea typeface="宋体" panose="02010600030101010101" pitchFamily="2" charset="-122"/>
              </a:rPr>
              <a:t>偏执，他把一切都保持在可能性的状态，但可能性不是现实性。</a:t>
            </a:r>
            <a:r>
              <a:rPr lang="en-US" altLang="zh-CN" sz="2000" dirty="0">
                <a:ea typeface="宋体" panose="02010600030101010101" pitchFamily="2" charset="-122"/>
              </a:rPr>
              <a:t>“</a:t>
            </a:r>
            <a:r>
              <a:rPr lang="en-US" altLang="zh-CN" sz="2000" dirty="0" err="1">
                <a:ea typeface="宋体" panose="02010600030101010101" pitchFamily="2" charset="-122"/>
              </a:rPr>
              <a:t>有自信的意志是不会因此在被规定的东西中丧失自己</a:t>
            </a:r>
            <a:r>
              <a:rPr lang="zh-CN" altLang="en-US" sz="2000" dirty="0">
                <a:ea typeface="宋体" panose="02010600030101010101" pitchFamily="2" charset="-122"/>
              </a:rPr>
              <a:t>。</a:t>
            </a:r>
            <a:r>
              <a:rPr lang="en-US" altLang="zh-CN" sz="2000" dirty="0">
                <a:ea typeface="宋体" panose="02010600030101010101" pitchFamily="2" charset="-122"/>
              </a:rPr>
              <a:t>”</a:t>
            </a:r>
            <a:r>
              <a:rPr lang="zh-CN" altLang="en-US" sz="2000" dirty="0">
                <a:ea typeface="宋体" panose="02010600030101010101" pitchFamily="2" charset="-122"/>
              </a:rPr>
              <a:t>（第</a:t>
            </a:r>
            <a:r>
              <a:rPr lang="en-US" altLang="zh-CN" sz="2000" dirty="0">
                <a:ea typeface="宋体" panose="02010600030101010101" pitchFamily="2" charset="-122"/>
              </a:rPr>
              <a:t>13</a:t>
            </a:r>
            <a:r>
              <a:rPr lang="zh-CN" altLang="en-US" sz="2000" dirty="0">
                <a:ea typeface="宋体" panose="02010600030101010101" pitchFamily="2" charset="-122"/>
              </a:rPr>
              <a:t>节）同样，特殊的意志也是不自由的意志。真实的具体的自由超越两者。</a:t>
            </a:r>
          </a:p>
          <a:p>
            <a:r>
              <a:rPr lang="en-US" altLang="zh-CN" sz="2000" dirty="0" err="1">
                <a:ea typeface="宋体" panose="02010600030101010101" pitchFamily="2" charset="-122"/>
              </a:rPr>
              <a:t>作为单一性的意志，超越</a:t>
            </a:r>
            <a:r>
              <a:rPr lang="zh-CN" altLang="en-US" sz="2000" dirty="0">
                <a:ea typeface="宋体" panose="02010600030101010101" pitchFamily="2" charset="-122"/>
              </a:rPr>
              <a:t>了</a:t>
            </a:r>
            <a:r>
              <a:rPr lang="en-US" altLang="zh-CN" sz="2000" dirty="0" err="1">
                <a:ea typeface="宋体" panose="02010600030101010101" pitchFamily="2" charset="-122"/>
              </a:rPr>
              <a:t>普遍性和特殊性之间的对立，无限的自我，通过对不同的冲动</a:t>
            </a:r>
            <a:r>
              <a:rPr lang="zh-CN" altLang="en-US" sz="2000" dirty="0">
                <a:ea typeface="宋体" panose="02010600030101010101" pitchFamily="2" charset="-122"/>
              </a:rPr>
              <a:t>及其实现形式的驾驭而获得现实形式。自我是出于普遍性目的而对特殊性的选择。</a:t>
            </a:r>
            <a:endParaRPr lang="en-US" altLang="zh-CN" sz="2000" dirty="0">
              <a:ea typeface="宋体" panose="02010600030101010101" pitchFamily="2" charset="-122"/>
            </a:endParaRPr>
          </a:p>
          <a:p>
            <a:endParaRPr lang="zh-CN" altLang="en-US" sz="2000" dirty="0">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normAutofit/>
          </a:bodyPr>
          <a:lstStyle/>
          <a:p>
            <a:pPr algn="r"/>
            <a:r>
              <a:rPr lang="zh-CN" altLang="en-US" sz="4445" dirty="0"/>
              <a:t>对任性自由的批判</a:t>
            </a:r>
          </a:p>
        </p:txBody>
      </p:sp>
      <p:sp>
        <p:nvSpPr>
          <p:cNvPr id="12" name="文本框 11"/>
          <p:cNvSpPr txBox="1"/>
          <p:nvPr/>
        </p:nvSpPr>
        <p:spPr>
          <a:xfrm>
            <a:off x="6956723" y="-1518701"/>
            <a:ext cx="4044950" cy="9324975"/>
          </a:xfrm>
          <a:prstGeom prst="rect">
            <a:avLst/>
          </a:prstGeom>
          <a:noFill/>
        </p:spPr>
        <p:txBody>
          <a:bodyPr wrap="none" rtlCol="0">
            <a:spAutoFit/>
          </a:bodyPr>
          <a:lstStyle/>
          <a:p>
            <a:r>
              <a:rPr lang="en-US" altLang="zh-CN" sz="60000" dirty="0">
                <a:solidFill>
                  <a:srgbClr val="004F8A"/>
                </a:solidFill>
              </a:rPr>
              <a:t>2</a:t>
            </a: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对任性自由的批判</a:t>
            </a:r>
          </a:p>
        </p:txBody>
      </p:sp>
      <p:sp>
        <p:nvSpPr>
          <p:cNvPr id="3" name="文本框 2"/>
          <p:cNvSpPr txBox="1"/>
          <p:nvPr/>
        </p:nvSpPr>
        <p:spPr>
          <a:xfrm>
            <a:off x="577215" y="985520"/>
            <a:ext cx="10909300" cy="5405755"/>
          </a:xfrm>
          <a:prstGeom prst="rect">
            <a:avLst/>
          </a:prstGeom>
          <a:noFill/>
        </p:spPr>
        <p:txBody>
          <a:bodyPr wrap="square" rtlCol="0">
            <a:spAutoFit/>
          </a:bodyPr>
          <a:lstStyle/>
          <a:p>
            <a:pPr marL="274955" indent="-274955" algn="l" eaLnBrk="1" hangingPunct="1">
              <a:lnSpc>
                <a:spcPct val="90000"/>
              </a:lnSpc>
              <a:buSzPct val="100000"/>
            </a:pPr>
            <a:r>
              <a:rPr lang="en-US" altLang="zh-CN" sz="2400" dirty="0">
                <a:sym typeface="Candara" panose="020E0502030303020204" pitchFamily="34" charset="0"/>
              </a:rPr>
              <a:t>   “任性并不是合乎真理的意志，而是作为矛盾的意志。”（§26） 在任性的意志中，或者选择是无关紧要的，或者选择是</a:t>
            </a:r>
            <a:r>
              <a:rPr lang="zh-CN" altLang="en-US" sz="2400" dirty="0">
                <a:sym typeface="Candara" panose="020E0502030303020204" pitchFamily="34" charset="0"/>
              </a:rPr>
              <a:t>唯一</a:t>
            </a:r>
            <a:r>
              <a:rPr lang="en-US" altLang="zh-CN" sz="2400" dirty="0">
                <a:sym typeface="Candara" panose="020E0502030303020204" pitchFamily="34" charset="0"/>
              </a:rPr>
              <a:t>重要的，“任性的含义指内容不是通过我的意志的本性而是通过偶然性被规定成为我的；因此</a:t>
            </a:r>
            <a:r>
              <a:rPr lang="zh-CN" altLang="en-US" sz="2400" dirty="0">
                <a:sym typeface="Candara" panose="020E0502030303020204" pitchFamily="34" charset="0"/>
              </a:rPr>
              <a:t>我也依赖这个内容，这就是任性中包含的矛盾。</a:t>
            </a:r>
            <a:r>
              <a:rPr lang="en-US" altLang="zh-CN" sz="2400" dirty="0">
                <a:sym typeface="Candara" panose="020E0502030303020204" pitchFamily="34" charset="0"/>
              </a:rPr>
              <a:t>”</a:t>
            </a:r>
            <a:endParaRPr lang="zh-CN" altLang="en-US" sz="2400" dirty="0">
              <a:latin typeface="+mn-lt"/>
              <a:ea typeface="+mn-ea"/>
              <a:cs typeface="+mn-cs"/>
              <a:sym typeface="Candara" panose="020E0502030303020204" pitchFamily="34" charset="0"/>
            </a:endParaRPr>
          </a:p>
          <a:p>
            <a:pPr marL="274955" indent="-274955" algn="l" eaLnBrk="1" hangingPunct="1">
              <a:lnSpc>
                <a:spcPct val="90000"/>
              </a:lnSpc>
              <a:buSzPct val="100000"/>
            </a:pPr>
            <a:r>
              <a:rPr lang="en-US" altLang="zh-CN" sz="2400" dirty="0">
                <a:sym typeface="Candara" panose="020E0502030303020204" pitchFamily="34" charset="0"/>
              </a:rPr>
              <a:t>    任性自由的两种形式：</a:t>
            </a:r>
            <a:r>
              <a:rPr lang="zh-CN" altLang="en-US" sz="2400" dirty="0">
                <a:ea typeface="宋体" panose="02010600030101010101" pitchFamily="2" charset="-122"/>
                <a:sym typeface="Candara" panose="020E0502030303020204" pitchFamily="34" charset="0"/>
              </a:rPr>
              <a:t>（</a:t>
            </a:r>
            <a:r>
              <a:rPr lang="en-US" altLang="zh-CN" sz="2400" dirty="0">
                <a:ea typeface="宋体" panose="02010600030101010101" pitchFamily="2" charset="-122"/>
                <a:sym typeface="Candara" panose="020E0502030303020204" pitchFamily="34" charset="0"/>
              </a:rPr>
              <a:t>1</a:t>
            </a:r>
            <a:r>
              <a:rPr lang="zh-CN" altLang="en-US" sz="2400" dirty="0">
                <a:ea typeface="宋体" panose="02010600030101010101" pitchFamily="2" charset="-122"/>
                <a:sym typeface="Candara" panose="020E0502030303020204" pitchFamily="34" charset="0"/>
              </a:rPr>
              <a:t>）</a:t>
            </a:r>
            <a:r>
              <a:rPr lang="zh-CN" altLang="en-US" sz="2400" dirty="0">
                <a:sym typeface="Candara" panose="020E0502030303020204" pitchFamily="34" charset="0"/>
              </a:rPr>
              <a:t>以</a:t>
            </a:r>
            <a:r>
              <a:rPr lang="en-US" altLang="zh-CN" sz="2400" dirty="0">
                <a:sym typeface="Candara" panose="020E0502030303020204" pitchFamily="34" charset="0"/>
              </a:rPr>
              <a:t>抽象自我反思为基础的对自由的</a:t>
            </a:r>
            <a:r>
              <a:rPr lang="zh-CN" altLang="en-US" sz="2400" dirty="0">
                <a:ea typeface="宋体" panose="02010600030101010101" pitchFamily="2" charset="-122"/>
                <a:sym typeface="Candara" panose="020E0502030303020204" pitchFamily="34" charset="0"/>
              </a:rPr>
              <a:t>主观</a:t>
            </a:r>
            <a:r>
              <a:rPr lang="en-US" altLang="zh-CN" sz="2400" dirty="0">
                <a:sym typeface="Candara" panose="020E0502030303020204" pitchFamily="34" charset="0"/>
              </a:rPr>
              <a:t>确信，“即自我意识形式一的普遍性和统一，是意志对于自由的抽象确信，但它还不是自由的真理 </a:t>
            </a:r>
            <a:r>
              <a:rPr lang="zh-CN" altLang="en-US" sz="2400" dirty="0">
                <a:sym typeface="Candara" panose="020E0502030303020204" pitchFamily="34" charset="0"/>
              </a:rPr>
              <a:t>。”它可以称为意志在纯思维中的任性；（</a:t>
            </a:r>
            <a:r>
              <a:rPr lang="en-US" altLang="zh-CN" sz="2400" dirty="0">
                <a:sym typeface="Candara" panose="020E0502030303020204" pitchFamily="34" charset="0"/>
              </a:rPr>
              <a:t>2</a:t>
            </a:r>
            <a:r>
              <a:rPr lang="zh-CN" altLang="en-US" sz="2400" dirty="0">
                <a:ea typeface="宋体" panose="02010600030101010101" pitchFamily="2" charset="-122"/>
                <a:sym typeface="Candara" panose="020E0502030303020204" pitchFamily="34" charset="0"/>
              </a:rPr>
              <a:t>）</a:t>
            </a:r>
            <a:r>
              <a:rPr lang="en-US" altLang="zh-CN" sz="2400" dirty="0">
                <a:sym typeface="Candara" panose="020E0502030303020204" pitchFamily="34" charset="0"/>
              </a:rPr>
              <a:t>以欲望冲动为基础的</a:t>
            </a:r>
            <a:r>
              <a:rPr lang="zh-CN" altLang="en-US" sz="2400" dirty="0">
                <a:ea typeface="宋体" panose="02010600030101010101" pitchFamily="2" charset="-122"/>
                <a:sym typeface="Candara" panose="020E0502030303020204" pitchFamily="34" charset="0"/>
              </a:rPr>
              <a:t>自然意志决断。</a:t>
            </a:r>
            <a:r>
              <a:rPr lang="en-US" altLang="zh-CN" sz="2400" dirty="0">
                <a:sym typeface="Candara" panose="020E0502030303020204" pitchFamily="34" charset="0"/>
              </a:rPr>
              <a:t>这种</a:t>
            </a:r>
            <a:r>
              <a:rPr lang="zh-CN" altLang="en-US" sz="2400" dirty="0">
                <a:sym typeface="Candara" panose="020E0502030303020204" pitchFamily="34" charset="0"/>
              </a:rPr>
              <a:t>自由必然陷入</a:t>
            </a:r>
            <a:r>
              <a:rPr lang="en-US" altLang="zh-CN" sz="2400" dirty="0">
                <a:sym typeface="Candara" panose="020E0502030303020204" pitchFamily="34" charset="0"/>
              </a:rPr>
              <a:t>“欲望辩证法”</a:t>
            </a:r>
            <a:r>
              <a:rPr lang="zh-CN" altLang="en-US" sz="2400" dirty="0">
                <a:sym typeface="Candara" panose="020E0502030303020204" pitchFamily="34" charset="0"/>
              </a:rPr>
              <a:t>，一个欲望的实现意味着另一欲望的牺牲，而一种欲求应该得到满足还是被牺牲，是纯属偶然的。</a:t>
            </a:r>
            <a:r>
              <a:rPr lang="en-US" altLang="zh-CN" sz="2400" dirty="0">
                <a:sym typeface="Candara" panose="020E0502030303020204" pitchFamily="34" charset="0"/>
              </a:rPr>
              <a:t>“由于</a:t>
            </a:r>
            <a:r>
              <a:rPr lang="zh-CN" altLang="en-US" sz="2400" dirty="0">
                <a:sym typeface="Candara" panose="020E0502030303020204" pitchFamily="34" charset="0"/>
              </a:rPr>
              <a:t>冲动除了它的规定性外没有其它方向，从而它自身没有尺度，所以规定使另一个服从或牺牲，只能是出于任性的偶然决断。</a:t>
            </a:r>
            <a:r>
              <a:rPr lang="en-US" altLang="zh-CN" sz="2400" dirty="0">
                <a:sym typeface="Candara" panose="020E0502030303020204" pitchFamily="34" charset="0"/>
              </a:rPr>
              <a:t>”（§17）</a:t>
            </a:r>
            <a:endParaRPr lang="en-US" altLang="zh-CN" sz="2400" dirty="0">
              <a:latin typeface="+mn-lt"/>
              <a:ea typeface="+mn-ea"/>
              <a:cs typeface="+mn-cs"/>
              <a:sym typeface="Candara" panose="020E0502030303020204" pitchFamily="34" charset="0"/>
            </a:endParaRPr>
          </a:p>
          <a:p>
            <a:pPr marL="274955" indent="-274955" algn="l" eaLnBrk="1" hangingPunct="1">
              <a:lnSpc>
                <a:spcPct val="90000"/>
              </a:lnSpc>
              <a:buSzPct val="100000"/>
            </a:pPr>
            <a:r>
              <a:rPr lang="en-US" altLang="zh-CN" sz="2400" dirty="0">
                <a:sym typeface="Candara" panose="020E0502030303020204" pitchFamily="34" charset="0"/>
              </a:rPr>
              <a:t>     </a:t>
            </a:r>
            <a:r>
              <a:rPr lang="zh-CN" altLang="en-US" sz="2400" dirty="0">
                <a:ea typeface="宋体" panose="02010600030101010101" pitchFamily="2" charset="-122"/>
                <a:sym typeface="Candara" panose="020E0502030303020204" pitchFamily="34" charset="0"/>
              </a:rPr>
              <a:t>真正的</a:t>
            </a:r>
            <a:r>
              <a:rPr lang="zh-CN" altLang="en-US" sz="2400" dirty="0">
                <a:sym typeface="Candara" panose="020E0502030303020204" pitchFamily="34" charset="0"/>
              </a:rPr>
              <a:t>自己的自由概念是思辨的自由概念，思辨意味着对立面的统一，意志从抽象普遍性出发，经过特殊性的中介回到自身。一方面意志获得了内容，另一方面内容通过思维和反思被纯化。</a:t>
            </a:r>
            <a:r>
              <a:rPr lang="en-US" altLang="zh-CN" sz="2400" dirty="0">
                <a:sym typeface="Candara" panose="020E0502030303020204" pitchFamily="34" charset="0"/>
              </a:rPr>
              <a:t>“人作为精神是一种自由的本质，他具有不受自然冲动所规定的地位</a:t>
            </a:r>
            <a:r>
              <a:rPr lang="zh-CN" altLang="en-US" sz="2400" dirty="0">
                <a:sym typeface="Candara" panose="020E0502030303020204" pitchFamily="34" charset="0"/>
              </a:rPr>
              <a:t>。所以处在直接无教养的状态中的人，是处在其所不应处的状态，而且必然从这种状态解放出来 。</a:t>
            </a:r>
            <a:r>
              <a:rPr lang="en-US" altLang="zh-CN" sz="2400" dirty="0">
                <a:sym typeface="Candara" panose="020E0502030303020204" pitchFamily="34" charset="0"/>
              </a:rPr>
              <a:t>”（§18）</a:t>
            </a:r>
            <a:endParaRPr lang="zh-CN" alt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幸福是反思的自由意志</a:t>
            </a:r>
          </a:p>
        </p:txBody>
      </p:sp>
      <p:sp>
        <p:nvSpPr>
          <p:cNvPr id="3" name="文本框 2"/>
          <p:cNvSpPr txBox="1"/>
          <p:nvPr/>
        </p:nvSpPr>
        <p:spPr>
          <a:xfrm>
            <a:off x="577850" y="986790"/>
            <a:ext cx="10880090" cy="5324475"/>
          </a:xfrm>
          <a:prstGeom prst="rect">
            <a:avLst/>
          </a:prstGeom>
          <a:noFill/>
        </p:spPr>
        <p:txBody>
          <a:bodyPr wrap="square" rtlCol="0">
            <a:spAutoFit/>
          </a:bodyPr>
          <a:lstStyle/>
          <a:p>
            <a:pPr marL="274955" indent="-274955" algn="l" eaLnBrk="1" hangingPunct="1">
              <a:lnSpc>
                <a:spcPct val="135000"/>
              </a:lnSpc>
              <a:buSzPct val="100000"/>
              <a:buFont typeface="Wingdings" panose="05000000000000000000" pitchFamily="2" charset="2"/>
            </a:pPr>
            <a:r>
              <a:rPr lang="en-US" altLang="zh-CN" b="1" dirty="0">
                <a:sym typeface="Candara" panose="020E0502030303020204" pitchFamily="34" charset="0"/>
              </a:rPr>
              <a:t>      </a:t>
            </a:r>
            <a:r>
              <a:rPr lang="zh-CN" altLang="en-US" b="1" dirty="0">
                <a:sym typeface="Candara" panose="020E0502030303020204" pitchFamily="34" charset="0"/>
              </a:rPr>
              <a:t>黑格尔认为，</a:t>
            </a:r>
            <a:r>
              <a:rPr lang="en-US" altLang="zh-CN" b="1" dirty="0">
                <a:sym typeface="Candara" panose="020E0502030303020204" pitchFamily="34" charset="0"/>
              </a:rPr>
              <a:t> </a:t>
            </a:r>
            <a:r>
              <a:rPr lang="zh-CN" altLang="en-US" b="1" dirty="0">
                <a:sym typeface="Candara" panose="020E0502030303020204" pitchFamily="34" charset="0"/>
              </a:rPr>
              <a:t>把幸福设定为人生的普遍原则，已经是一种反思的普遍意志，因为一切冲动和欲望都根据对幸福的影响这一原则来取舍。</a:t>
            </a:r>
            <a:r>
              <a:rPr lang="en-US" altLang="zh-CN" b="1" dirty="0">
                <a:sym typeface="Candara" panose="020E0502030303020204" pitchFamily="34" charset="0"/>
              </a:rPr>
              <a:t>幸福</a:t>
            </a:r>
            <a:r>
              <a:rPr lang="zh-CN" altLang="en-US" b="1" dirty="0">
                <a:ea typeface="宋体" panose="02010600030101010101" pitchFamily="2" charset="-122"/>
                <a:sym typeface="Candara" panose="020E0502030303020204" pitchFamily="34" charset="0"/>
              </a:rPr>
              <a:t>主义（伊壁鸠鲁主义）的双重性</a:t>
            </a:r>
            <a:r>
              <a:rPr lang="en-US" altLang="zh-CN" b="1" dirty="0">
                <a:sym typeface="Candara" panose="020E0502030303020204" pitchFamily="34" charset="0"/>
              </a:rPr>
              <a:t>：一</a:t>
            </a:r>
            <a:r>
              <a:rPr lang="zh-CN" altLang="en-US" b="1" dirty="0">
                <a:ea typeface="宋体" panose="02010600030101010101" pitchFamily="2" charset="-122"/>
                <a:sym typeface="Candara" panose="020E0502030303020204" pitchFamily="34" charset="0"/>
              </a:rPr>
              <a:t>方面</a:t>
            </a:r>
            <a:r>
              <a:rPr lang="en-US" altLang="zh-CN" b="1" dirty="0">
                <a:sym typeface="Candara" panose="020E0502030303020204" pitchFamily="34" charset="0"/>
              </a:rPr>
              <a:t>，</a:t>
            </a:r>
            <a:r>
              <a:rPr lang="zh-CN" altLang="en-US" b="1" dirty="0">
                <a:ea typeface="宋体" panose="02010600030101010101" pitchFamily="2" charset="-122"/>
                <a:sym typeface="Candara" panose="020E0502030303020204" pitchFamily="34" charset="0"/>
              </a:rPr>
              <a:t>幸福</a:t>
            </a:r>
            <a:r>
              <a:rPr lang="en-US" altLang="zh-CN" b="1" dirty="0">
                <a:sym typeface="Candara" panose="020E0502030303020204" pitchFamily="34" charset="0"/>
              </a:rPr>
              <a:t>是一个比</a:t>
            </a:r>
            <a:r>
              <a:rPr lang="zh-CN" altLang="en-US" b="1" dirty="0">
                <a:ea typeface="宋体" panose="02010600030101010101" pitchFamily="2" charset="-122"/>
                <a:sym typeface="Candara" panose="020E0502030303020204" pitchFamily="34" charset="0"/>
              </a:rPr>
              <a:t>一般</a:t>
            </a:r>
            <a:r>
              <a:rPr lang="en-US" altLang="zh-CN" b="1" dirty="0">
                <a:sym typeface="Candara" panose="020E0502030303020204" pitchFamily="34" charset="0"/>
              </a:rPr>
              <a:t>特殊物更高的普遍物，因而能够赋予感性冲动以合理的目的和意义；</a:t>
            </a:r>
            <a:r>
              <a:rPr lang="zh-CN" altLang="en-US" b="1" dirty="0">
                <a:ea typeface="宋体" panose="02010600030101010101" pitchFamily="2" charset="-122"/>
                <a:sym typeface="Candara" panose="020E0502030303020204" pitchFamily="34" charset="0"/>
              </a:rPr>
              <a:t>另一方面，把</a:t>
            </a:r>
            <a:r>
              <a:rPr lang="en-US" altLang="zh-CN" b="1" dirty="0">
                <a:sym typeface="Candara" panose="020E0502030303020204" pitchFamily="34" charset="0"/>
              </a:rPr>
              <a:t>幸福</a:t>
            </a:r>
            <a:r>
              <a:rPr lang="zh-CN" altLang="en-US" b="1" dirty="0">
                <a:ea typeface="宋体" panose="02010600030101010101" pitchFamily="2" charset="-122"/>
                <a:sym typeface="Candara" panose="020E0502030303020204" pitchFamily="34" charset="0"/>
              </a:rPr>
              <a:t>作为人生的目的</a:t>
            </a:r>
            <a:r>
              <a:rPr lang="en-US" altLang="zh-CN" b="1" dirty="0">
                <a:sym typeface="Candara" panose="020E0502030303020204" pitchFamily="34" charset="0"/>
              </a:rPr>
              <a:t>，仍然</a:t>
            </a:r>
            <a:r>
              <a:rPr lang="zh-CN" altLang="en-US" b="1" dirty="0">
                <a:ea typeface="宋体" panose="02010600030101010101" pitchFamily="2" charset="-122"/>
                <a:sym typeface="Candara" panose="020E0502030303020204" pitchFamily="34" charset="0"/>
              </a:rPr>
              <a:t>把</a:t>
            </a:r>
            <a:r>
              <a:rPr lang="en-US" altLang="zh-CN" b="1" dirty="0" err="1">
                <a:sym typeface="Candara" panose="020E0502030303020204" pitchFamily="34" charset="0"/>
              </a:rPr>
              <a:t>特殊性</a:t>
            </a:r>
            <a:r>
              <a:rPr lang="en-US" altLang="zh-CN" b="1" dirty="0">
                <a:sym typeface="Candara" panose="020E0502030303020204" pitchFamily="34" charset="0"/>
              </a:rPr>
              <a:t>，</a:t>
            </a:r>
            <a:r>
              <a:rPr lang="zh-CN" altLang="en-US" b="1" dirty="0">
                <a:sym typeface="Candara" panose="020E0502030303020204" pitchFamily="34" charset="0"/>
              </a:rPr>
              <a:t>即把</a:t>
            </a:r>
            <a:r>
              <a:rPr lang="en-US" altLang="zh-CN" b="1" dirty="0" err="1">
                <a:sym typeface="Candara" panose="020E0502030303020204" pitchFamily="34" charset="0"/>
              </a:rPr>
              <a:t>享乐和欲望的</a:t>
            </a:r>
            <a:r>
              <a:rPr lang="zh-CN" altLang="en-US" b="1" dirty="0">
                <a:sym typeface="Candara" panose="020E0502030303020204" pitchFamily="34" charset="0"/>
              </a:rPr>
              <a:t>满足</a:t>
            </a:r>
            <a:r>
              <a:rPr lang="zh-CN" altLang="en-US" b="1" dirty="0">
                <a:ea typeface="宋体" panose="02010600030101010101" pitchFamily="2" charset="-122"/>
                <a:sym typeface="Candara" panose="020E0502030303020204" pitchFamily="34" charset="0"/>
              </a:rPr>
              <a:t>作为人生的目的，而不是以自由作为人生的目的，因而是有局限性的。</a:t>
            </a:r>
            <a:r>
              <a:rPr lang="en-US" altLang="zh-CN" b="1" dirty="0">
                <a:sym typeface="Candara" panose="020E0502030303020204" pitchFamily="34" charset="0"/>
              </a:rPr>
              <a:t>（§20）</a:t>
            </a:r>
            <a:endParaRPr lang="zh-CN" altLang="en-US" b="1" dirty="0">
              <a:latin typeface="+mn-lt"/>
              <a:ea typeface="+mn-ea"/>
              <a:cs typeface="+mn-cs"/>
              <a:sym typeface="Candara" panose="020E0502030303020204" pitchFamily="34" charset="0"/>
            </a:endParaRPr>
          </a:p>
          <a:p>
            <a:pPr marL="274955" indent="-274955" algn="l" eaLnBrk="1" hangingPunct="1">
              <a:lnSpc>
                <a:spcPct val="135000"/>
              </a:lnSpc>
              <a:buSzPct val="100000"/>
              <a:buFont typeface="Wingdings" panose="05000000000000000000" pitchFamily="2" charset="2"/>
            </a:pPr>
            <a:r>
              <a:rPr lang="en-US" altLang="zh-CN" b="1" dirty="0">
                <a:sym typeface="Candara" panose="020E0502030303020204" pitchFamily="34" charset="0"/>
              </a:rPr>
              <a:t>      法哲学不是对幸福作为意志的普遍原则的证明，而是把意志自由本身作为自己的目的，在这个意义上，法哲学就必然超越</a:t>
            </a:r>
            <a:r>
              <a:rPr lang="zh-CN" altLang="en-US" b="1" dirty="0">
                <a:sym typeface="Candara" panose="020E0502030303020204" pitchFamily="34" charset="0"/>
              </a:rPr>
              <a:t>幸福论</a:t>
            </a:r>
            <a:r>
              <a:rPr lang="en-US" altLang="zh-CN" b="1" dirty="0">
                <a:sym typeface="Candara" panose="020E0502030303020204" pitchFamily="34" charset="0"/>
              </a:rPr>
              <a:t>，</a:t>
            </a:r>
            <a:r>
              <a:rPr lang="zh-CN" altLang="en-US" b="1" dirty="0">
                <a:sym typeface="Candara" panose="020E0502030303020204" pitchFamily="34" charset="0"/>
              </a:rPr>
              <a:t>把</a:t>
            </a:r>
            <a:r>
              <a:rPr lang="en-US" altLang="zh-CN" b="1" dirty="0">
                <a:sym typeface="Candara" panose="020E0502030303020204" pitchFamily="34" charset="0"/>
              </a:rPr>
              <a:t>自由意志</a:t>
            </a:r>
            <a:r>
              <a:rPr lang="zh-CN" altLang="en-US" b="1" dirty="0">
                <a:sym typeface="Candara" panose="020E0502030303020204" pitchFamily="34" charset="0"/>
              </a:rPr>
              <a:t>上升到理念高度进行认识。以幸福作为目的，或经验心理学对自由的理解一方面它满足了形式的普遍性的要求。这一形式的普遍性</a:t>
            </a:r>
            <a:r>
              <a:rPr lang="en-US" altLang="zh-CN" b="1" dirty="0">
                <a:sym typeface="Candara" panose="020E0502030303020204" pitchFamily="34" charset="0"/>
              </a:rPr>
              <a:t>——</a:t>
            </a:r>
            <a:r>
              <a:rPr lang="zh-CN" altLang="en-US" b="1" dirty="0">
                <a:sym typeface="Candara" panose="020E0502030303020204" pitchFamily="34" charset="0"/>
              </a:rPr>
              <a:t>自身没有规定性而在上述素材中找到其规定性，意志乃是作为形式的普遍性起作用 的，通过形式和内容的反思关系建立起来的。“自我意识把它的对象、内容和目的加以纯化并提高到普遍性，它这样做，就是作为思维在意志 贯彻自己。这里有一点搞明白了：意志只有作为能思维的理智才是真实 的、自由的意志。</a:t>
            </a:r>
            <a:r>
              <a:rPr lang="en-US" altLang="zh-CN" b="1" dirty="0">
                <a:sym typeface="Candara" panose="020E0502030303020204" pitchFamily="34" charset="0"/>
              </a:rPr>
              <a:t>……</a:t>
            </a:r>
            <a:r>
              <a:rPr lang="zh-CN" altLang="en-US" b="1" dirty="0">
                <a:sym typeface="Candara" panose="020E0502030303020204" pitchFamily="34" charset="0"/>
              </a:rPr>
              <a:t>通过思维把自己作为本质来把握，从而使自己摆脱偶然而不真的东西为种自我意识，就构成了法、道德和一切伦理的原则。”（第</a:t>
            </a:r>
            <a:r>
              <a:rPr lang="en-US" altLang="zh-CN" b="1" dirty="0">
                <a:sym typeface="Candara" panose="020E0502030303020204" pitchFamily="34" charset="0"/>
              </a:rPr>
              <a:t>21</a:t>
            </a:r>
            <a:r>
              <a:rPr lang="zh-CN" altLang="en-US" b="1" dirty="0">
                <a:sym typeface="Candara" panose="020E0502030303020204" pitchFamily="34" charset="0"/>
              </a:rPr>
              <a:t>节）但是，幸福论的局限性在于，它没有把意志的内容仍然停留在理性作用范围之外，它只是自为的自由概念。</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对自然主义与形式主义的超越</a:t>
            </a:r>
          </a:p>
        </p:txBody>
      </p:sp>
      <p:sp>
        <p:nvSpPr>
          <p:cNvPr id="3" name="文本框 2"/>
          <p:cNvSpPr txBox="1"/>
          <p:nvPr/>
        </p:nvSpPr>
        <p:spPr>
          <a:xfrm>
            <a:off x="426720" y="986155"/>
            <a:ext cx="11222990" cy="5631180"/>
          </a:xfrm>
          <a:prstGeom prst="rect">
            <a:avLst/>
          </a:prstGeom>
          <a:noFill/>
        </p:spPr>
        <p:txBody>
          <a:bodyPr wrap="square" rtlCol="0">
            <a:spAutoFit/>
          </a:bodyPr>
          <a:lstStyle/>
          <a:p>
            <a:pPr marL="274955" indent="-274955" algn="l" eaLnBrk="1" hangingPunct="1">
              <a:buSzPct val="100000"/>
              <a:buChar char=""/>
            </a:pP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幸福论虽然部分地扬弃了自然主义，但没有真正超越自然主义。原因在于，幸福不过是赋予经验冲突和欲望以统一的形式，并没有创造出符合自由概念的内容本身。“哲学上的真理指概念与实在相适合，它所希求的不仅仅上赋予现存的经验冲动以普遍的形式，它还必须产生出它自己的内容。”“所以当意志所希求的东西，即它的内容，与它是同一的，就是说，当自由希求自由时，只有这时意志和是真实意志。”（</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21</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节）具体来说，对自在自为的意志来说，它的对象对它来说不是一个他物，而是它自身产生的。</a:t>
            </a:r>
          </a:p>
          <a:p>
            <a:pPr marL="274955" indent="-274955" algn="l" eaLnBrk="1" hangingPunct="1">
              <a:buSzPct val="100000"/>
              <a:buChar char=""/>
            </a:pP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康德式的自由概念把无限性只理解为否定的东西，是现实性的彼岸，而真正无限的东西必然具有现实性和现在性。“自由意志是真正无限的，因为它不仅仅是可能性和素质，相反地，它的外在定在就是它的内在性，就是它本身。”（</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22</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节）“惟有在这种自由意志中意志和无条件地守在它自身身边，因为除了与它自身相关外，它不与其它东西相关，从而对其它任何东西一切依赖关系都取消了。”（</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23</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节）这种类型的自由才是真正的理性的自由，是自由意志的真理，因为它是自由的概念与其定在的东西统一。</a:t>
            </a:r>
          </a:p>
          <a:p>
            <a:pPr marL="274955" indent="-274955" algn="l" eaLnBrk="1" hangingPunct="1">
              <a:buSzPct val="100000"/>
              <a:buChar char=""/>
            </a:pPr>
            <a:r>
              <a:rPr lang="zh-CN" altLang="en-US" sz="2000" dirty="0">
                <a:latin typeface="宋体" panose="02010600030101010101" pitchFamily="2" charset="-122"/>
                <a:ea typeface="宋体" panose="02010600030101010101" pitchFamily="2" charset="-122"/>
                <a:cs typeface="宋体" panose="02010600030101010101" pitchFamily="2" charset="-122"/>
              </a:rPr>
              <a:t>理性的自由是二阶意志，意志的意志，是以自由为对象的自由。</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err="1">
                <a:latin typeface="宋体" panose="02010600030101010101" pitchFamily="2" charset="-122"/>
                <a:ea typeface="宋体" panose="02010600030101010101" pitchFamily="2" charset="-122"/>
                <a:cs typeface="宋体" panose="02010600030101010101" pitchFamily="2" charset="-122"/>
              </a:rPr>
              <a:t>这种意志是以普遍性</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err="1">
                <a:latin typeface="宋体" panose="02010600030101010101" pitchFamily="2" charset="-122"/>
                <a:ea typeface="宋体" panose="02010600030101010101" pitchFamily="2" charset="-122"/>
                <a:cs typeface="宋体" panose="02010600030101010101" pitchFamily="2" charset="-122"/>
              </a:rPr>
              <a:t>作为无限形式的自身</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为其内容、</a:t>
            </a:r>
            <a:r>
              <a:rPr lang="en-US" altLang="zh-CN" sz="2000" dirty="0" err="1">
                <a:latin typeface="宋体" panose="02010600030101010101" pitchFamily="2" charset="-122"/>
                <a:ea typeface="宋体" panose="02010600030101010101" pitchFamily="2" charset="-122"/>
                <a:cs typeface="宋体" panose="02010600030101010101" pitchFamily="2" charset="-122"/>
              </a:rPr>
              <a:t>对象和目的，所以</a:t>
            </a:r>
            <a:r>
              <a:rPr lang="zh-CN" altLang="en-US" sz="2000" dirty="0">
                <a:latin typeface="宋体" panose="02010600030101010101" pitchFamily="2" charset="-122"/>
                <a:ea typeface="宋体" panose="02010600030101010101" pitchFamily="2" charset="-122"/>
                <a:cs typeface="宋体" panose="02010600030101010101" pitchFamily="2" charset="-122"/>
              </a:rPr>
              <a:t>它</a:t>
            </a:r>
            <a:r>
              <a:rPr lang="en-US" altLang="zh-CN" sz="2000" dirty="0" err="1">
                <a:latin typeface="宋体" panose="02010600030101010101" pitchFamily="2" charset="-122"/>
                <a:ea typeface="宋体" panose="02010600030101010101" pitchFamily="2" charset="-122"/>
                <a:cs typeface="宋体" panose="02010600030101010101" pitchFamily="2" charset="-122"/>
              </a:rPr>
              <a:t>不仅是自在的，而且也是自为的自由的意</a:t>
            </a:r>
            <a:r>
              <a:rPr lang="zh-CN" altLang="en-US" sz="2000" dirty="0">
                <a:latin typeface="宋体" panose="02010600030101010101" pitchFamily="2" charset="-122"/>
                <a:ea typeface="宋体" panose="02010600030101010101" pitchFamily="2" charset="-122"/>
                <a:cs typeface="宋体" panose="02010600030101010101" pitchFamily="2" charset="-122"/>
              </a:rPr>
              <a:t>志</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作为理念的意志。</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（第</a:t>
            </a:r>
            <a:r>
              <a:rPr lang="en-US" altLang="zh-CN" sz="2000" dirty="0">
                <a:latin typeface="宋体" panose="02010600030101010101" pitchFamily="2" charset="-122"/>
                <a:ea typeface="宋体" panose="02010600030101010101" pitchFamily="2" charset="-122"/>
                <a:cs typeface="宋体" panose="02010600030101010101" pitchFamily="2" charset="-122"/>
              </a:rPr>
              <a:t>21</a:t>
            </a:r>
            <a:r>
              <a:rPr lang="zh-CN" altLang="en-US" sz="2000" dirty="0">
                <a:latin typeface="宋体" panose="02010600030101010101" pitchFamily="2" charset="-122"/>
                <a:ea typeface="宋体" panose="02010600030101010101" pitchFamily="2" charset="-122"/>
                <a:cs typeface="宋体" panose="02010600030101010101" pitchFamily="2" charset="-122"/>
              </a:rPr>
              <a:t>节）一方面，思维追求的普遍性通过意志实现自己，获得现实性；意志通过思维扬弃自己，获得普遍性。思维与意志的统一既是主观与客观、普遍性与特殊性、形式与内容、自在与自务的统一。</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通过思维把自己作为本质来把握，从而使自己摆脱偶然的和不真的东西这种自我意识，就是构成了法道德和一切伦理的原则。</a:t>
            </a:r>
            <a:r>
              <a:rPr lang="en-US" altLang="zh-CN" sz="2000" dirty="0">
                <a:latin typeface="宋体" panose="02010600030101010101" pitchFamily="2" charset="-122"/>
                <a:ea typeface="宋体" panose="02010600030101010101" pitchFamily="2" charset="-122"/>
                <a:cs typeface="宋体" panose="02010600030101010101" pitchFamily="2" charset="-122"/>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dirty="0">
                <a:sym typeface="+mn-ea"/>
              </a:rPr>
            </a:br>
            <a:r>
              <a:rPr lang="zh-CN" altLang="en-US" dirty="0">
                <a:sym typeface="+mn-ea"/>
              </a:rPr>
              <a:t>自由意志是主观性和客观性的统一</a:t>
            </a:r>
            <a:br>
              <a:rPr lang="zh-CN" altLang="en-US" dirty="0"/>
            </a:br>
            <a:endParaRPr lang="zh-CN" altLang="en-US"/>
          </a:p>
        </p:txBody>
      </p:sp>
      <p:sp>
        <p:nvSpPr>
          <p:cNvPr id="3" name="文本框 2"/>
          <p:cNvSpPr txBox="1"/>
          <p:nvPr/>
        </p:nvSpPr>
        <p:spPr>
          <a:xfrm>
            <a:off x="472440" y="986155"/>
            <a:ext cx="11196320" cy="5352415"/>
          </a:xfrm>
          <a:prstGeom prst="rect">
            <a:avLst/>
          </a:prstGeom>
          <a:noFill/>
        </p:spPr>
        <p:txBody>
          <a:bodyPr wrap="square" rtlCol="0">
            <a:spAutoFit/>
          </a:bodyPr>
          <a:lstStyle/>
          <a:p>
            <a:pPr marL="274955" indent="-274955" algn="l" eaLnBrk="1" hangingPunct="1">
              <a:lnSpc>
                <a:spcPct val="110000"/>
              </a:lnSpc>
              <a:buSzPct val="100000"/>
              <a:buFont typeface="Wingdings" panose="05000000000000000000" pitchFamily="2" charset="2"/>
            </a:pPr>
            <a:r>
              <a:rPr lang="en-US" altLang="zh-CN" dirty="0">
                <a:latin typeface="华文楷体" panose="02010600040101010101" pitchFamily="2" charset="-122"/>
                <a:sym typeface="华文楷体" panose="02010600040101010101" pitchFamily="2" charset="-122"/>
              </a:rPr>
              <a:t>    </a:t>
            </a:r>
            <a:r>
              <a:rPr lang="zh-CN" altLang="en-US" dirty="0">
                <a:latin typeface="华文楷体" panose="02010600040101010101" pitchFamily="2" charset="-122"/>
                <a:sym typeface="华文楷体" panose="02010600040101010101" pitchFamily="2" charset="-122"/>
              </a:rPr>
              <a:t>意志的主观性：意志的纯形式，即自我意识同自身的绝对等同，是对它本身的纯粹的确信，即意志总是我的意志，这种主观性就是人的主体性（说某一目的是主观的，因为是指某一主体的目的）；指意志的特殊内容，即任性和各种偶然的目的，即相对于普遍意志概念的特殊内容，这种内容与我相联系，因而是主观的（当主观性用于指意志的内容时，凡是属于主体的都是主观 的）。真正的主观性意味着意志的客观内容通过反思的理智形式得到把握，即与客观性内容相一致的主观性。</a:t>
            </a:r>
          </a:p>
          <a:p>
            <a:pPr marL="274955" indent="-274955" algn="l" eaLnBrk="1" hangingPunct="1">
              <a:lnSpc>
                <a:spcPct val="135000"/>
              </a:lnSpc>
              <a:buSzPct val="100000"/>
              <a:buFont typeface="Wingdings" panose="05000000000000000000" pitchFamily="2" charset="2"/>
            </a:pPr>
            <a:r>
              <a:rPr lang="zh-CN" altLang="en-US" dirty="0">
                <a:sym typeface="Candara" panose="020E0502030303020204" pitchFamily="34" charset="0"/>
              </a:rPr>
              <a:t>    意志的客观性：当意志是自我规定的意志，即符合意志的概念并且是真实的意志时，我们说意志是客观的，这种客观性是指与主观任性相对的实体或普遍的意志，也指真理的意志；</a:t>
            </a:r>
            <a:r>
              <a:rPr lang="en-US" altLang="zh-CN" dirty="0">
                <a:sym typeface="Candara" panose="020E0502030303020204" pitchFamily="34" charset="0"/>
              </a:rPr>
              <a:t>当客观意志缺少自我意识的形式，因而还没有把自己把握为意志的自我规定时，意志是客观的，这种意义上的客观性意味着一种缺乏自主性的奴性，是无意志的意志，是尚未向自身返回的意志</a:t>
            </a:r>
            <a:r>
              <a:rPr lang="zh-CN" altLang="en-US" dirty="0">
                <a:ea typeface="宋体" panose="02010600030101010101" pitchFamily="2" charset="-122"/>
                <a:sym typeface="Candara" panose="020E0502030303020204" pitchFamily="34" charset="0"/>
              </a:rPr>
              <a:t>；</a:t>
            </a:r>
            <a:r>
              <a:rPr lang="en-US" altLang="zh-CN" dirty="0">
                <a:sym typeface="Candara" panose="020E0502030303020204" pitchFamily="34" charset="0"/>
              </a:rPr>
              <a:t>指与主观性相对的意志形式，即以外部世界的定在形式体现自己的意志，因此，凡是目的在其中实现并获得直接性存在的意志，是客观意志。    </a:t>
            </a:r>
          </a:p>
          <a:p>
            <a:pPr marL="274955" indent="-274955" algn="l" eaLnBrk="1" hangingPunct="1">
              <a:lnSpc>
                <a:spcPct val="135000"/>
              </a:lnSpc>
              <a:buSzPct val="100000"/>
              <a:buFont typeface="Wingdings" panose="05000000000000000000" pitchFamily="2" charset="2"/>
            </a:pPr>
            <a:r>
              <a:rPr lang="en-US" altLang="zh-CN" dirty="0">
                <a:sym typeface="Candara" panose="020E0502030303020204" pitchFamily="34" charset="0"/>
              </a:rPr>
              <a:t>     </a:t>
            </a:r>
            <a:r>
              <a:rPr lang="zh-CN" altLang="en-US" dirty="0">
                <a:sym typeface="Candara" panose="020E0502030303020204" pitchFamily="34" charset="0"/>
              </a:rPr>
              <a:t>理性的自由意志既不是主观性，也不是客观性，而在</a:t>
            </a:r>
            <a:r>
              <a:rPr lang="en-US" altLang="zh-CN" dirty="0">
                <a:sym typeface="Candara" panose="020E0502030303020204" pitchFamily="34" charset="0"/>
              </a:rPr>
              <a:t>于扬弃主观性</a:t>
            </a:r>
            <a:r>
              <a:rPr lang="zh-CN" altLang="en-US" dirty="0">
                <a:sym typeface="Candara" panose="020E0502030303020204" pitchFamily="34" charset="0"/>
              </a:rPr>
              <a:t>与</a:t>
            </a:r>
            <a:r>
              <a:rPr lang="en-US" altLang="zh-CN" dirty="0">
                <a:sym typeface="Candara" panose="020E0502030303020204" pitchFamily="34" charset="0"/>
              </a:rPr>
              <a:t>客观</a:t>
            </a:r>
            <a:r>
              <a:rPr lang="zh-CN" altLang="en-US" dirty="0">
                <a:sym typeface="Candara" panose="020E0502030303020204" pitchFamily="34" charset="0"/>
              </a:rPr>
              <a:t>性的矛盾，从而使目的由主观性变为客观性，同时在客观性中也保持着主观性。自由应该既成为意志的目的，而且应该成为直接的现实。自由作为精神的普遍目的应该发展为理念的体系，而且这一观念应该超越主观与客观的对立，实现统一与和解。（</a:t>
            </a:r>
            <a:r>
              <a:rPr lang="en-US" altLang="zh-CN" dirty="0">
                <a:sym typeface="Candara" panose="020E0502030303020204" pitchFamily="34" charset="0"/>
              </a:rPr>
              <a:t>§27-28）</a:t>
            </a:r>
            <a:endParaRPr lang="zh-CN" altLang="en-US" dirty="0">
              <a:latin typeface="+mn-lt"/>
              <a:ea typeface="+mn-ea"/>
              <a:cs typeface="+mn-cs"/>
              <a:sym typeface="Candara" panose="020E0502030303020204" pitchFamily="34" charset="0"/>
            </a:endParaRPr>
          </a:p>
          <a:p>
            <a:pPr marL="274955" indent="-274955" algn="l" eaLnBrk="1" hangingPunct="1">
              <a:lnSpc>
                <a:spcPct val="135000"/>
              </a:lnSpc>
              <a:buSzPct val="100000"/>
              <a:buFont typeface="Wingdings" panose="05000000000000000000" pitchFamily="2" charset="2"/>
            </a:pP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lstStyle/>
          <a:p>
            <a:pPr algn="r"/>
            <a:r>
              <a:rPr lang="zh-CN" altLang="en-US" dirty="0"/>
              <a:t>自由与法</a:t>
            </a:r>
          </a:p>
        </p:txBody>
      </p:sp>
      <p:sp>
        <p:nvSpPr>
          <p:cNvPr id="12" name="文本框 11"/>
          <p:cNvSpPr txBox="1"/>
          <p:nvPr/>
        </p:nvSpPr>
        <p:spPr>
          <a:xfrm>
            <a:off x="6956723" y="-1518701"/>
            <a:ext cx="4044950" cy="9324975"/>
          </a:xfrm>
          <a:prstGeom prst="rect">
            <a:avLst/>
          </a:prstGeom>
          <a:noFill/>
        </p:spPr>
        <p:txBody>
          <a:bodyPr wrap="none" rtlCol="0">
            <a:spAutoFit/>
          </a:bodyPr>
          <a:lstStyle/>
          <a:p>
            <a:r>
              <a:rPr lang="en-US" altLang="zh-CN" sz="60000" dirty="0">
                <a:solidFill>
                  <a:srgbClr val="004F8A"/>
                </a:solidFill>
              </a:rPr>
              <a:t>3</a:t>
            </a: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法的自由意志的定在</a:t>
            </a:r>
          </a:p>
        </p:txBody>
      </p:sp>
      <p:sp>
        <p:nvSpPr>
          <p:cNvPr id="3" name="文本框 2"/>
          <p:cNvSpPr txBox="1"/>
          <p:nvPr/>
        </p:nvSpPr>
        <p:spPr>
          <a:xfrm>
            <a:off x="548005" y="1105535"/>
            <a:ext cx="10941050" cy="4154170"/>
          </a:xfrm>
          <a:prstGeom prst="rect">
            <a:avLst/>
          </a:prstGeom>
          <a:noFill/>
        </p:spPr>
        <p:txBody>
          <a:bodyPr wrap="square" rtlCol="0">
            <a:spAutoFit/>
          </a:bodyPr>
          <a:lstStyle/>
          <a:p>
            <a:pPr marL="274955" indent="-274955" algn="l" eaLnBrk="1" hangingPunct="1">
              <a:buSzPct val="100000"/>
              <a:buChar char=""/>
            </a:pPr>
            <a:r>
              <a:rPr lang="zh-CN" altLang="en-US" sz="2400" dirty="0">
                <a:sym typeface="Candara" panose="020E0502030303020204" pitchFamily="34" charset="0"/>
              </a:rPr>
              <a:t>法的定义：“任何定在，只要是自由意志的定在，就叫做法。所以一般地说，法就是作为理念的自由。”（</a:t>
            </a:r>
            <a:r>
              <a:rPr lang="en-US" altLang="zh-CN" sz="2400" dirty="0">
                <a:sym typeface="Candara" panose="020E0502030303020204" pitchFamily="34" charset="0"/>
              </a:rPr>
              <a:t>§29</a:t>
            </a:r>
            <a:r>
              <a:rPr lang="zh-CN" altLang="en-US" sz="2400" dirty="0">
                <a:sym typeface="Candara" panose="020E0502030303020204" pitchFamily="34" charset="0"/>
              </a:rPr>
              <a:t>）</a:t>
            </a:r>
            <a:endParaRPr lang="en-US" altLang="zh-CN" sz="2400" dirty="0">
              <a:latin typeface="+mn-lt"/>
              <a:ea typeface="+mn-ea"/>
              <a:cs typeface="+mn-cs"/>
              <a:sym typeface="Candara" panose="020E0502030303020204" pitchFamily="34" charset="0"/>
            </a:endParaRPr>
          </a:p>
          <a:p>
            <a:pPr marL="274955" indent="-274955" algn="l" eaLnBrk="1" hangingPunct="1">
              <a:buSzPct val="100000"/>
              <a:buChar char=""/>
            </a:pPr>
            <a:r>
              <a:rPr lang="zh-CN" altLang="en-US" sz="2400" dirty="0">
                <a:sym typeface="Candara" panose="020E0502030303020204" pitchFamily="34" charset="0"/>
              </a:rPr>
              <a:t>与康德法的概念的区别：对康德来说，法是为了保护所有人的平等自由而对自由的限制：</a:t>
            </a:r>
            <a:r>
              <a:rPr lang="en-US" altLang="zh-CN" sz="2400" dirty="0">
                <a:sym typeface="Candara" panose="020E0502030303020204" pitchFamily="34" charset="0"/>
              </a:rPr>
              <a:t>“</a:t>
            </a:r>
            <a:r>
              <a:rPr lang="zh-CN" altLang="en-US" sz="2400" dirty="0">
                <a:sym typeface="Candara" panose="020E0502030303020204" pitchFamily="34" charset="0"/>
              </a:rPr>
              <a:t>限制我的自由或任性，使它能够依据一种普遍规则而与任何一个人的任性并行不悖。”黑格尔认为，这样的对法的定义是片面的，它只包含着否定的和限制的方面，没有包含肯定的方面。黑格尔认为，“这一原则一旦得到承认，理性的东西自然只能作为对这种自由加以限制而出现；同时也不是作为内在理性东西，而只是作为外在的、形式的普遍物而出现。这种见解完全缺乏思辨的思想，而为哲学所唾弃。”（</a:t>
            </a:r>
            <a:r>
              <a:rPr lang="en-US" altLang="zh-CN" sz="2400" dirty="0">
                <a:sym typeface="Candara" panose="020E0502030303020204" pitchFamily="34" charset="0"/>
              </a:rPr>
              <a:t>37</a:t>
            </a:r>
            <a:r>
              <a:rPr lang="zh-CN" altLang="en-US" sz="2400" dirty="0">
                <a:sym typeface="Candara" panose="020E0502030303020204" pitchFamily="34" charset="0"/>
              </a:rPr>
              <a:t>）</a:t>
            </a:r>
            <a:endParaRPr lang="zh-CN" altLang="en-US" sz="2400" dirty="0">
              <a:latin typeface="+mn-lt"/>
              <a:ea typeface="+mn-ea"/>
              <a:cs typeface="+mn-cs"/>
              <a:sym typeface="Candara" panose="020E0502030303020204" pitchFamily="34" charset="0"/>
            </a:endParaRPr>
          </a:p>
          <a:p>
            <a:pPr marL="274955" indent="-274955" algn="l" eaLnBrk="1" hangingPunct="1">
              <a:buSzPct val="100000"/>
              <a:buChar char=""/>
            </a:pPr>
            <a:endParaRPr lang="zh-CN" altLang="en-US" sz="2400" dirty="0">
              <a:latin typeface="+mn-lt"/>
              <a:ea typeface="+mn-ea"/>
              <a:cs typeface="+mn-cs"/>
              <a:sym typeface="Candara" panose="020E0502030303020204" pitchFamily="34" charset="0"/>
            </a:endParaRPr>
          </a:p>
          <a:p>
            <a:endParaRPr lang="zh-CN" altLang="en-US" sz="24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法律是对欲望的合理强制</a:t>
            </a:r>
          </a:p>
        </p:txBody>
      </p:sp>
      <p:sp>
        <p:nvSpPr>
          <p:cNvPr id="3" name="文本框 2"/>
          <p:cNvSpPr txBox="1"/>
          <p:nvPr/>
        </p:nvSpPr>
        <p:spPr>
          <a:xfrm>
            <a:off x="4826000" y="3244850"/>
            <a:ext cx="2540000" cy="368300"/>
          </a:xfrm>
          <a:prstGeom prst="rect">
            <a:avLst/>
          </a:prstGeom>
          <a:noFill/>
        </p:spPr>
        <p:txBody>
          <a:bodyPr wrap="square" rtlCol="0" anchor="t">
            <a:spAutoFit/>
          </a:bodyPr>
          <a:lstStyle/>
          <a:p>
            <a:r>
              <a:rPr lang="zh-CN" altLang="en-US"/>
              <a:t>.</a:t>
            </a:r>
          </a:p>
        </p:txBody>
      </p:sp>
      <p:sp>
        <p:nvSpPr>
          <p:cNvPr id="4" name="文本框 3"/>
          <p:cNvSpPr txBox="1"/>
          <p:nvPr/>
        </p:nvSpPr>
        <p:spPr>
          <a:xfrm>
            <a:off x="760730" y="1728470"/>
            <a:ext cx="10792460" cy="3538220"/>
          </a:xfrm>
          <a:prstGeom prst="rect">
            <a:avLst/>
          </a:prstGeom>
          <a:noFill/>
        </p:spPr>
        <p:txBody>
          <a:bodyPr wrap="square" rtlCol="0">
            <a:spAutoFit/>
          </a:bodyPr>
          <a:lstStyle/>
          <a:p>
            <a:pPr algn="l"/>
            <a:r>
              <a:rPr lang="zh-CN" altLang="en-US" sz="2800" b="1" dirty="0">
                <a:latin typeface="华文楷体" panose="02010600040101010101" pitchFamily="2" charset="-122"/>
                <a:sym typeface="华文楷体" panose="02010600040101010101" pitchFamily="2" charset="-122"/>
              </a:rPr>
              <a:t>人的意志既具有自然性，也具有理性。作为自然意志的存在物，人有欲望、冲动和倾向等等，作为理性的存在物，人追求自由和普遍性，合理的意志必须使欲望符合理性的概念。法律建立在冲动之上，一方面它承认冲动是自由的必要条件，理性不是要取消冲动，排除了一切冲动，也就排除了自由。另一方面，法律在承认每个人都有实现自己欲望的权利的同时，必须冲动和欲望置于合理的体系之中。法律是对欲望的合理强制。没有自然冲动，法律就失去必要性。如果没有理性的意志，法律就失去可能性。</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自由的理念的每个发展阶段都有其独特的法</a:t>
            </a:r>
          </a:p>
        </p:txBody>
      </p:sp>
      <p:sp>
        <p:nvSpPr>
          <p:cNvPr id="3" name="文本框 2"/>
          <p:cNvSpPr txBox="1"/>
          <p:nvPr/>
        </p:nvSpPr>
        <p:spPr>
          <a:xfrm>
            <a:off x="548005" y="986155"/>
            <a:ext cx="10661650" cy="5015865"/>
          </a:xfrm>
          <a:prstGeom prst="rect">
            <a:avLst/>
          </a:prstGeom>
          <a:noFill/>
        </p:spPr>
        <p:txBody>
          <a:bodyPr wrap="square" rtlCol="0">
            <a:spAutoFit/>
          </a:bodyPr>
          <a:lstStyle/>
          <a:p>
            <a:pPr algn="l"/>
            <a:endParaRPr lang="zh-CN" altLang="en-US" sz="2000"/>
          </a:p>
          <a:p>
            <a:pPr algn="l"/>
            <a:r>
              <a:rPr lang="zh-CN" altLang="en-US" sz="2000"/>
              <a:t>任何定在，只要是自由意志的定在就叫做法，法就是理念的自由。自由依据及概念有着不同的发展阶段，作为精神的发展过程，法通过其不同阶段，更具体更丰富，更具有普遍性。因而，法的发展具有方向性，并且每一阶段和形式都有其特殊的内容。</a:t>
            </a:r>
          </a:p>
          <a:p>
            <a:pPr algn="l"/>
            <a:r>
              <a:rPr lang="zh-CN" altLang="en-US" sz="2000"/>
              <a:t>自由的理念的每个发展阶段都有其独特的法，因而每个阶段都是在其特有各规定中之一的那自由的定在。当人们说道德伦理跟法是对立的，这时所谓的法单子，抽象人格的最初的形式的法。道德，伦理，国家利益等，每一个都是独特的法，因为这些形态中每一个都是自由的规定和定在。</a:t>
            </a:r>
          </a:p>
          <a:p>
            <a:pPr algn="l"/>
            <a:r>
              <a:rPr lang="zh-CN" altLang="en-US" sz="2000"/>
              <a:t>法作为自由意志的定在，它的不同阶段和不同形式之间并不矛盾，只有单他们在同一条线上都要成为法的时候，他们才会发生冲突，然而这种冲突可以通过辩证法得到解决。</a:t>
            </a:r>
          </a:p>
          <a:p>
            <a:pPr algn="l"/>
            <a:r>
              <a:rPr lang="zh-CN" altLang="en-US" sz="2000" dirty="0">
                <a:sym typeface="Candara" panose="020E0502030303020204" pitchFamily="34" charset="0"/>
              </a:rPr>
              <a:t>概念的辩证法不是主观思维的外部活动，而是事物</a:t>
            </a:r>
            <a:r>
              <a:rPr lang="zh-CN" altLang="en-US" sz="2000" u="sng" dirty="0">
                <a:sym typeface="Candara" panose="020E0502030303020204" pitchFamily="34" charset="0"/>
              </a:rPr>
              <a:t>固有的灵魂。 </a:t>
            </a:r>
            <a:r>
              <a:rPr lang="en-US" altLang="zh-CN" sz="2000" u="sng" dirty="0">
                <a:sym typeface="Candara" panose="020E0502030303020204" pitchFamily="34" charset="0"/>
              </a:rPr>
              <a:t>“合乎理性地考察事物，而不给对象从外面带来理性，并对它进行加工制造，而是说对象就它本身来说是合乎理性的。这里正是在他的自由中的精神，自我意识中的理性的最高峰，他给自己一现实，并把自己创造为实存世界。科学的唯一任务就在于把事物的理性这种特有的工作带给意识</a:t>
            </a:r>
            <a:r>
              <a:rPr lang="zh-CN" altLang="en-US" sz="2000" u="sng" dirty="0">
                <a:ea typeface="宋体" panose="02010600030101010101" pitchFamily="2" charset="-122"/>
                <a:sym typeface="Candara" panose="020E0502030303020204" pitchFamily="34" charset="0"/>
              </a:rPr>
              <a:t>。</a:t>
            </a:r>
            <a:r>
              <a:rPr lang="en-US" altLang="zh-CN" sz="2000" u="sng" dirty="0">
                <a:ea typeface="宋体" panose="02010600030101010101" pitchFamily="2" charset="-122"/>
                <a:sym typeface="Candara" panose="020E0502030303020204" pitchFamily="34" charset="0"/>
              </a:rPr>
              <a:t>“</a:t>
            </a:r>
            <a:r>
              <a:rPr lang="en-US" altLang="zh-CN" sz="2000" u="sng" dirty="0">
                <a:sym typeface="Candara" panose="020E0502030303020204" pitchFamily="34" charset="0"/>
              </a:rPr>
              <a:t>（</a:t>
            </a:r>
            <a:r>
              <a:rPr lang="en-US" altLang="zh-CN" sz="2000" dirty="0">
                <a:sym typeface="Candara" panose="020E0502030303020204" pitchFamily="34" charset="0"/>
              </a:rPr>
              <a:t>§31）</a:t>
            </a:r>
            <a:r>
              <a:rPr lang="zh-CN" altLang="en-US" sz="2000" dirty="0">
                <a:ea typeface="宋体" panose="02010600030101010101" pitchFamily="2" charset="-122"/>
                <a:sym typeface="Candara" panose="020E0502030303020204" pitchFamily="34" charset="0"/>
              </a:rPr>
              <a:t>对法哲学来说，不是揭示法的发展及其最内在必然过程。</a:t>
            </a:r>
            <a:endParaRPr lang="zh-CN" altLang="en-US" sz="2000"/>
          </a:p>
          <a:p>
            <a:pPr algn="l"/>
            <a:endParaRPr lang="zh-CN" altLang="en-US" sz="20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法的三种形式</a:t>
            </a:r>
          </a:p>
        </p:txBody>
      </p:sp>
      <p:sp>
        <p:nvSpPr>
          <p:cNvPr id="3" name="文本框 2"/>
          <p:cNvSpPr txBox="1"/>
          <p:nvPr/>
        </p:nvSpPr>
        <p:spPr>
          <a:xfrm>
            <a:off x="410845" y="864235"/>
            <a:ext cx="10598150" cy="4707890"/>
          </a:xfrm>
          <a:prstGeom prst="rect">
            <a:avLst/>
          </a:prstGeom>
          <a:noFill/>
        </p:spPr>
        <p:txBody>
          <a:bodyPr wrap="square" rtlCol="0">
            <a:spAutoFit/>
          </a:bodyPr>
          <a:lstStyle/>
          <a:p>
            <a:pPr algn="l"/>
            <a:r>
              <a:rPr lang="zh-CN" altLang="en-US" sz="2000"/>
              <a:t>法的理念的发展，一方面是概念，另一方面是概念对象化的定在形式。两者都科学考察的范围，并且在思辨意义上，概念的定价方式与概念的规定性是一而二、二而一的。法治理念的发展，是从最抽象的规定性开始的，在随后的发展中，法的概念更加丰富，法的定在更加具体。</a:t>
            </a:r>
          </a:p>
          <a:p>
            <a:pPr algn="l"/>
            <a:r>
              <a:rPr lang="zh-CN" altLang="en-US" sz="2000"/>
              <a:t>按照自在自为的自由意志这一理念，法的发展就有三个阶段，第1个阶段，法是抽象的自由意志即人格自由的定在。在这里法以抽象法和形式法的形式出现。在第2阶段中一直从外部定在回到其自身，一直被规定为与普遍物对应的主观单一性，在这一阶段中，我们有的主观意志的法，这就是道德的领域。第3阶段是上述两个抽象环节的统一：自由的理念在反思中的意志和外部世界中获得实现。这就是伦理。</a:t>
            </a:r>
          </a:p>
          <a:p>
            <a:pPr indent="0" algn="l" eaLnBrk="1" hangingPunct="1">
              <a:buSzPct val="100000"/>
              <a:buNone/>
            </a:pPr>
            <a:r>
              <a:rPr lang="zh-CN" altLang="en-US" sz="2000" dirty="0">
                <a:sym typeface="Candara" panose="020E0502030303020204" pitchFamily="34" charset="0"/>
              </a:rPr>
              <a:t>对黑格尔来说，自由的最高观点是伦理的观点，伦理意味着被思考的善的理念在那个在自身中反思的意志和外部世界的获得了实现。</a:t>
            </a:r>
            <a:r>
              <a:rPr lang="en-US" altLang="zh-CN" sz="2000" dirty="0">
                <a:sym typeface="Candara" panose="020E0502030303020204" pitchFamily="34" charset="0"/>
              </a:rPr>
              <a:t>”</a:t>
            </a:r>
            <a:r>
              <a:rPr lang="zh-CN" altLang="en-US" sz="2000" dirty="0">
                <a:sym typeface="Candara" panose="020E0502030303020204" pitchFamily="34" charset="0"/>
              </a:rPr>
              <a:t>现代主流的观点是主观主义观点，即康德主义。法哲学的核心问题是道德与伦理的关系。康德哲学是道德哲学，</a:t>
            </a:r>
            <a:r>
              <a:rPr lang="en-US" altLang="zh-CN" sz="2000" dirty="0">
                <a:sym typeface="Candara" panose="020E0502030303020204" pitchFamily="34" charset="0"/>
              </a:rPr>
              <a:t>“道德和能力在习惯上几乎是当做同义词来用，在本书中具有本质上不同的意义</a:t>
            </a:r>
            <a:r>
              <a:rPr lang="zh-CN" altLang="en-US" sz="2000" dirty="0">
                <a:ea typeface="宋体" panose="02010600030101010101" pitchFamily="2" charset="-122"/>
                <a:sym typeface="Candara" panose="020E0502030303020204" pitchFamily="34" charset="0"/>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……康德多半喜欢使用道德一词</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，其实在他的哲学中，各项实践原则完全限于道德这一概念，制式伦理的观点完全不能承认，并且甚至把它公然取消，加以凌辱。</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而黑格尔认为，</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“道德同更早的环节及</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形式</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法都是抽象的东西，只有</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伦理</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才是他们的真理，是在概念中的意志和单个的意志</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即</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主观意志的统一</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（第</a:t>
            </a:r>
            <a:r>
              <a:rPr lang="en-US" altLang="zh-CN"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33</a:t>
            </a:r>
            <a:r>
              <a:rPr lang="zh-CN" altLang="en-US" sz="2000" dirty="0">
                <a:latin typeface="宋体" panose="02010600030101010101" pitchFamily="2" charset="-122"/>
                <a:ea typeface="宋体" panose="02010600030101010101" pitchFamily="2" charset="-122"/>
                <a:cs typeface="宋体" panose="02010600030101010101" pitchFamily="2" charset="-122"/>
                <a:sym typeface="Candara" panose="020E0502030303020204" pitchFamily="34" charset="0"/>
              </a:rPr>
              <a:t>节）</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4337836" y="1629000"/>
            <a:ext cx="3600000" cy="3600000"/>
          </a:xfrm>
          <a:prstGeom prst="ellipse">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519509" y="2828835"/>
            <a:ext cx="3236655" cy="1200329"/>
          </a:xfrm>
          <a:prstGeom prst="rect">
            <a:avLst/>
          </a:prstGeom>
          <a:noFill/>
        </p:spPr>
        <p:txBody>
          <a:bodyPr wrap="none" rtlCol="0">
            <a:spAutoFit/>
          </a:bodyPr>
          <a:lstStyle/>
          <a:p>
            <a:pPr algn="ctr"/>
            <a:r>
              <a:rPr lang="en-US" altLang="zh-CN" sz="7200" dirty="0">
                <a:solidFill>
                  <a:schemeClr val="bg1"/>
                </a:solidFill>
              </a:rPr>
              <a:t>THANKS</a:t>
            </a:r>
            <a:endParaRPr lang="zh-CN" altLang="en-US" sz="7200" dirty="0">
              <a:solidFill>
                <a:schemeClr val="bg1"/>
              </a:solidFill>
            </a:endParaRPr>
          </a:p>
        </p:txBody>
      </p:sp>
      <p:cxnSp>
        <p:nvCxnSpPr>
          <p:cNvPr id="7" name="直接连接符 6"/>
          <p:cNvCxnSpPr/>
          <p:nvPr/>
        </p:nvCxnSpPr>
        <p:spPr>
          <a:xfrm>
            <a:off x="4697836" y="2828835"/>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697836" y="4029164"/>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4436036" y="1743300"/>
            <a:ext cx="3403600" cy="3403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12900" y="1173480"/>
            <a:ext cx="9742805" cy="2306955"/>
          </a:xfrm>
          <a:prstGeom prst="rect">
            <a:avLst/>
          </a:prstGeom>
          <a:noFill/>
        </p:spPr>
        <p:txBody>
          <a:bodyPr wrap="square" rtlCol="0">
            <a:spAutoFit/>
          </a:bodyPr>
          <a:lstStyle/>
          <a:p>
            <a:r>
              <a:rPr lang="zh-CN" altLang="en-US" sz="3600"/>
              <a:t>讨论题：</a:t>
            </a:r>
          </a:p>
          <a:p>
            <a:r>
              <a:rPr lang="en-US" altLang="zh-CN" sz="3600"/>
              <a:t>1</a:t>
            </a:r>
            <a:r>
              <a:rPr lang="zh-CN" altLang="en-US" sz="3600">
                <a:ea typeface="宋体" panose="02010600030101010101" pitchFamily="2" charset="-122"/>
              </a:rPr>
              <a:t>、如何理解</a:t>
            </a:r>
            <a:r>
              <a:rPr lang="en-US" altLang="zh-CN" sz="3600">
                <a:ea typeface="宋体" panose="02010600030101010101" pitchFamily="2" charset="-122"/>
              </a:rPr>
              <a:t>“</a:t>
            </a:r>
            <a:r>
              <a:rPr lang="zh-CN" altLang="en-US" sz="3600">
                <a:ea typeface="宋体" panose="02010600030101010101" pitchFamily="2" charset="-122"/>
              </a:rPr>
              <a:t>哲学是把握在思想中的它的时代</a:t>
            </a:r>
            <a:r>
              <a:rPr lang="en-US" altLang="zh-CN" sz="3600">
                <a:ea typeface="宋体" panose="02010600030101010101" pitchFamily="2" charset="-122"/>
              </a:rPr>
              <a:t>”</a:t>
            </a:r>
            <a:r>
              <a:rPr lang="zh-CN" altLang="en-US" sz="3600">
                <a:ea typeface="宋体" panose="02010600030101010101" pitchFamily="2" charset="-122"/>
              </a:rPr>
              <a:t>？</a:t>
            </a:r>
          </a:p>
          <a:p>
            <a:r>
              <a:rPr lang="en-US" altLang="zh-CN" sz="3600">
                <a:ea typeface="宋体" panose="02010600030101010101" pitchFamily="2" charset="-122"/>
              </a:rPr>
              <a:t>2</a:t>
            </a:r>
            <a:r>
              <a:rPr lang="zh-CN" altLang="en-US" sz="3600">
                <a:ea typeface="宋体" panose="02010600030101010101" pitchFamily="2" charset="-122"/>
              </a:rPr>
              <a:t>、如何理解真正的自由是</a:t>
            </a:r>
            <a:r>
              <a:rPr lang="en-US" altLang="zh-CN" sz="3600">
                <a:ea typeface="宋体" panose="02010600030101010101" pitchFamily="2" charset="-122"/>
              </a:rPr>
              <a:t>“</a:t>
            </a:r>
            <a:r>
              <a:rPr lang="zh-CN" altLang="en-US" sz="3600">
                <a:ea typeface="宋体" panose="02010600030101010101" pitchFamily="2" charset="-122"/>
              </a:rPr>
              <a:t>既守在自己身边而又重新回到普遍物</a:t>
            </a:r>
            <a:r>
              <a:rPr lang="en-US" altLang="zh-CN" sz="3600">
                <a:ea typeface="宋体" panose="02010600030101010101" pitchFamily="2" charset="-122"/>
              </a:rPr>
              <a:t>”</a:t>
            </a:r>
            <a:r>
              <a:rPr lang="zh-CN" altLang="en-US" sz="3600">
                <a:ea typeface="宋体" panose="02010600030101010101" pitchFamily="2" charset="-122"/>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TANDARD">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TotalTime>
  <Words>3198</Words>
  <Application>Microsoft Office PowerPoint</Application>
  <PresentationFormat>宽屏</PresentationFormat>
  <Paragraphs>54</Paragraphs>
  <Slides>17</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微軟正黑體</vt:lpstr>
      <vt:lpstr>华文楷体</vt:lpstr>
      <vt:lpstr>宋体</vt:lpstr>
      <vt:lpstr>微软雅黑</vt:lpstr>
      <vt:lpstr>Arial</vt:lpstr>
      <vt:lpstr>Calibri</vt:lpstr>
      <vt:lpstr>Candara</vt:lpstr>
      <vt:lpstr>Wingdings</vt:lpstr>
      <vt:lpstr>Office 主题</vt:lpstr>
      <vt:lpstr>《导论》2：如何成就自由？</vt:lpstr>
      <vt:lpstr>从自然意志到理性意志</vt:lpstr>
      <vt:lpstr>自由的理念是自在自为的</vt:lpstr>
      <vt:lpstr>从自然意志到理性意志</vt:lpstr>
      <vt:lpstr>自由是意志的单一性</vt:lpstr>
      <vt:lpstr>对任性自由的批判</vt:lpstr>
      <vt:lpstr>对任性自由的批判</vt:lpstr>
      <vt:lpstr>幸福是反思的自由意志</vt:lpstr>
      <vt:lpstr>对自然主义与形式主义的超越</vt:lpstr>
      <vt:lpstr> 自由意志是主观性和客观性的统一 </vt:lpstr>
      <vt:lpstr>自由与法</vt:lpstr>
      <vt:lpstr>法的自由意志的定在</vt:lpstr>
      <vt:lpstr>法律是对欲望的合理强制</vt:lpstr>
      <vt:lpstr>自由的理念的每个发展阶段都有其独特的法</vt:lpstr>
      <vt:lpstr>法的三种形式</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Ryan Lee</dc:creator>
  <cp:lastModifiedBy>xingfuw</cp:lastModifiedBy>
  <cp:revision>63</cp:revision>
  <dcterms:created xsi:type="dcterms:W3CDTF">2014-04-01T11:22:00Z</dcterms:created>
  <dcterms:modified xsi:type="dcterms:W3CDTF">2024-03-13T06:06:57Z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
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1" r:id="rId2"/>
    <p:sldId id="271" r:id="rId3"/>
    <p:sldId id="258" r:id="rId4"/>
    <p:sldId id="323" r:id="rId5"/>
    <p:sldId id="302" r:id="rId6"/>
    <p:sldId id="324" r:id="rId7"/>
    <p:sldId id="325" r:id="rId8"/>
    <p:sldId id="326" r:id="rId9"/>
    <p:sldId id="337" r:id="rId10"/>
    <p:sldId id="303" r:id="rId11"/>
    <p:sldId id="327" r:id="rId12"/>
    <p:sldId id="328" r:id="rId13"/>
    <p:sldId id="329" r:id="rId14"/>
    <p:sldId id="340" r:id="rId15"/>
    <p:sldId id="341" r:id="rId16"/>
    <p:sldId id="304" r:id="rId17"/>
    <p:sldId id="330" r:id="rId18"/>
    <p:sldId id="331" r:id="rId19"/>
    <p:sldId id="332" r:id="rId20"/>
    <p:sldId id="342" r:id="rId21"/>
    <p:sldId id="343" r:id="rId22"/>
    <p:sldId id="273" r:id="rId23"/>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8A"/>
    <a:srgbClr val="335899"/>
    <a:srgbClr val="3F6AB7"/>
    <a:srgbClr val="7991CE"/>
    <a:srgbClr val="B3BEDF"/>
    <a:srgbClr val="0171C5"/>
    <a:srgbClr val="7E3A66"/>
    <a:srgbClr val="7E6CC3"/>
    <a:srgbClr val="68578F"/>
    <a:srgbClr val="3F5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29" autoAdjust="0"/>
    <p:restoredTop sz="94660"/>
  </p:normalViewPr>
  <p:slideViewPr>
    <p:cSldViewPr snapToGrid="0" showGuides="1">
      <p:cViewPr varScale="1">
        <p:scale>
          <a:sx n="50" d="100"/>
          <a:sy n="50" d="100"/>
        </p:scale>
        <p:origin x="29" y="811"/>
      </p:cViewPr>
      <p:guideLst>
        <p:guide orient="horz" pos="2137"/>
        <p:guide pos="3817"/>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圆角矩形 6"/>
          <p:cNvSpPr/>
          <p:nvPr userDrawn="1"/>
        </p:nvSpPr>
        <p:spPr>
          <a:xfrm>
            <a:off x="2019869" y="5501898"/>
            <a:ext cx="10172131" cy="1284102"/>
          </a:xfrm>
          <a:prstGeom prst="roundRect">
            <a:avLst>
              <a:gd name="adj" fmla="val 0"/>
            </a:avLst>
          </a:prstGeom>
          <a:solidFill>
            <a:srgbClr val="004F8A">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userDrawn="1"/>
        </p:nvSpPr>
        <p:spPr>
          <a:xfrm>
            <a:off x="0" y="5501898"/>
            <a:ext cx="3048000" cy="1284102"/>
          </a:xfrm>
          <a:custGeom>
            <a:avLst/>
            <a:gdLst>
              <a:gd name="connsiteX0" fmla="*/ 0 w 3036468"/>
              <a:gd name="connsiteY0" fmla="*/ 0 h 1800000"/>
              <a:gd name="connsiteX1" fmla="*/ 3036468 w 3036468"/>
              <a:gd name="connsiteY1" fmla="*/ 0 h 1800000"/>
              <a:gd name="connsiteX2" fmla="*/ 2061536 w 3036468"/>
              <a:gd name="connsiteY2" fmla="*/ 1800000 h 1800000"/>
              <a:gd name="connsiteX3" fmla="*/ 0 w 3036468"/>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036468" h="1800000">
                <a:moveTo>
                  <a:pt x="0" y="0"/>
                </a:moveTo>
                <a:lnTo>
                  <a:pt x="3036468" y="0"/>
                </a:lnTo>
                <a:lnTo>
                  <a:pt x="2061536" y="1800000"/>
                </a:lnTo>
                <a:lnTo>
                  <a:pt x="0" y="1800000"/>
                </a:lnTo>
                <a:close/>
              </a:path>
            </a:pathLst>
          </a:cu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5429898"/>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6786000"/>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743201" y="5970198"/>
            <a:ext cx="9448799" cy="522360"/>
          </a:xfrm>
        </p:spPr>
        <p:txBody>
          <a:bodyPr anchor="ctr"/>
          <a:lstStyle>
            <a:lvl1pPr algn="l">
              <a:defRPr sz="6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362" y="5611454"/>
            <a:ext cx="1100407" cy="11036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任意多边形 9"/>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1" name="矩形 10"/>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rgbClr val="004F8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lgn="ctr">
              <a:defRPr sz="60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9" name="图片占位符 8"/>
          <p:cNvSpPr>
            <a:spLocks noGrp="1"/>
          </p:cNvSpPr>
          <p:nvPr>
            <p:ph type="pic" sz="quarter" idx="13"/>
          </p:nvPr>
        </p:nvSpPr>
        <p:spPr>
          <a:xfrm>
            <a:off x="0" y="0"/>
            <a:ext cx="6813176" cy="6858000"/>
          </a:xfrm>
          <a:ln>
            <a:noFill/>
          </a:ln>
        </p:spPr>
        <p:txBody>
          <a:bodyPr/>
          <a:lstStyle/>
          <a:p>
            <a:endParaRPr lang="zh-CN" altLang="en-US" dirty="0"/>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8" name="任意多边形 7"/>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0" name="矩形 9"/>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6" name="矩形 5"/>
          <p:cNvSpPr/>
          <p:nvPr userDrawn="1"/>
        </p:nvSpPr>
        <p:spPr>
          <a:xfrm>
            <a:off x="7858760" y="607949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5" name="矩形 4"/>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004F8A"/>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0" name="矩形 9"/>
          <p:cNvSpPr/>
          <p:nvPr userDrawn="1"/>
        </p:nvSpPr>
        <p:spPr>
          <a:xfrm>
            <a:off x="-1" y="1"/>
            <a:ext cx="10468725" cy="9525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096000" y="6108700"/>
            <a:ext cx="6096000" cy="7493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fld id="{72BB5F89-3C37-49A6-B7CC-41D189EEC0B1}" type="datetimeFigureOut">
              <a:rPr lang="zh-CN" altLang="en-US" smtClean="0"/>
              <a:t>2024/4/23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89001C-556A-4238-A7E0-2B72E20C5D72}" type="slidenum">
              <a:rPr lang="zh-CN" altLang="en-US" smtClean="0"/>
              <a:t>‹#›</a:t>
            </a:fld>
            <a:endParaRPr lang="zh-CN" altLang="en-US"/>
          </a:p>
        </p:txBody>
      </p:sp>
      <p:sp>
        <p:nvSpPr>
          <p:cNvPr id="7" name="矩形 6"/>
          <p:cNvSpPr/>
          <p:nvPr userDrawn="1"/>
        </p:nvSpPr>
        <p:spPr>
          <a:xfrm>
            <a:off x="-6350" y="5349875"/>
            <a:ext cx="8286750" cy="1511300"/>
          </a:xfrm>
          <a:custGeom>
            <a:avLst/>
            <a:gdLst>
              <a:gd name="connsiteX0" fmla="*/ 0 w 7404100"/>
              <a:gd name="connsiteY0" fmla="*/ 0 h 1498600"/>
              <a:gd name="connsiteX1" fmla="*/ 7404100 w 7404100"/>
              <a:gd name="connsiteY1" fmla="*/ 0 h 1498600"/>
              <a:gd name="connsiteX2" fmla="*/ 7404100 w 7404100"/>
              <a:gd name="connsiteY2" fmla="*/ 1498600 h 1498600"/>
              <a:gd name="connsiteX3" fmla="*/ 0 w 7404100"/>
              <a:gd name="connsiteY3" fmla="*/ 1498600 h 1498600"/>
              <a:gd name="connsiteX4" fmla="*/ 0 w 7404100"/>
              <a:gd name="connsiteY4" fmla="*/ 0 h 1498600"/>
              <a:gd name="connsiteX0-1" fmla="*/ 0 w 7404100"/>
              <a:gd name="connsiteY0-2" fmla="*/ 0 h 1498600"/>
              <a:gd name="connsiteX1-3" fmla="*/ 6121400 w 7404100"/>
              <a:gd name="connsiteY1-4" fmla="*/ 0 h 1498600"/>
              <a:gd name="connsiteX2-5" fmla="*/ 7404100 w 7404100"/>
              <a:gd name="connsiteY2-6" fmla="*/ 1498600 h 1498600"/>
              <a:gd name="connsiteX3-7" fmla="*/ 0 w 7404100"/>
              <a:gd name="connsiteY3-8" fmla="*/ 1498600 h 1498600"/>
              <a:gd name="connsiteX4-9" fmla="*/ 0 w 7404100"/>
              <a:gd name="connsiteY4-10" fmla="*/ 0 h 1498600"/>
              <a:gd name="connsiteX0-11" fmla="*/ 0 w 8280400"/>
              <a:gd name="connsiteY0-12" fmla="*/ 0 h 1511300"/>
              <a:gd name="connsiteX1-13" fmla="*/ 6121400 w 8280400"/>
              <a:gd name="connsiteY1-14" fmla="*/ 0 h 1511300"/>
              <a:gd name="connsiteX2-15" fmla="*/ 8280400 w 8280400"/>
              <a:gd name="connsiteY2-16" fmla="*/ 1511300 h 1511300"/>
              <a:gd name="connsiteX3-17" fmla="*/ 0 w 8280400"/>
              <a:gd name="connsiteY3-18" fmla="*/ 1498600 h 1511300"/>
              <a:gd name="connsiteX4-19" fmla="*/ 0 w 8280400"/>
              <a:gd name="connsiteY4-20" fmla="*/ 0 h 1511300"/>
              <a:gd name="connsiteX0-21" fmla="*/ 6350 w 8286750"/>
              <a:gd name="connsiteY0-22" fmla="*/ 0 h 1511300"/>
              <a:gd name="connsiteX1-23" fmla="*/ 6127750 w 8286750"/>
              <a:gd name="connsiteY1-24" fmla="*/ 0 h 1511300"/>
              <a:gd name="connsiteX2-25" fmla="*/ 8286750 w 8286750"/>
              <a:gd name="connsiteY2-26" fmla="*/ 1511300 h 1511300"/>
              <a:gd name="connsiteX3-27" fmla="*/ 0 w 8286750"/>
              <a:gd name="connsiteY3-28" fmla="*/ 1504950 h 1511300"/>
              <a:gd name="connsiteX4-29" fmla="*/ 6350 w 8286750"/>
              <a:gd name="connsiteY4-30" fmla="*/ 0 h 1511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286750" h="1511300">
                <a:moveTo>
                  <a:pt x="6350" y="0"/>
                </a:moveTo>
                <a:lnTo>
                  <a:pt x="6127750" y="0"/>
                </a:lnTo>
                <a:lnTo>
                  <a:pt x="8286750" y="1511300"/>
                </a:lnTo>
                <a:lnTo>
                  <a:pt x="0" y="1504950"/>
                </a:lnTo>
                <a:cubicBezTo>
                  <a:pt x="2117" y="1003300"/>
                  <a:pt x="4233" y="501650"/>
                  <a:pt x="6350" y="0"/>
                </a:cubicBez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0121900" y="0"/>
            <a:ext cx="2070100" cy="825500"/>
          </a:xfrm>
          <a:custGeom>
            <a:avLst/>
            <a:gdLst>
              <a:gd name="connsiteX0" fmla="*/ 0 w 2692400"/>
              <a:gd name="connsiteY0" fmla="*/ 0 h 825500"/>
              <a:gd name="connsiteX1" fmla="*/ 2692400 w 2692400"/>
              <a:gd name="connsiteY1" fmla="*/ 0 h 825500"/>
              <a:gd name="connsiteX2" fmla="*/ 2692400 w 2692400"/>
              <a:gd name="connsiteY2" fmla="*/ 825500 h 825500"/>
              <a:gd name="connsiteX3" fmla="*/ 0 w 2692400"/>
              <a:gd name="connsiteY3" fmla="*/ 825500 h 825500"/>
              <a:gd name="connsiteX4" fmla="*/ 0 w 2692400"/>
              <a:gd name="connsiteY4" fmla="*/ 0 h 825500"/>
              <a:gd name="connsiteX0-1" fmla="*/ 0 w 2692400"/>
              <a:gd name="connsiteY0-2" fmla="*/ 0 h 825500"/>
              <a:gd name="connsiteX1-3" fmla="*/ 2692400 w 2692400"/>
              <a:gd name="connsiteY1-4" fmla="*/ 0 h 825500"/>
              <a:gd name="connsiteX2-5" fmla="*/ 2692400 w 2692400"/>
              <a:gd name="connsiteY2-6" fmla="*/ 825500 h 825500"/>
              <a:gd name="connsiteX3-7" fmla="*/ 965200 w 2692400"/>
              <a:gd name="connsiteY3-8" fmla="*/ 825500 h 825500"/>
              <a:gd name="connsiteX4-9" fmla="*/ 0 w 2692400"/>
              <a:gd name="connsiteY4-10" fmla="*/ 0 h 8255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92400" h="825500">
                <a:moveTo>
                  <a:pt x="0" y="0"/>
                </a:moveTo>
                <a:lnTo>
                  <a:pt x="2692400" y="0"/>
                </a:lnTo>
                <a:lnTo>
                  <a:pt x="2692400" y="825500"/>
                </a:lnTo>
                <a:lnTo>
                  <a:pt x="965200" y="825500"/>
                </a:lnTo>
                <a:lnTo>
                  <a:pt x="0" y="0"/>
                </a:ln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93699" y="5816203"/>
            <a:ext cx="6355444" cy="800893"/>
          </a:xfrm>
        </p:spPr>
        <p:txBody>
          <a:bodyPr anchor="b">
            <a:noAutofit/>
          </a:bodyPr>
          <a:lstStyle>
            <a:lvl1pPr algn="l">
              <a:defRPr sz="48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8153400" y="6285706"/>
            <a:ext cx="3966030" cy="506411"/>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5625" y="34567"/>
            <a:ext cx="754150" cy="756366"/>
          </a:xfrm>
          <a:prstGeom prst="rect">
            <a:avLst/>
          </a:prstGeom>
        </p:spPr>
      </p:pic>
      <p:sp>
        <p:nvSpPr>
          <p:cNvPr id="13" name="矩形 12"/>
          <p:cNvSpPr/>
          <p:nvPr userDrawn="1"/>
        </p:nvSpPr>
        <p:spPr>
          <a:xfrm>
            <a:off x="126999" y="5718629"/>
            <a:ext cx="139701" cy="959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72000"/>
            <a:ext cx="10515600" cy="9144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DB26E-7550-4A68-B9ED-0930F4C79F79}" type="datetimeFigureOut">
              <a:rPr lang="zh-CN" altLang="en-US" smtClean="0"/>
              <a:t>2024/4/23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C2DF-976F-4C49-92B9-E79BD60CFE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从道德到伦理</a:t>
            </a:r>
          </a:p>
        </p:txBody>
      </p:sp>
      <p:sp>
        <p:nvSpPr>
          <p:cNvPr id="3" name="副标题 2"/>
          <p:cNvSpPr>
            <a:spLocks noGrp="1"/>
          </p:cNvSpPr>
          <p:nvPr>
            <p:ph type="subTitle" idx="1"/>
          </p:nvPr>
        </p:nvSpPr>
        <p:spPr/>
        <p:txBody>
          <a:bodyPr/>
          <a:lstStyle/>
          <a:p>
            <a:endParaRPr lang="zh-CN" alt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dirty="0"/>
              <a:t>道德的局限性</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1</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道德是空洞的形式自由</a:t>
            </a:r>
          </a:p>
        </p:txBody>
      </p:sp>
      <p:sp>
        <p:nvSpPr>
          <p:cNvPr id="2" name="文本框 1"/>
          <p:cNvSpPr txBox="1"/>
          <p:nvPr/>
        </p:nvSpPr>
        <p:spPr>
          <a:xfrm>
            <a:off x="577214" y="1196975"/>
            <a:ext cx="10886473" cy="5349157"/>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800" kern="0" noProof="0" dirty="0">
                <a:ln>
                  <a:noFill/>
                </a:ln>
                <a:effectLst>
                  <a:outerShdw blurRad="38100" dist="38100" dir="2700000" algn="tl">
                    <a:srgbClr val="000000"/>
                  </a:outerShdw>
                </a:effectLst>
                <a:uLnTx/>
                <a:uFillTx/>
                <a:sym typeface="+mn-ea"/>
              </a:rPr>
              <a:t>良心是道德发展的最高阶段，良心是个体在最内在孤独中与自己相处，其它一切外在性和束缚都消失了。人彻底地退回到自身之中。黑格尔强调，相对于受外在历史限制的传统生活来说，</a:t>
            </a:r>
            <a:r>
              <a:rPr lang="en-US" altLang="zh-CN" sz="2800" kern="0" noProof="0" dirty="0" err="1">
                <a:ln>
                  <a:noFill/>
                </a:ln>
                <a:effectLst>
                  <a:outerShdw blurRad="38100" dist="38100" dir="2700000" algn="tl">
                    <a:srgbClr val="000000"/>
                  </a:outerShdw>
                </a:effectLst>
                <a:uLnTx/>
                <a:uFillTx/>
                <a:sym typeface="+mn-ea"/>
              </a:rPr>
              <a:t>良心是更高的观点</a:t>
            </a:r>
            <a:r>
              <a:rPr lang="en-US" altLang="zh-CN" sz="2800" kern="0" noProof="0" dirty="0">
                <a:ln>
                  <a:noFill/>
                </a:ln>
                <a:effectLst>
                  <a:outerShdw blurRad="38100" dist="38100" dir="2700000" algn="tl">
                    <a:srgbClr val="000000"/>
                  </a:outerShdw>
                </a:effectLst>
                <a:uLnTx/>
                <a:uFillTx/>
                <a:sym typeface="+mn-ea"/>
              </a:rPr>
              <a:t>，</a:t>
            </a:r>
            <a:r>
              <a:rPr lang="zh-CN" altLang="en-US" sz="2800" kern="0" noProof="0" dirty="0">
                <a:ln>
                  <a:noFill/>
                </a:ln>
                <a:effectLst>
                  <a:outerShdw blurRad="38100" dist="38100" dir="2700000" algn="tl">
                    <a:srgbClr val="000000"/>
                  </a:outerShdw>
                </a:effectLst>
                <a:uLnTx/>
                <a:uFillTx/>
                <a:sym typeface="+mn-ea"/>
              </a:rPr>
              <a:t>是现代人的主观自由特有的观点。道德自由和良心观点具有不可否认的优越性。它使人意识到自己就主体，是自己行为的唯一评价者，这就赋予人的自主性（</a:t>
            </a:r>
            <a:r>
              <a:rPr lang="en-US" altLang="zh-CN" sz="2800" kern="0" noProof="0" dirty="0">
                <a:ln>
                  <a:noFill/>
                </a:ln>
                <a:effectLst>
                  <a:outerShdw blurRad="38100" dist="38100" dir="2700000" algn="tl">
                    <a:srgbClr val="000000"/>
                  </a:outerShdw>
                </a:effectLst>
                <a:uLnTx/>
                <a:uFillTx/>
                <a:sym typeface="+mn-ea"/>
              </a:rPr>
              <a:t>autonomy)</a:t>
            </a:r>
            <a:r>
              <a:rPr lang="zh-CN" altLang="en-US" sz="2800" kern="0" noProof="0" dirty="0">
                <a:ln>
                  <a:noFill/>
                </a:ln>
                <a:effectLst>
                  <a:outerShdw blurRad="38100" dist="38100" dir="2700000" algn="tl">
                    <a:srgbClr val="000000"/>
                  </a:outerShdw>
                </a:effectLst>
                <a:uLnTx/>
                <a:uFillTx/>
                <a:ea typeface="宋体" panose="02010600030101010101" pitchFamily="2" charset="-122"/>
                <a:sym typeface="+mn-ea"/>
              </a:rPr>
              <a:t>。</a:t>
            </a:r>
            <a:endParaRPr lang="zh-CN" altLang="en-US" sz="2800" kern="0" noProof="0" dirty="0">
              <a:ln>
                <a:noFill/>
              </a:ln>
              <a:effectLst>
                <a:outerShdw blurRad="38100" dist="38100" dir="2700000" algn="tl">
                  <a:srgbClr val="000000"/>
                </a:outerShdw>
              </a:effectLst>
              <a:uLnTx/>
              <a:uFillTx/>
              <a:sym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800" kern="0" noProof="0" dirty="0">
                <a:ln>
                  <a:noFill/>
                </a:ln>
                <a:effectLst>
                  <a:outerShdw blurRad="38100" dist="38100" dir="2700000" algn="tl">
                    <a:srgbClr val="000000"/>
                  </a:outerShdw>
                </a:effectLst>
                <a:uLnTx/>
                <a:uFillTx/>
                <a:sym typeface="+mn-ea"/>
              </a:rPr>
              <a:t>但是，良心的观点具有致命的缺点。</a:t>
            </a:r>
            <a:r>
              <a:rPr lang="en-US" altLang="zh-CN" sz="2800" kern="0" noProof="0" dirty="0">
                <a:ln>
                  <a:noFill/>
                </a:ln>
                <a:effectLst>
                  <a:outerShdw blurRad="38100" dist="38100" dir="2700000" algn="tl">
                    <a:srgbClr val="000000"/>
                  </a:outerShdw>
                </a:effectLst>
                <a:uLnTx/>
                <a:uFillTx/>
                <a:sym typeface="+mn-ea"/>
              </a:rPr>
              <a:t>”</a:t>
            </a:r>
            <a:r>
              <a:rPr lang="en-US" altLang="zh-CN" sz="2800" kern="0" noProof="0" dirty="0" err="1">
                <a:ln>
                  <a:noFill/>
                </a:ln>
                <a:effectLst>
                  <a:outerShdw blurRad="38100" dist="38100" dir="2700000" algn="tl">
                    <a:srgbClr val="000000"/>
                  </a:outerShdw>
                </a:effectLst>
                <a:uLnTx/>
                <a:uFillTx/>
                <a:sym typeface="+mn-ea"/>
              </a:rPr>
              <a:t>当我们谈到良心的时候，由于它是抽象的内心的东西这种形式，很容易被设想成已经是自在自为地真实的东西了</a:t>
            </a:r>
            <a:r>
              <a:rPr lang="en-US" altLang="zh-CN" sz="2800" kern="0" noProof="0" dirty="0">
                <a:ln>
                  <a:noFill/>
                </a:ln>
                <a:effectLst>
                  <a:outerShdw blurRad="38100" dist="38100" dir="2700000" algn="tl">
                    <a:srgbClr val="000000"/>
                  </a:outerShdw>
                </a:effectLst>
                <a:uLnTx/>
                <a:uFillTx/>
                <a:sym typeface="+mn-ea"/>
              </a:rPr>
              <a:t>。”（141页）</a:t>
            </a:r>
            <a:r>
              <a:rPr lang="zh-CN" altLang="en-US" sz="2800" kern="0" noProof="0" dirty="0">
                <a:ln>
                  <a:noFill/>
                </a:ln>
                <a:effectLst>
                  <a:outerShdw blurRad="38100" dist="38100" dir="2700000" algn="tl">
                    <a:srgbClr val="000000"/>
                  </a:outerShdw>
                </a:effectLst>
                <a:uLnTx/>
                <a:uFillTx/>
                <a:sym typeface="+mn-ea"/>
              </a:rPr>
              <a:t>黑格尔明确指出，良心是否定性的主观性，也就是它是从否定方面定义人的自由的。把自由理解为从客观世界退回到自我。一切内容在自身中都 蒸发了，留下的是空洞的形式的自由概念。（</a:t>
            </a:r>
            <a:r>
              <a:rPr lang="en-US" altLang="zh-CN" sz="2800" kern="0" noProof="0" dirty="0">
                <a:ln>
                  <a:noFill/>
                </a:ln>
                <a:effectLst>
                  <a:outerShdw blurRad="38100" dist="38100" dir="2700000" algn="tl">
                    <a:srgbClr val="000000"/>
                  </a:outerShdw>
                </a:effectLst>
                <a:uLnTx/>
                <a:uFillTx/>
                <a:sym typeface="+mn-ea"/>
              </a:rPr>
              <a:t>142页）</a:t>
            </a:r>
            <a:endParaRPr lang="zh-CN" altLang="en-US" sz="28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6824" y="71120"/>
            <a:ext cx="10257975" cy="914400"/>
          </a:xfrm>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主观自由的辩证法</a:t>
            </a:r>
            <a:endParaRPr lang="zh-CN" altLang="en-US" dirty="0"/>
          </a:p>
        </p:txBody>
      </p:sp>
      <p:sp>
        <p:nvSpPr>
          <p:cNvPr id="3" name="文本框 2"/>
          <p:cNvSpPr txBox="1"/>
          <p:nvPr/>
        </p:nvSpPr>
        <p:spPr>
          <a:xfrm>
            <a:off x="822960" y="1280160"/>
            <a:ext cx="10835004" cy="4872732"/>
          </a:xfrm>
          <a:prstGeom prst="rect">
            <a:avLst/>
          </a:prstGeom>
          <a:noFill/>
        </p:spPr>
        <p:txBody>
          <a:bodyPr wrap="square" rtlCol="0">
            <a:spAutoFit/>
          </a:bodyPr>
          <a:lstStyle/>
          <a:p>
            <a:pPr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a:ln>
                  <a:noFill/>
                </a:ln>
                <a:effectLst>
                  <a:outerShdw blurRad="38100" dist="38100" dir="2700000" algn="tl">
                    <a:srgbClr val="000000"/>
                  </a:outerShdw>
                </a:effectLst>
                <a:uLnTx/>
                <a:uFillTx/>
                <a:sym typeface="+mn-ea"/>
              </a:rPr>
              <a:t>良心在意义是模棱两可的，就其要求主观的意识和意志应该与真实的普遍的善相统一而言，它认为自己具有客观的普遍性，但是就这种普遍性只存在于个人的主观意识之中，它又不具有客观普遍性，而只是</a:t>
            </a:r>
            <a:r>
              <a:rPr lang="en-US" altLang="zh-CN" sz="2000" kern="0" noProof="0" dirty="0">
                <a:ln>
                  <a:noFill/>
                </a:ln>
                <a:effectLst>
                  <a:outerShdw blurRad="38100" dist="38100" dir="2700000" algn="tl">
                    <a:srgbClr val="000000"/>
                  </a:outerShdw>
                </a:effectLst>
                <a:uLnTx/>
                <a:uFillTx/>
                <a:sym typeface="+mn-ea"/>
              </a:rPr>
              <a:t>”</a:t>
            </a:r>
            <a:r>
              <a:rPr lang="en-US" altLang="zh-CN" sz="2000" kern="0" noProof="0" dirty="0" err="1">
                <a:ln>
                  <a:noFill/>
                </a:ln>
                <a:effectLst>
                  <a:outerShdw blurRad="38100" dist="38100" dir="2700000" algn="tl">
                    <a:srgbClr val="000000"/>
                  </a:outerShdw>
                </a:effectLst>
                <a:uLnTx/>
                <a:uFillTx/>
                <a:sym typeface="+mn-ea"/>
              </a:rPr>
              <a:t>自命为真理、法和义务的仲裁员和裁判员的主观性</a:t>
            </a:r>
            <a:r>
              <a:rPr lang="en-US" altLang="zh-CN" sz="2000" kern="0" noProof="0" dirty="0">
                <a:ln>
                  <a:noFill/>
                </a:ln>
                <a:effectLst>
                  <a:outerShdw blurRad="38100" dist="38100" dir="2700000" algn="tl">
                    <a:srgbClr val="000000"/>
                  </a:outerShdw>
                </a:effectLst>
                <a:uLnTx/>
                <a:uFillTx/>
                <a:sym typeface="+mn-ea"/>
              </a:rPr>
              <a:t>。（157</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页</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在良心中，</a:t>
            </a:r>
            <a:r>
              <a:rPr lang="en-US" altLang="zh-CN" sz="2000" kern="0" noProof="0" dirty="0">
                <a:ln>
                  <a:noFill/>
                </a:ln>
                <a:effectLst>
                  <a:outerShdw blurRad="38100" dist="38100" dir="2700000" algn="tl">
                    <a:srgbClr val="000000"/>
                  </a:outerShdw>
                </a:effectLst>
                <a:uLnTx/>
                <a:uFillTx/>
                <a:sym typeface="+mn-ea"/>
              </a:rPr>
              <a:t>“</a:t>
            </a:r>
            <a:r>
              <a:rPr lang="en-US" altLang="zh-CN" sz="2000" kern="0" noProof="0" dirty="0" err="1">
                <a:ln>
                  <a:noFill/>
                </a:ln>
                <a:effectLst>
                  <a:outerShdw blurRad="38100" dist="38100" dir="2700000" algn="tl">
                    <a:srgbClr val="000000"/>
                  </a:outerShdw>
                </a:effectLst>
                <a:uLnTx/>
                <a:uFillTx/>
                <a:sym typeface="+mn-ea"/>
              </a:rPr>
              <a:t>抽象的善消融为完全无力的东西，而可以由我加入任何内容</a:t>
            </a:r>
            <a:r>
              <a:rPr lang="en-US" altLang="zh-CN" sz="2000" kern="0" noProof="0" dirty="0">
                <a:ln>
                  <a:noFill/>
                </a:ln>
                <a:effectLst>
                  <a:outerShdw blurRad="38100" dist="38100" dir="2700000" algn="tl">
                    <a:srgbClr val="000000"/>
                  </a:outerShdw>
                </a:effectLst>
                <a:uLnTx/>
                <a:uFillTx/>
                <a:sym typeface="+mn-ea"/>
              </a:rPr>
              <a:t>。”（141</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节</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sym typeface="+mn-ea"/>
              </a:rPr>
              <a:t>人们不得不忍受自由的非确定性之苦。</a:t>
            </a:r>
            <a:r>
              <a:rPr lang="en-US" altLang="zh-CN" sz="2000" kern="0" noProof="0" dirty="0">
                <a:ln>
                  <a:noFill/>
                </a:ln>
                <a:effectLst>
                  <a:outerShdw blurRad="38100" dist="38100" dir="2700000" algn="tl">
                    <a:srgbClr val="000000"/>
                  </a:outerShdw>
                </a:effectLst>
                <a:uLnTx/>
                <a:uFillTx/>
                <a:sym typeface="+mn-ea"/>
              </a:rPr>
              <a:t>“</a:t>
            </a:r>
            <a:r>
              <a:rPr lang="en-US" altLang="zh-CN" sz="2000" kern="0" noProof="0" dirty="0" err="1">
                <a:ln>
                  <a:noFill/>
                </a:ln>
                <a:effectLst>
                  <a:outerShdw blurRad="38100" dist="38100" dir="2700000" algn="tl">
                    <a:srgbClr val="000000"/>
                  </a:outerShdw>
                </a:effectLst>
                <a:uLnTx/>
                <a:uFillTx/>
                <a:sym typeface="+mn-ea"/>
              </a:rPr>
              <a:t>为了摆脱</a:t>
            </a:r>
            <a:r>
              <a:rPr lang="zh-CN" altLang="en-US" sz="2000" kern="0" noProof="0" dirty="0">
                <a:ln>
                  <a:noFill/>
                </a:ln>
                <a:effectLst>
                  <a:outerShdw blurRad="38100" dist="38100" dir="2700000" algn="tl">
                    <a:srgbClr val="000000"/>
                  </a:outerShdw>
                </a:effectLst>
                <a:uLnTx/>
                <a:uFillTx/>
                <a:sym typeface="+mn-ea"/>
              </a:rPr>
              <a:t>这种空虚性和否定性的痛苦，就产生了对客观性的渴望，人们宁愿在这种客观性中降为奴仆，完全依从。</a:t>
            </a:r>
            <a:r>
              <a:rPr lang="en-US" altLang="zh-CN" sz="2000" kern="0" noProof="0" dirty="0">
                <a:ln>
                  <a:noFill/>
                </a:ln>
                <a:effectLst>
                  <a:outerShdw blurRad="38100" dist="38100" dir="2700000" algn="tl">
                    <a:srgbClr val="000000"/>
                  </a:outerShdw>
                </a:effectLst>
                <a:uLnTx/>
                <a:uFillTx/>
                <a:sym typeface="+mn-ea"/>
              </a:rPr>
              <a:t>”</a:t>
            </a:r>
            <a:r>
              <a:rPr lang="en-US" altLang="zh-CN" sz="2000" kern="0" noProof="0" dirty="0" err="1">
                <a:ln>
                  <a:noFill/>
                </a:ln>
                <a:effectLst>
                  <a:outerShdw blurRad="38100" dist="38100" dir="2700000" algn="tl">
                    <a:srgbClr val="000000"/>
                  </a:outerShdw>
                </a:effectLst>
                <a:uLnTx/>
                <a:uFillTx/>
                <a:sym typeface="+mn-ea"/>
              </a:rPr>
              <a:t>自由的主观不确定性最终结果是对自由的逃避</a:t>
            </a:r>
            <a:r>
              <a:rPr lang="zh-CN" altLang="en-US" sz="2000" kern="0" noProof="0" dirty="0" err="1">
                <a:ln>
                  <a:noFill/>
                </a:ln>
                <a:effectLst>
                  <a:outerShdw blurRad="38100" dist="38100" dir="2700000" algn="tl">
                    <a:srgbClr val="000000"/>
                  </a:outerShdw>
                </a:effectLst>
                <a:uLnTx/>
                <a:uFillTx/>
                <a:ea typeface="宋体" panose="02010600030101010101" pitchFamily="2" charset="-122"/>
                <a:sym typeface="+mn-ea"/>
              </a:rPr>
              <a:t>，</a:t>
            </a:r>
            <a:r>
              <a:rPr lang="en-US" altLang="zh-CN" sz="2000" kern="0" noProof="0" dirty="0" err="1">
                <a:ln>
                  <a:noFill/>
                </a:ln>
                <a:effectLst>
                  <a:outerShdw blurRad="38100" dist="38100" dir="2700000" algn="tl">
                    <a:srgbClr val="000000"/>
                  </a:outerShdw>
                </a:effectLst>
                <a:uLnTx/>
                <a:uFillTx/>
                <a:sym typeface="+mn-ea"/>
              </a:rPr>
              <a:t>这就是主观自由的辩证法</a:t>
            </a:r>
            <a:r>
              <a:rPr lang="zh-CN" altLang="en-US" sz="2000" kern="0" noProof="0" dirty="0" err="1">
                <a:ln>
                  <a:noFill/>
                </a:ln>
                <a:effectLst>
                  <a:outerShdw blurRad="38100" dist="38100" dir="2700000" algn="tl">
                    <a:srgbClr val="000000"/>
                  </a:outerShdw>
                </a:effectLst>
                <a:uLnTx/>
                <a:uFillTx/>
                <a:ea typeface="宋体" panose="02010600030101010101" pitchFamily="2" charset="-122"/>
                <a:sym typeface="+mn-ea"/>
              </a:rPr>
              <a:t>。</a:t>
            </a:r>
          </a:p>
          <a:p>
            <a:pPr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err="1">
                <a:ln>
                  <a:noFill/>
                </a:ln>
                <a:effectLst>
                  <a:outerShdw blurRad="38100" dist="38100" dir="2700000" algn="tl">
                    <a:srgbClr val="000000"/>
                  </a:outerShdw>
                </a:effectLst>
                <a:uLnTx/>
                <a:uFillTx/>
                <a:ea typeface="宋体" panose="02010600030101010101" pitchFamily="2" charset="-122"/>
                <a:sym typeface="+mn-ea"/>
              </a:rPr>
              <a:t>道德的自我否定具有必然性，因为它内在于道德理念的结构之中。</a:t>
            </a:r>
            <a:r>
              <a:rPr lang="en-US" altLang="zh-CN" sz="2000" kern="0" noProof="0" dirty="0">
                <a:ln>
                  <a:noFill/>
                </a:ln>
                <a:effectLst>
                  <a:outerShdw blurRad="38100" dist="38100" dir="2700000" algn="tl">
                    <a:srgbClr val="000000"/>
                  </a:outerShdw>
                </a:effectLst>
                <a:uLnTx/>
                <a:uFillTx/>
                <a:ea typeface="宋体" panose="02010600030101010101" pitchFamily="2" charset="-122"/>
                <a:sym typeface="+mn-ea"/>
              </a:rPr>
              <a:t>“</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在道德中，是我规定应设想为未能达到任何实在事物的、纯不安和纯活动。只有在伦理中，意志才能与意志的概念统一，而且仅仅以意志的概念为其内容。</a:t>
            </a:r>
            <a:r>
              <a:rPr lang="en-US" altLang="zh-CN" sz="2000" kern="0" noProof="0" dirty="0">
                <a:ln>
                  <a:noFill/>
                </a:ln>
                <a:effectLst>
                  <a:outerShdw blurRad="38100" dist="38100" dir="2700000" algn="tl">
                    <a:srgbClr val="000000"/>
                  </a:outerShdw>
                </a:effectLst>
                <a:uLnTx/>
                <a:uFillTx/>
                <a:ea typeface="宋体" panose="02010600030101010101" pitchFamily="2" charset="-122"/>
                <a:sym typeface="+mn-ea"/>
              </a:rPr>
              <a:t>”</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道德的观点是一种应当的观点</a:t>
            </a:r>
            <a:r>
              <a:rPr lang="en-US" altLang="zh-CN" sz="2000" kern="0" noProof="0" dirty="0">
                <a:ln>
                  <a:noFill/>
                </a:ln>
                <a:effectLst>
                  <a:outerShdw blurRad="38100" dist="38100" dir="2700000" algn="tl">
                    <a:srgbClr val="000000"/>
                  </a:outerShdw>
                </a:effectLst>
                <a:uLnTx/>
                <a:uFillTx/>
                <a:ea typeface="宋体" panose="02010600030101010101" pitchFamily="2" charset="-122"/>
                <a:sym typeface="+mn-ea"/>
              </a:rPr>
              <a:t>，</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即</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个人的意志应该与普遍意志相统一</a:t>
            </a:r>
            <a:r>
              <a:rPr lang="zh-CN" altLang="en-US" sz="2000" kern="0" dirty="0">
                <a:effectLst>
                  <a:outerShdw blurRad="38100" dist="38100" dir="2700000" algn="tl">
                    <a:srgbClr val="000000"/>
                  </a:outerShdw>
                </a:effectLst>
                <a:ea typeface="宋体" panose="02010600030101010101" pitchFamily="2" charset="-122"/>
                <a:sym typeface="+mn-ea"/>
              </a:rPr>
              <a:t>。</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但是，在道德中</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意志不能完全消除自身的偶然性和任意性，无法</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实现</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主观意志与它的概念</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的</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统一</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。伦理</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具有双重性，一方面它是概念的这种实体性的东西，另一方面它是外部的定在的东西</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a:t>
            </a:r>
            <a:r>
              <a:rPr lang="zh-CN" altLang="en-US" sz="2000" kern="0" dirty="0">
                <a:effectLst>
                  <a:outerShdw blurRad="38100" dist="38100" dir="2700000" algn="tl">
                    <a:srgbClr val="000000"/>
                  </a:outerShdw>
                </a:effectLst>
                <a:ea typeface="宋体" panose="02010600030101010101" pitchFamily="2" charset="-122"/>
                <a:sym typeface="+mn-ea"/>
              </a:rPr>
              <a:t>伦理</a:t>
            </a:r>
            <a:r>
              <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rPr>
              <a:t>是活着</a:t>
            </a:r>
            <a:r>
              <a:rPr lang="zh-CN" altLang="en-US" sz="2000" kern="0" noProof="0" dirty="0" err="1">
                <a:ln>
                  <a:noFill/>
                </a:ln>
                <a:effectLst>
                  <a:outerShdw blurRad="38100" dist="38100" dir="2700000" algn="tl">
                    <a:srgbClr val="000000"/>
                  </a:outerShdw>
                </a:effectLst>
                <a:uLnTx/>
                <a:uFillTx/>
                <a:ea typeface="宋体" panose="02010600030101010101" pitchFamily="2" charset="-122"/>
                <a:sym typeface="+mn-ea"/>
              </a:rPr>
              <a:t>的、普遍的和现实的善。</a:t>
            </a:r>
          </a:p>
          <a:p>
            <a:pPr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err="1">
                <a:ln>
                  <a:noFill/>
                </a:ln>
                <a:effectLst>
                  <a:outerShdw blurRad="38100" dist="38100" dir="2700000" algn="tl">
                    <a:srgbClr val="000000"/>
                  </a:outerShdw>
                </a:effectLst>
                <a:uLnTx/>
                <a:uFillTx/>
                <a:ea typeface="宋体" panose="02010600030101010101" pitchFamily="2" charset="-122"/>
                <a:sym typeface="+mn-ea"/>
              </a:rPr>
              <a:t>良心是对抽象的善的纯主观的自我确信，是主观意志与客观善的抽象同个。伦理是具体的主体对具体的善的具体同一。</a:t>
            </a:r>
            <a:endParaRPr lang="en-US" altLang="zh-CN" sz="2000" kern="0" noProof="0" dirty="0" err="1">
              <a:ln>
                <a:noFill/>
              </a:ln>
              <a:effectLst>
                <a:outerShdw blurRad="38100" dist="38100" dir="2700000" algn="tl">
                  <a:srgbClr val="000000"/>
                </a:outerShdw>
              </a:effectLst>
              <a:uLnTx/>
              <a:uFillTx/>
              <a:ea typeface="宋体" panose="02010600030101010101" pitchFamily="2" charset="-122"/>
              <a:sym typeface="+mn-ea"/>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dirty="0"/>
              <a:t>伦理的观点</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2</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伦理是对抽象法与道德片面性的扬弃</a:t>
            </a:r>
          </a:p>
        </p:txBody>
      </p:sp>
      <p:sp>
        <p:nvSpPr>
          <p:cNvPr id="5" name="文本框 4"/>
          <p:cNvSpPr txBox="1"/>
          <p:nvPr/>
        </p:nvSpPr>
        <p:spPr>
          <a:xfrm>
            <a:off x="654685" y="1089660"/>
            <a:ext cx="10565130" cy="4892675"/>
          </a:xfrm>
          <a:prstGeom prst="rect">
            <a:avLst/>
          </a:prstGeom>
          <a:noFill/>
        </p:spPr>
        <p:txBody>
          <a:bodyPr wrap="square" rtlCol="0">
            <a:spAutoFit/>
          </a:bodyPr>
          <a:lstStyle/>
          <a:p>
            <a:pPr algn="l"/>
            <a:r>
              <a:rPr lang="zh-CN" altLang="en-US" sz="2400" dirty="0"/>
              <a:t>在黑格尔看来，从道德向伦理的过渡有其概念的必然性。道德本质上是一种抽象的自由意志，它是抽象的善的概念和同样抽象的良心的同一。真理是具体的。道德是一种主观的善，他必须以客观的善作为他的对立面，但是在道德中，主观的善和客观的善是分离的，因为是片面的。主观的善若不欲成为客观的实存，或客观的善若不欲成为自为的主观的善，都是片面的。辩证的自由概念必须在自身中同时包含这两个环节。</a:t>
            </a:r>
          </a:p>
          <a:p>
            <a:pPr algn="l"/>
            <a:r>
              <a:rPr lang="zh-CN" altLang="en-US" sz="2400" dirty="0"/>
              <a:t>黑格尔说：</a:t>
            </a:r>
            <a:r>
              <a:rPr lang="en-US" altLang="zh-CN" sz="2400" dirty="0"/>
              <a:t>“</a:t>
            </a:r>
            <a:r>
              <a:rPr lang="en-US" altLang="zh-CN" sz="2400" dirty="0" err="1"/>
              <a:t>直接作为法的存在的自由的定在</a:t>
            </a:r>
            <a:r>
              <a:rPr lang="zh-CN" altLang="en-US" sz="2400" dirty="0">
                <a:ea typeface="宋体" panose="02010600030101010101" pitchFamily="2" charset="-122"/>
              </a:rPr>
              <a:t>，</a:t>
            </a:r>
            <a:r>
              <a:rPr lang="en-US" altLang="zh-CN" sz="2400" dirty="0" err="1"/>
              <a:t>在自我意识的反思中被规定为善，现在</a:t>
            </a:r>
            <a:r>
              <a:rPr lang="zh-CN" altLang="en-US" sz="2400" dirty="0">
                <a:ea typeface="宋体" panose="02010600030101010101" pitchFamily="2" charset="-122"/>
              </a:rPr>
              <a:t>，</a:t>
            </a:r>
            <a:r>
              <a:rPr lang="en-US" altLang="zh-CN" sz="2400" dirty="0" err="1"/>
              <a:t>这里要过渡到的是第</a:t>
            </a:r>
            <a:r>
              <a:rPr lang="zh-CN" altLang="en-US" sz="2400" dirty="0">
                <a:ea typeface="宋体" panose="02010600030101010101" pitchFamily="2" charset="-122"/>
              </a:rPr>
              <a:t>三</a:t>
            </a:r>
            <a:r>
              <a:rPr lang="en-US" altLang="zh-CN" sz="2400" dirty="0" err="1"/>
              <a:t>个环节</a:t>
            </a:r>
            <a:r>
              <a:rPr lang="en-US" altLang="zh-CN" sz="2400" dirty="0"/>
              <a:t>，</a:t>
            </a:r>
            <a:r>
              <a:rPr lang="zh-CN" altLang="en-US" sz="2400" dirty="0">
                <a:ea typeface="宋体" panose="02010600030101010101" pitchFamily="2" charset="-122"/>
              </a:rPr>
              <a:t>它</a:t>
            </a:r>
            <a:r>
              <a:rPr lang="en-US" altLang="zh-CN" sz="2400" dirty="0" err="1"/>
              <a:t>是这种善和主观性的真理</a:t>
            </a:r>
            <a:r>
              <a:rPr lang="en-US" altLang="zh-CN" sz="2400" dirty="0"/>
              <a:t>”</a:t>
            </a:r>
            <a:r>
              <a:rPr lang="zh-CN" altLang="en-US" sz="2400" dirty="0">
                <a:ea typeface="宋体" panose="02010600030101010101" pitchFamily="2" charset="-122"/>
              </a:rPr>
              <a:t>，也就是说，它是抽象法和道德的真理。黑格尔说：</a:t>
            </a:r>
            <a:r>
              <a:rPr lang="en-US" altLang="zh-CN" sz="2400" dirty="0">
                <a:ea typeface="宋体" panose="02010600030101010101" pitchFamily="2" charset="-122"/>
              </a:rPr>
              <a:t>“</a:t>
            </a:r>
            <a:r>
              <a:rPr lang="en-US" altLang="zh-CN" sz="2400" dirty="0" err="1">
                <a:ea typeface="宋体" panose="02010600030101010101" pitchFamily="2" charset="-122"/>
              </a:rPr>
              <a:t>无论法的东西和道德的东西都不能自为地存在，而必须以</a:t>
            </a:r>
            <a:r>
              <a:rPr lang="zh-CN" altLang="en-US" sz="2400" dirty="0">
                <a:ea typeface="宋体" panose="02010600030101010101" pitchFamily="2" charset="-122"/>
              </a:rPr>
              <a:t>伦理</a:t>
            </a:r>
            <a:r>
              <a:rPr lang="en-US" altLang="zh-CN" sz="2400" dirty="0" err="1">
                <a:ea typeface="宋体" panose="02010600030101010101" pitchFamily="2" charset="-122"/>
              </a:rPr>
              <a:t>的东西为其承担者和基础，因为反而欠缺主观性的环节和道德</a:t>
            </a:r>
            <a:r>
              <a:rPr lang="zh-CN" altLang="en-US" sz="2400" dirty="0">
                <a:ea typeface="宋体" panose="02010600030101010101" pitchFamily="2" charset="-122"/>
              </a:rPr>
              <a:t>则</a:t>
            </a:r>
            <a:r>
              <a:rPr lang="en-US" altLang="zh-CN" sz="2400" dirty="0" err="1">
                <a:ea typeface="宋体" panose="02010600030101010101" pitchFamily="2" charset="-122"/>
              </a:rPr>
              <a:t>仅仅具有主观性的</a:t>
            </a:r>
            <a:r>
              <a:rPr lang="zh-CN" altLang="en-US" sz="2400" dirty="0">
                <a:ea typeface="宋体" panose="02010600030101010101" pitchFamily="2" charset="-122"/>
              </a:rPr>
              <a:t>环节</a:t>
            </a:r>
            <a:r>
              <a:rPr lang="en-US" altLang="zh-CN" sz="2400" dirty="0">
                <a:ea typeface="宋体" panose="02010600030101010101" pitchFamily="2" charset="-122"/>
              </a:rPr>
              <a:t>，</a:t>
            </a:r>
            <a:r>
              <a:rPr lang="en-US" altLang="zh-CN" sz="2400" dirty="0" err="1">
                <a:ea typeface="宋体" panose="02010600030101010101" pitchFamily="2" charset="-122"/>
              </a:rPr>
              <a:t>所以法和道德本身都缺乏现实性</a:t>
            </a:r>
            <a:r>
              <a:rPr lang="zh-CN" altLang="en-US" sz="2400" dirty="0">
                <a:ea typeface="宋体" panose="02010600030101010101" pitchFamily="2" charset="-122"/>
              </a:rPr>
              <a:t>。只有无限的东西及理念才是现实的。法不过是整体的一个分支，或者像藤类植物，攀缘在自为的屹立着的树上。</a:t>
            </a:r>
            <a:r>
              <a:rPr lang="en-US" altLang="zh-CN" sz="2400" dirty="0">
                <a:ea typeface="宋体" panose="02010600030101010101" pitchFamily="2" charset="-122"/>
              </a:rPr>
              <a:t>”</a:t>
            </a:r>
            <a:r>
              <a:rPr lang="zh-CN" altLang="en-US" sz="2400" dirty="0">
                <a:ea typeface="宋体" panose="02010600030101010101" pitchFamily="2" charset="-122"/>
              </a:rPr>
              <a:t>（</a:t>
            </a:r>
            <a:r>
              <a:rPr lang="en-US" altLang="zh-CN" sz="2400" dirty="0">
                <a:ea typeface="宋体" panose="02010600030101010101" pitchFamily="2" charset="-122"/>
              </a:rPr>
              <a:t>141</a:t>
            </a:r>
            <a:r>
              <a:rPr lang="zh-CN" altLang="en-US" sz="2400" dirty="0">
                <a:ea typeface="宋体" panose="02010600030101010101" pitchFamily="2" charset="-122"/>
              </a:rPr>
              <a:t>节）</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什么是伦理？</a:t>
            </a:r>
            <a:endParaRPr lang="zh-CN" altLang="en-US" dirty="0"/>
          </a:p>
        </p:txBody>
      </p:sp>
      <p:sp>
        <p:nvSpPr>
          <p:cNvPr id="3" name="文本框 2"/>
          <p:cNvSpPr txBox="1"/>
          <p:nvPr/>
        </p:nvSpPr>
        <p:spPr>
          <a:xfrm>
            <a:off x="394335" y="1104900"/>
            <a:ext cx="10960100" cy="6808018"/>
          </a:xfrm>
          <a:prstGeom prst="rect">
            <a:avLst/>
          </a:prstGeom>
          <a:noFill/>
        </p:spPr>
        <p:txBody>
          <a:bodyPr wrap="square" rtlCol="0">
            <a:spAutoFit/>
          </a:bodyPr>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r>
              <a:rPr lang="zh-CN" altLang="en-US" kern="0" noProof="0" dirty="0">
                <a:ln>
                  <a:noFill/>
                </a:ln>
                <a:effectLst>
                  <a:outerShdw blurRad="38100" dist="38100" dir="2700000" algn="tl">
                    <a:srgbClr val="000000"/>
                  </a:outerShdw>
                </a:effectLst>
                <a:uLnTx/>
                <a:uFillTx/>
                <a:sym typeface="+mn-ea"/>
              </a:rPr>
              <a:t> </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伦理是自由的理念。它是活的善，这种活的善既在自我意识中具有它的知识和意志，通过自我意识的行动而达到它的现实性；另一方面自我意识在能理性的存在中，具有它的绝对的基础和其推动作用的目的。因此，伦理就是成为现存世界和自我意识本性的那种自由的概念。”（第</a:t>
            </a:r>
            <a:r>
              <a:rPr 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142</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节）道德特征是良心与善的自我同一性，任何一方都预设了对方，</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但是，在这里，</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“抽象的</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善消融</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为完全无力的东西，</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而</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可</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由</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我加入任何内容，精神的主观性也因为欠缺客观的意义，同样缺乏内容</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”“主观的善和客观的</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自在自为</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地</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存在的善的统一就是</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伦理。</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141</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节）通过这种统一，伦理成为一种活的善，这种善既在个人意识中具有它的自为性（知），又通过</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意志</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行创造的世界具有的现实性。伦理是实现了的自由的理念，他把道德自由概念中相互分离的两个环节统一起来，是主观性和客观性达到和解。在这里，伦理不仅意味着行为者的主观判断，而且是客观行动。因而，达到了知行合一。</a:t>
            </a: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endPar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sym typeface="+mn-ea"/>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sym typeface="+mn-ea"/>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伦理就自由人的共同体</a:t>
            </a:r>
          </a:p>
        </p:txBody>
      </p:sp>
      <p:sp>
        <p:nvSpPr>
          <p:cNvPr id="3" name="文本框 2"/>
          <p:cNvSpPr txBox="1"/>
          <p:nvPr/>
        </p:nvSpPr>
        <p:spPr>
          <a:xfrm>
            <a:off x="441325" y="1182370"/>
            <a:ext cx="10911840" cy="5805805"/>
          </a:xfrm>
          <a:prstGeom prst="rect">
            <a:avLst/>
          </a:prstGeom>
          <a:noFill/>
        </p:spPr>
        <p:txBody>
          <a:bodyPr wrap="square" rtlCol="0">
            <a:spAutoFit/>
          </a:bodyPr>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zh-CN" altLang="en-US" sz="2000" kern="0" noProof="0" dirty="0">
                <a:ln>
                  <a:noFill/>
                </a:ln>
                <a:effectLst>
                  <a:outerShdw blurRad="38100" dist="38100" dir="2700000" algn="tl">
                    <a:srgbClr val="000000"/>
                  </a:outerShdw>
                </a:effectLst>
                <a:uLnTx/>
                <a:uFillTx/>
                <a:sym typeface="+mn-ea"/>
              </a:rPr>
              <a:t>伦理是自由的共同体，是社会成员的共同生活，是人类共同创造的同时也是可以被自我意识把握到的自由实现性本身。</a:t>
            </a:r>
            <a:r>
              <a:rPr lang="en-US" altLang="zh-CN" sz="2000" kern="0" noProof="0" dirty="0">
                <a:ln>
                  <a:noFill/>
                </a:ln>
                <a:effectLst>
                  <a:outerShdw blurRad="38100" dist="38100" dir="2700000" algn="tl">
                    <a:srgbClr val="000000"/>
                  </a:outerShdw>
                </a:effectLst>
                <a:uLnTx/>
                <a:uFillTx/>
                <a:sym typeface="+mn-ea"/>
              </a:rPr>
              <a:t>“代替抽象的</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善</a:t>
            </a:r>
            <a:r>
              <a:rPr lang="en-US" altLang="zh-CN" sz="2000" kern="0" noProof="0" dirty="0">
                <a:ln>
                  <a:noFill/>
                </a:ln>
                <a:effectLst>
                  <a:outerShdw blurRad="38100" dist="38100" dir="2700000" algn="tl">
                    <a:srgbClr val="000000"/>
                  </a:outerShdw>
                </a:effectLst>
                <a:uLnTx/>
                <a:uFillTx/>
                <a:sym typeface="+mn-ea"/>
              </a:rPr>
              <a:t>的那客观</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伦理</a:t>
            </a:r>
            <a:r>
              <a:rPr lang="en-US" altLang="zh-CN" sz="2000" kern="0" noProof="0" dirty="0">
                <a:ln>
                  <a:noFill/>
                </a:ln>
                <a:effectLst>
                  <a:outerShdw blurRad="38100" dist="38100" dir="2700000" algn="tl">
                    <a:srgbClr val="000000"/>
                  </a:outerShdw>
                </a:effectLst>
                <a:uLnTx/>
                <a:uFillTx/>
                <a:sym typeface="+mn-ea"/>
              </a:rPr>
              <a:t>，通过作为无</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限</a:t>
            </a:r>
            <a:r>
              <a:rPr lang="en-US" altLang="zh-CN" sz="2000" kern="0" noProof="0" dirty="0">
                <a:ln>
                  <a:noFill/>
                </a:ln>
                <a:effectLst>
                  <a:outerShdw blurRad="38100" dist="38100" dir="2700000" algn="tl">
                    <a:srgbClr val="000000"/>
                  </a:outerShdw>
                </a:effectLst>
                <a:uLnTx/>
                <a:uFillTx/>
                <a:sym typeface="+mn-ea"/>
              </a:rPr>
              <a:t>形式的主观性而成为具体的实体</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具体的实体因而在自己内部设定的差别，从而这些差别都是由概念规定的，由于这些差别能力，就有了固定的内容。这种内容是自为的必然的，并且超出主观意见和偏好和存在。这些差别就是自在自为的存在的规章制度。</a:t>
            </a:r>
            <a:r>
              <a:rPr lang="en-US" altLang="zh-CN" sz="2000" kern="0" noProof="0" dirty="0">
                <a:ln>
                  <a:noFill/>
                </a:ln>
                <a:effectLst>
                  <a:outerShdw blurRad="38100" dist="38100" dir="2700000" algn="tl">
                    <a:srgbClr val="000000"/>
                  </a:outerShdw>
                </a:effectLst>
                <a:uLnTx/>
                <a:uFillTx/>
                <a:ea typeface="宋体" panose="02010600030101010101" pitchFamily="2" charset="-122"/>
                <a:sym typeface="+mn-ea"/>
              </a:rPr>
              <a:t>”</a:t>
            </a: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r>
              <a:rPr lang="en-US" altLang="zh-CN" sz="2000" kern="0" noProof="0" dirty="0">
                <a:ln>
                  <a:noFill/>
                </a:ln>
                <a:effectLst>
                  <a:outerShdw blurRad="38100" dist="38100" dir="2700000" algn="tl">
                    <a:srgbClr val="000000"/>
                  </a:outerShdw>
                </a:effectLst>
                <a:uLnTx/>
                <a:uFillTx/>
                <a:ea typeface="宋体" panose="02010600030101010101" pitchFamily="2" charset="-122"/>
                <a:sym typeface="+mn-ea"/>
              </a:rPr>
              <a:t>       </a:t>
            </a:r>
            <a:r>
              <a:rPr lang="zh-CN" altLang="en-US" sz="2000" kern="0" noProof="0" dirty="0">
                <a:ln>
                  <a:noFill/>
                </a:ln>
                <a:effectLst>
                  <a:outerShdw blurRad="38100" dist="38100" dir="2700000" algn="tl">
                    <a:srgbClr val="000000"/>
                  </a:outerShdw>
                </a:effectLst>
                <a:uLnTx/>
                <a:uFillTx/>
                <a:ea typeface="宋体" panose="02010600030101010101" pitchFamily="2" charset="-122"/>
                <a:sym typeface="+mn-ea"/>
              </a:rPr>
              <a:t>在抽象法中，每个人是人格，在道德中每个人都是主体，在伦理中，人们成为各种形式的共同体中的成员，成为具体的人。</a:t>
            </a:r>
            <a:r>
              <a:rPr lang="en-US" altLang="zh-CN" sz="2000" kern="0" noProof="0" dirty="0">
                <a:ln>
                  <a:noFill/>
                </a:ln>
                <a:effectLst>
                  <a:outerShdw blurRad="38100" dist="38100" dir="2700000" algn="tl">
                    <a:srgbClr val="000000"/>
                  </a:outerShdw>
                </a:effectLst>
                <a:uLnTx/>
                <a:uFillTx/>
                <a:sym typeface="+mn-ea"/>
              </a:rPr>
              <a:t> “一个人被投入一个社团之中，这个社团带有自己由于长期的历史和传统形成的价值、意义和理性，一个人本质上是社会的，正是这种社会性决定着一个人的行为。”</a:t>
            </a:r>
            <a:r>
              <a:rPr lang="zh-CN" altLang="en-US" sz="2000" kern="0" noProof="0" dirty="0">
                <a:ln>
                  <a:noFill/>
                </a:ln>
                <a:effectLst>
                  <a:outerShdw blurRad="38100" dist="38100" dir="2700000" algn="tl">
                    <a:srgbClr val="000000"/>
                  </a:outerShdw>
                </a:effectLst>
                <a:uLnTx/>
                <a:uFillTx/>
                <a:sym typeface="+mn-ea"/>
              </a:rPr>
              <a:t>正是在这个意义上，黑格尔把从道德向伦理的过渡视为解放。</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000" kern="0" noProof="0" dirty="0">
                <a:ln>
                  <a:noFill/>
                </a:ln>
                <a:solidFill>
                  <a:schemeClr val="tx2"/>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j-cs"/>
                <a:sym typeface="+mn-ea"/>
              </a:rPr>
              <a:t>伦理是自由理念实现的体系。</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sym typeface="+mn-ea"/>
              </a:rPr>
              <a:t>伦理性的东西就是理念的这些规定的体系，这一点构成了伦理性的东西的合理性。因此，伦理性的东西就是自由，或自在自为地存在的意志，并且表现为客观的东西，必然性的圆圈。这个必然性的圆圈的各个环节就是调整个人生活的那些伦理力量。</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sym typeface="+mn-ea"/>
              </a:rPr>
              <a:t>（第</a:t>
            </a:r>
            <a:r>
              <a:rPr lang="en-US" altLang="zh-CN" sz="2000" kern="0" noProof="0" dirty="0">
                <a:ln>
                  <a:noFill/>
                </a:ln>
                <a:effectLst>
                  <a:outerShdw blurRad="38100" dist="38100" dir="2700000" algn="tl">
                    <a:srgbClr val="000000"/>
                  </a:outerShdw>
                </a:effectLst>
                <a:uLnTx/>
                <a:uFillTx/>
                <a:sym typeface="+mn-ea"/>
              </a:rPr>
              <a:t>145</a:t>
            </a:r>
            <a:r>
              <a:rPr lang="zh-CN" altLang="en-US" sz="2000" kern="0" noProof="0" dirty="0">
                <a:ln>
                  <a:noFill/>
                </a:ln>
                <a:effectLst>
                  <a:outerShdw blurRad="38100" dist="38100" dir="2700000" algn="tl">
                    <a:srgbClr val="000000"/>
                  </a:outerShdw>
                </a:effectLst>
                <a:uLnTx/>
                <a:uFillTx/>
                <a:sym typeface="+mn-ea"/>
              </a:rPr>
              <a:t>节）伦理是既具有共同性，伦理是自由的现实性，是自在自为地存在的自由意志，伦理内部又存在不同的环节，这些环节构成自由理念的不同环节，赋予人的社会生活的完整性和充分性的条件。黑格尔强调，真正的自由是在他者中仍然保持自身，并通过他者实现自己。伦理有三个重要的环节，即家庭、市民社会和国家，这些环节不是任意，而是在自由的理念中有其合理性的根据。</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en-US" altLang="zh-CN"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endParaRPr lang="zh-CN" altLang="en-US"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br>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伦理是对象化为现实世界的自由</a:t>
            </a:r>
            <a:br>
              <a:rPr kumimoji="0" lang="zh-CN" altLang="en-US"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br>
            <a:endParaRPr lang="zh-CN" altLang="en-US" dirty="0"/>
          </a:p>
        </p:txBody>
      </p:sp>
      <p:sp>
        <p:nvSpPr>
          <p:cNvPr id="3" name="文本框 2"/>
          <p:cNvSpPr txBox="1"/>
          <p:nvPr/>
        </p:nvSpPr>
        <p:spPr>
          <a:xfrm>
            <a:off x="562610" y="986155"/>
            <a:ext cx="10944225" cy="496633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400" kern="0" noProof="0" dirty="0">
                <a:ln>
                  <a:noFill/>
                </a:ln>
                <a:effectLst>
                  <a:outerShdw blurRad="38100" dist="38100" dir="2700000" algn="tl">
                    <a:srgbClr val="000000"/>
                  </a:outerShdw>
                </a:effectLst>
                <a:uLnTx/>
                <a:uFillTx/>
                <a:sym typeface="+mn-ea"/>
              </a:rPr>
              <a:t>代替抽象的道德的善的伦理是作为自由的对象化的现实世界，是人类自我实践创造并且也知道是自我创造的客观精神的世界，这一现实世界是什么？黑格尔说，就是规章制度，伦理的世界就是人类的社会制度世界。（</a:t>
            </a:r>
            <a:r>
              <a:rPr lang="en-US" altLang="zh-CN" sz="2400" kern="0" noProof="0" dirty="0">
                <a:ln>
                  <a:noFill/>
                </a:ln>
                <a:effectLst>
                  <a:outerShdw blurRad="38100" dist="38100" dir="2700000" algn="tl">
                    <a:srgbClr val="000000"/>
                  </a:outerShdw>
                </a:effectLst>
                <a:uLnTx/>
                <a:uFillTx/>
                <a:sym typeface="+mn-ea"/>
              </a:rPr>
              <a:t>1）它具有</a:t>
            </a:r>
            <a:r>
              <a:rPr lang="zh-CN" altLang="en-US" sz="2400" kern="0" noProof="0" dirty="0">
                <a:ln>
                  <a:noFill/>
                </a:ln>
                <a:effectLst>
                  <a:outerShdw blurRad="38100" dist="38100" dir="2700000" algn="tl">
                    <a:srgbClr val="000000"/>
                  </a:outerShdw>
                </a:effectLst>
                <a:uLnTx/>
                <a:uFillTx/>
                <a:sym typeface="+mn-ea"/>
              </a:rPr>
              <a:t>客观实在性，因而扬弃了道德世界的主观性；（</a:t>
            </a:r>
            <a:r>
              <a:rPr lang="en-US" altLang="zh-CN" sz="2400" kern="0" noProof="0" dirty="0">
                <a:ln>
                  <a:noFill/>
                </a:ln>
                <a:effectLst>
                  <a:outerShdw blurRad="38100" dist="38100" dir="2700000" algn="tl">
                    <a:srgbClr val="000000"/>
                  </a:outerShdw>
                </a:effectLst>
                <a:uLnTx/>
                <a:uFillTx/>
                <a:sym typeface="+mn-ea"/>
              </a:rPr>
              <a:t>2）它具有主观自我意识，因而扬弃了法的世界；（3）伦理的世界</a:t>
            </a:r>
            <a:r>
              <a:rPr lang="zh-CN" altLang="en-US" sz="2400" kern="0" noProof="0" dirty="0">
                <a:ln>
                  <a:noFill/>
                </a:ln>
                <a:effectLst>
                  <a:outerShdw blurRad="38100" dist="38100" dir="2700000" algn="tl">
                    <a:srgbClr val="000000"/>
                  </a:outerShdw>
                </a:effectLst>
                <a:uLnTx/>
                <a:uFillTx/>
                <a:sym typeface="+mn-ea"/>
              </a:rPr>
              <a:t>是一个有内在差别的世界。</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en-US" altLang="zh-CN" sz="2400"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这种差别不是任意的，而是源于人类过良善生活这一概念的内在要求，如人要通过家庭的爱获得基本的自信，需要法律调节的市民社会保障个人在职业选择、消费、自愿结社地等方面的主观自由，需要国家实现其集体认同和共同价值的实现等，因此，黑格尔说，“这种内容是自为地必然的，并且超出主观意见和偏见而存在的。”（</a:t>
            </a:r>
            <a:r>
              <a:rPr lang="en-US" sz="2400" kern="0" noProof="0" dirty="0">
                <a:ln>
                  <a:noFill/>
                </a:ln>
                <a:effectLst>
                  <a:outerShdw blurRad="38100" dist="38100" dir="2700000" algn="tl">
                    <a:srgbClr val="000000"/>
                  </a:outerShdw>
                </a:effectLst>
                <a:uLnTx/>
                <a:uFillTx/>
                <a:sym typeface="+mn-ea"/>
              </a:rPr>
              <a:t>164</a:t>
            </a:r>
            <a:r>
              <a:rPr lang="zh-CN" altLang="en-US" sz="2400" kern="0" noProof="0" dirty="0">
                <a:ln>
                  <a:noFill/>
                </a:ln>
                <a:effectLst>
                  <a:outerShdw blurRad="38100" dist="38100" dir="2700000" algn="tl">
                    <a:srgbClr val="000000"/>
                  </a:outerShdw>
                </a:effectLst>
                <a:uLnTx/>
                <a:uFillTx/>
                <a:sym typeface="+mn-ea"/>
              </a:rPr>
              <a:t>）在伦理中，客观的东西中充满着主观性，主观性也自觉地意识到共同规范和价值是自己自由实现的条件。在这里，自由的主观性和客观性、个体性和社会性达到了统一，扬弃了前两个阶段的片面性，使客观精神升华到一个新的形态。</a:t>
            </a:r>
            <a:endParaRPr lang="zh-CN" altLang="en-US" sz="2400"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sz="4445" dirty="0"/>
              <a:t>伦理与个人的关系</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3</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kern="0" dirty="0">
                <a:solidFill>
                  <a:schemeClr val="tx2"/>
                </a:solidFill>
                <a:effectLst>
                  <a:outerShdw blurRad="38100" dist="38100" dir="2700000" algn="tl">
                    <a:srgbClr val="000000"/>
                  </a:outerShdw>
                </a:effectLst>
                <a:latin typeface="+mj-lt"/>
                <a:ea typeface="+mj-ea"/>
                <a:sym typeface="+mn-ea"/>
              </a:rPr>
            </a:br>
            <a:r>
              <a:rPr lang="zh-CN" altLang="en-US" kern="0" dirty="0">
                <a:solidFill>
                  <a:schemeClr val="tx2"/>
                </a:solidFill>
                <a:effectLst>
                  <a:outerShdw blurRad="38100" dist="38100" dir="2700000" algn="tl">
                    <a:srgbClr val="000000"/>
                  </a:outerShdw>
                </a:effectLst>
                <a:latin typeface="+mj-lt"/>
                <a:ea typeface="+mj-ea"/>
                <a:sym typeface="+mn-ea"/>
              </a:rPr>
              <a:t>伦理是实体，个人是偶性</a:t>
            </a:r>
            <a:br>
              <a:rPr kumimoji="0" lang="zh-CN" altLang="en-US" b="1" i="0" u="none" strike="noStrike" kern="0" cap="none" spc="0" normalizeH="0" baseline="0" noProof="1">
                <a:solidFill>
                  <a:schemeClr val="tx2"/>
                </a:solidFill>
                <a:effectLst>
                  <a:outerShdw blurRad="38100" dist="38100" dir="2700000" algn="tl">
                    <a:srgbClr val="000000"/>
                  </a:outerShdw>
                </a:effectLst>
                <a:latin typeface="+mj-lt"/>
                <a:ea typeface="+mj-ea"/>
                <a:cs typeface="+mj-cs"/>
              </a:rPr>
            </a:br>
            <a:endParaRPr lang="zh-CN" altLang="en-US" dirty="0"/>
          </a:p>
        </p:txBody>
      </p:sp>
      <p:sp>
        <p:nvSpPr>
          <p:cNvPr id="3" name="文本框 2"/>
          <p:cNvSpPr txBox="1"/>
          <p:nvPr/>
        </p:nvSpPr>
        <p:spPr>
          <a:xfrm>
            <a:off x="518160" y="1379220"/>
            <a:ext cx="11038205" cy="42157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a:ln>
                  <a:noFill/>
                </a:ln>
                <a:effectLst>
                  <a:outerShdw blurRad="38100" dist="38100" dir="2700000" algn="tl">
                    <a:srgbClr val="000000"/>
                  </a:outerShdw>
                </a:effectLst>
                <a:uLnTx/>
                <a:uFillTx/>
                <a:sym typeface="+mn-ea"/>
              </a:rPr>
              <a:t>伦理的观点是总体的观点，作为调节个人生活的客观力量，伦理即社会制度高于个人。黑格尔把伦理与个人的关系称为实体和偶性的关系，偶性以实体为基础，实体通过偶性来表现。没有个人的意志和行动，就没有伦理，同样，没有伦理的实体，即自在自为的规章制度的存在，个体的意志只是自由浮动的、没有着落和归宿的任意的个人意志。就此而言，在伦理中主观性与客观性不是对立的，而是相互依赖的。</a:t>
            </a:r>
          </a:p>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a:ln>
                  <a:noFill/>
                </a:ln>
                <a:effectLst>
                  <a:outerShdw blurRad="38100" dist="38100" dir="2700000" algn="tl">
                    <a:srgbClr val="000000"/>
                  </a:outerShdw>
                </a:effectLst>
                <a:uLnTx/>
                <a:uFillTx/>
                <a:sym typeface="+mn-ea"/>
              </a:rPr>
              <a:t>但是，黑格尔对个人与伦理关系的理解还有一个更强的含义。伦理应该成为个人的本质，它对个人来说是必然的，但个人对伦理来说是偶然的。个人不能离开伦理而存在，而伦理却可以离开个人而存在。</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sym typeface="+mn-ea"/>
              </a:rPr>
              <a:t>人存在与否，对客观伦理来说是无所谓的，唯有客观伦理才是永恒的，并且是调整个人生活的力量。</a:t>
            </a:r>
            <a:r>
              <a:rPr lang="en-US" altLang="zh-CN" sz="2000" kern="0" noProof="0" dirty="0">
                <a:ln>
                  <a:noFill/>
                </a:ln>
                <a:effectLst>
                  <a:outerShdw blurRad="38100" dist="38100" dir="2700000" algn="tl">
                    <a:srgbClr val="000000"/>
                  </a:outerShdw>
                </a:effectLst>
                <a:uLnTx/>
                <a:uFillTx/>
                <a:sym typeface="+mn-ea"/>
              </a:rPr>
              <a:t>“</a:t>
            </a:r>
            <a:r>
              <a:rPr lang="zh-CN" altLang="en-US" sz="2000" kern="0" noProof="0" dirty="0">
                <a:ln>
                  <a:noFill/>
                </a:ln>
                <a:effectLst>
                  <a:outerShdw blurRad="38100" dist="38100" dir="2700000" algn="tl">
                    <a:srgbClr val="000000"/>
                  </a:outerShdw>
                </a:effectLst>
                <a:uLnTx/>
                <a:uFillTx/>
                <a:sym typeface="+mn-ea"/>
              </a:rPr>
              <a:t>伦理是神，在这些神面前，个人不过是在玩跷跷板的游戏而已。也就是说，个人的生命是短暂的，但伦理世界的生命是永恒的，人的实践不过永恒生命的实现途径。（第</a:t>
            </a:r>
            <a:r>
              <a:rPr lang="en-US" sz="2000" kern="0" noProof="0" dirty="0">
                <a:ln>
                  <a:noFill/>
                </a:ln>
                <a:effectLst>
                  <a:outerShdw blurRad="38100" dist="38100" dir="2700000" algn="tl">
                    <a:srgbClr val="000000"/>
                  </a:outerShdw>
                </a:effectLst>
                <a:uLnTx/>
                <a:uFillTx/>
                <a:sym typeface="+mn-ea"/>
              </a:rPr>
              <a:t>145</a:t>
            </a:r>
            <a:r>
              <a:rPr lang="zh-CN" altLang="en-US" sz="2000" kern="0" noProof="0" dirty="0">
                <a:ln>
                  <a:noFill/>
                </a:ln>
                <a:effectLst>
                  <a:outerShdw blurRad="38100" dist="38100" dir="2700000" algn="tl">
                    <a:srgbClr val="000000"/>
                  </a:outerShdw>
                </a:effectLst>
                <a:uLnTx/>
                <a:uFillTx/>
                <a:sym typeface="+mn-ea"/>
              </a:rPr>
              <a:t>节）</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sym typeface="+mn-ea"/>
            </a:endParaRPr>
          </a:p>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000" kern="0" noProof="0" dirty="0">
                <a:ln>
                  <a:noFill/>
                </a:ln>
                <a:effectLst>
                  <a:outerShdw blurRad="38100" dist="38100" dir="2700000" algn="tl">
                    <a:srgbClr val="000000"/>
                  </a:outerShdw>
                </a:effectLst>
                <a:uLnTx/>
                <a:uFillTx/>
                <a:sym typeface="+mn-ea"/>
              </a:rPr>
              <a:t>        黑格尔这一观点常常被诟病为反个人的集权主义。这里我们首先要理解黑格尔的伦理概念的本质，即伦理不是一个外在地强加于个人的力量，而是人的自由实现的客观性条件。其次，黑格尔强调的是自由理念的现实性优于单个人的主观意志，而非伦理凌驾于人的自由意志。</a:t>
            </a:r>
            <a:endParaRPr lang="zh-CN" altLang="en-US" sz="2000"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个人在伦理中认出自己</a:t>
            </a:r>
            <a:endParaRPr lang="zh-CN" altLang="en-US" dirty="0"/>
          </a:p>
        </p:txBody>
      </p:sp>
      <p:sp>
        <p:nvSpPr>
          <p:cNvPr id="3" name="文本框 2"/>
          <p:cNvSpPr txBox="1"/>
          <p:nvPr/>
        </p:nvSpPr>
        <p:spPr>
          <a:xfrm>
            <a:off x="456565" y="1090295"/>
            <a:ext cx="10897870" cy="452310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en-US" altLang="zh-CN" sz="2400"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伦理是远比个人要崇高的东西，但并不意味着它对人来说，是异在的力量。辩证的立场应该同时看到这两个方面，一方面认识到伦理是个人无法左右的客观精神力量，因为它源于人类的一般本质，对个人来说是更高的力量。另一方面，“伦理性的实体，它的法律和权力，对主体说来，不是一种陌生的东西，相反，主体精神证明它们是它特有的本质，在它的这种本质中主体感觉到自己的价值，并且象在自己的、同自己没有区别的要素中一样生活着。”（</a:t>
            </a:r>
            <a:r>
              <a:rPr lang="en-US" altLang="zh-CN" sz="2400" kern="0" noProof="0" dirty="0">
                <a:ln>
                  <a:noFill/>
                </a:ln>
                <a:effectLst>
                  <a:outerShdw blurRad="38100" dist="38100" dir="2700000" algn="tl">
                    <a:srgbClr val="000000"/>
                  </a:outerShdw>
                </a:effectLst>
                <a:uLnTx/>
                <a:uFillTx/>
                <a:sym typeface="+mn-ea"/>
              </a:rPr>
              <a:t>§</a:t>
            </a:r>
            <a:r>
              <a:rPr lang="en-US" sz="2400" kern="0" noProof="0" dirty="0">
                <a:ln>
                  <a:noFill/>
                </a:ln>
                <a:effectLst>
                  <a:outerShdw blurRad="38100" dist="38100" dir="2700000" algn="tl">
                    <a:srgbClr val="000000"/>
                  </a:outerShdw>
                </a:effectLst>
                <a:uLnTx/>
                <a:uFillTx/>
                <a:sym typeface="+mn-ea"/>
              </a:rPr>
              <a:t>147</a:t>
            </a:r>
            <a:r>
              <a:rPr lang="zh-CN" altLang="en-US" sz="2400" kern="0" noProof="0" dirty="0">
                <a:ln>
                  <a:noFill/>
                </a:ln>
                <a:effectLst>
                  <a:outerShdw blurRad="38100" dist="38100" dir="2700000" algn="tl">
                    <a:srgbClr val="000000"/>
                  </a:outerShdw>
                </a:effectLst>
                <a:uLnTx/>
                <a:uFillTx/>
                <a:sym typeface="+mn-ea"/>
              </a:rPr>
              <a:t>）在这个意义上，伦理世界是人的天然的家园，它不仅给个人提供庇护，而且给人提供实现其本质的条件和空间。如一个好的集体环境，人们不会觉得束缚和孤独，相反觉得如鱼得水。除非伦理生活异化为没有生命的僵化的强制，否则，个人与伦理世界的关系就如鱼和水的关系。因此，个人根据伦理的要求所做的自我限制，不是消极的，否定的，而是积极的，肯定的。伦理是真正意义上的自我决定的自由。</a:t>
            </a:r>
            <a:endParaRPr lang="zh-CN" altLang="en-US" sz="24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伦理是必须履行的义务</a:t>
            </a:r>
            <a:endParaRPr lang="zh-CN" altLang="en-US" dirty="0"/>
          </a:p>
        </p:txBody>
      </p:sp>
      <p:sp>
        <p:nvSpPr>
          <p:cNvPr id="3" name="文本框 2"/>
          <p:cNvSpPr txBox="1"/>
          <p:nvPr/>
        </p:nvSpPr>
        <p:spPr>
          <a:xfrm>
            <a:off x="381000" y="1165860"/>
            <a:ext cx="11099800" cy="459676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ea typeface="宋体" panose="02010600030101010101" pitchFamily="2" charset="-122"/>
                <a:sym typeface="+mn-ea"/>
              </a:rPr>
              <a:t>无论是道德还是伦理都是义务，</a:t>
            </a:r>
            <a:r>
              <a:rPr lang="zh-CN" altLang="en-US" sz="2400" kern="0" noProof="0" dirty="0">
                <a:ln>
                  <a:noFill/>
                </a:ln>
                <a:effectLst>
                  <a:outerShdw blurRad="38100" dist="38100" dir="2700000" algn="tl">
                    <a:srgbClr val="000000"/>
                  </a:outerShdw>
                </a:effectLst>
                <a:uLnTx/>
                <a:uFillTx/>
                <a:sym typeface="+mn-ea"/>
              </a:rPr>
              <a:t>从道德过渡到伦理使得义务概念具有了实体性的客观内容。伦理也是法，是伦理的法，“法律和权力这些实体性的规定，对个人说来是一些义务，并拘束着他的意志，因为个人</a:t>
            </a:r>
            <a:r>
              <a:rPr lang="en-US" altLang="zh-CN" sz="2400" kern="0" noProof="0" dirty="0">
                <a:ln>
                  <a:noFill/>
                </a:ln>
                <a:effectLst>
                  <a:outerShdw blurRad="38100" dist="38100" dir="2700000" algn="tl">
                    <a:srgbClr val="000000"/>
                  </a:outerShdw>
                </a:effectLst>
                <a:uLnTx/>
                <a:uFillTx/>
                <a:sym typeface="+mn-ea"/>
              </a:rPr>
              <a:t>……</a:t>
            </a:r>
            <a:r>
              <a:rPr lang="zh-CN" altLang="en-US" sz="2400" kern="0" noProof="0" dirty="0">
                <a:ln>
                  <a:noFill/>
                </a:ln>
                <a:effectLst>
                  <a:outerShdw blurRad="38100" dist="38100" dir="2700000" algn="tl">
                    <a:srgbClr val="000000"/>
                  </a:outerShdw>
                </a:effectLst>
                <a:uLnTx/>
                <a:uFillTx/>
                <a:sym typeface="+mn-ea"/>
              </a:rPr>
              <a:t>是同这些法律和权力有差别，因而把它们作为他的实体性的东西来对待的。”</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zh-CN" altLang="en-US" sz="2400" kern="0" noProof="0" dirty="0">
                <a:ln>
                  <a:noFill/>
                </a:ln>
                <a:effectLst>
                  <a:outerShdw blurRad="38100" dist="38100" dir="2700000" algn="tl">
                    <a:srgbClr val="000000"/>
                  </a:outerShdw>
                </a:effectLst>
                <a:uLnTx/>
                <a:uFillTx/>
                <a:sym typeface="+mn-ea"/>
              </a:rPr>
              <a:t>      法的观点是权利的观点，权利是一种允许，可以运用也可以不运用。道德和伦理是义务的观点，是人必须履行的要求。道德与 伦理的区别在于，道德的义务没有具体内容，是空洞的善，人必须为善而善，必须出于善而行动。在伦理中，个人是偶性，伦理是实体，人必须履行伦理的义务。生活在伦理世界中，是生活在具体的规章制度之中，伦理的义务是具体的。与道德的义务论立场相同，伦理的义务对个人来说不是外在的，它建立在自由理念本身之上，“一种内在的、彻底的义务论不外是由于自由的理念而是必然的、因此是现实的那些关系在它们全部范围内即在国家中的发展。”</a:t>
            </a:r>
            <a:r>
              <a:rPr lang="en-US" altLang="zh-CN" sz="2400" kern="0" noProof="0" dirty="0">
                <a:ln>
                  <a:noFill/>
                </a:ln>
                <a:effectLst>
                  <a:outerShdw blurRad="38100" dist="38100" dir="2700000" algn="tl">
                    <a:srgbClr val="000000"/>
                  </a:outerShdw>
                </a:effectLst>
                <a:uLnTx/>
                <a:uFillTx/>
                <a:sym typeface="+mn-ea"/>
              </a:rPr>
              <a:t>§</a:t>
            </a:r>
            <a:r>
              <a:rPr lang="en-US" sz="2400" kern="0" noProof="0" dirty="0">
                <a:ln>
                  <a:noFill/>
                </a:ln>
                <a:effectLst>
                  <a:outerShdw blurRad="38100" dist="38100" dir="2700000" algn="tl">
                    <a:srgbClr val="000000"/>
                  </a:outerShdw>
                </a:effectLst>
                <a:uLnTx/>
                <a:uFillTx/>
                <a:sym typeface="+mn-ea"/>
              </a:rPr>
              <a:t>148</a:t>
            </a:r>
            <a:endParaRPr lang="zh-CN" altLang="en-US" sz="2400" dirty="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伦理是权利与义务的统一</a:t>
            </a:r>
            <a:endParaRPr lang="zh-CN" altLang="en-US" dirty="0"/>
          </a:p>
        </p:txBody>
      </p:sp>
      <p:sp>
        <p:nvSpPr>
          <p:cNvPr id="3" name="文本框 2"/>
          <p:cNvSpPr txBox="1"/>
          <p:nvPr/>
        </p:nvSpPr>
        <p:spPr>
          <a:xfrm>
            <a:off x="427355" y="985520"/>
            <a:ext cx="10927080" cy="5471160"/>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800"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自由是义务和权利的统一。黑格尔认为，在抽象法和道德中，权利和义务还没有达到统一。因为它们还不是自在自为的普遍意志，比如在法律是权利的观点，个人把权利置于自己一方，义务置于他人一方，道德的观点是应当的观点，权利与义务应该统一，但无法保证其统一。只在伦理中权利与义务的统一才从应然变成实然。在这里，一个负有多少义务就有多少权利，享有多少权利就负多少义务。否则就会导致伦理共同体的解体。如果一切权利在一方，一切义务都在另一边，社会的整体就会瓦解，如奴隶制。</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抽象法与道德中，权利与义务就同质性关系的对称性。在抽象法中，权利与义务的统一是自我与他人人格上的平等对待。在道德中，权利与义务的统一是道德主体的相互承认。在道德中，我们必须尊重行为者的个人动机和他自己对行为的解释。在伦理中，权利与义务的关系是差异的统一，异质性统一。父亲有义务养育和培养子女，子女有义务尊重父母。国家与公民的关系也是如此。公民有权要求国家满足其需要，公民必须为国家尽自己的义务。</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lang="zh-CN" altLang="en-US" sz="2400" dirty="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58440" y="72000"/>
            <a:ext cx="8595359" cy="914400"/>
          </a:xfrm>
        </p:spPr>
        <p:txBody>
          <a:bodyPr/>
          <a:lstStyle/>
          <a:p>
            <a:r>
              <a:rPr lang="zh-CN" altLang="en-US" dirty="0"/>
              <a:t>在义务中获得解放</a:t>
            </a:r>
          </a:p>
        </p:txBody>
      </p:sp>
      <p:sp>
        <p:nvSpPr>
          <p:cNvPr id="4" name="文本框 3"/>
          <p:cNvSpPr txBox="1"/>
          <p:nvPr/>
        </p:nvSpPr>
        <p:spPr>
          <a:xfrm>
            <a:off x="394970" y="1093470"/>
            <a:ext cx="11217910" cy="540956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en-US" altLang="zh-CN" sz="2400"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义务只是对自然意志和空洞的道德意志来说才是限制，对自在自为的意志来说是解放，义务限制的不是自由本身，而是自由的抽象，即不自由。“义务就是达到本质、获得肯定的自由。”</a:t>
            </a:r>
            <a:r>
              <a:rPr lang="en-US" altLang="zh-CN" sz="2400" kern="0" noProof="0" dirty="0">
                <a:ln>
                  <a:noFill/>
                </a:ln>
                <a:effectLst>
                  <a:outerShdw blurRad="38100" dist="38100" dir="2700000" algn="tl">
                    <a:srgbClr val="000000"/>
                  </a:outerShdw>
                </a:effectLst>
                <a:uLnTx/>
                <a:uFillTx/>
                <a:sym typeface="+mn-ea"/>
              </a:rPr>
              <a:t>§149</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sz="2400"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伯林区分两种自由，</a:t>
            </a:r>
            <a:r>
              <a:rPr lang="en-US" altLang="zh-CN" sz="2400" kern="0" noProof="0" dirty="0">
                <a:ln>
                  <a:noFill/>
                </a:ln>
                <a:effectLst>
                  <a:outerShdw blurRad="38100" dist="38100" dir="2700000" algn="tl">
                    <a:srgbClr val="000000"/>
                  </a:outerShdw>
                </a:effectLst>
                <a:uLnTx/>
                <a:uFillTx/>
                <a:sym typeface="+mn-ea"/>
              </a:rPr>
              <a:t>Negative </a:t>
            </a:r>
            <a:r>
              <a:rPr lang="en-US" altLang="zh-CN" sz="2400" kern="0" noProof="0" dirty="0" err="1">
                <a:ln>
                  <a:noFill/>
                </a:ln>
                <a:effectLst>
                  <a:outerShdw blurRad="38100" dist="38100" dir="2700000" algn="tl">
                    <a:srgbClr val="000000"/>
                  </a:outerShdw>
                </a:effectLst>
                <a:uLnTx/>
                <a:uFillTx/>
                <a:sym typeface="+mn-ea"/>
              </a:rPr>
              <a:t>Freedom意味着</a:t>
            </a:r>
            <a:r>
              <a:rPr lang="zh-CN" altLang="en-US" sz="2400" kern="0" noProof="0" dirty="0">
                <a:ln>
                  <a:noFill/>
                </a:ln>
                <a:effectLst>
                  <a:outerShdw blurRad="38100" dist="38100" dir="2700000" algn="tl">
                    <a:srgbClr val="000000"/>
                  </a:outerShdw>
                </a:effectLst>
                <a:uLnTx/>
                <a:uFillTx/>
                <a:sym typeface="+mn-ea"/>
              </a:rPr>
              <a:t>“免于</a:t>
            </a:r>
            <a:r>
              <a:rPr lang="en-US" altLang="zh-CN" sz="2400" kern="0" noProof="0" dirty="0">
                <a:ln>
                  <a:noFill/>
                </a:ln>
                <a:effectLst>
                  <a:outerShdw blurRad="38100" dist="38100" dir="2700000" algn="tl">
                    <a:srgbClr val="000000"/>
                  </a:outerShdw>
                </a:effectLst>
                <a:uLnTx/>
                <a:uFillTx/>
                <a:sym typeface="+mn-ea"/>
              </a:rPr>
              <a:t>……</a:t>
            </a:r>
            <a:r>
              <a:rPr lang="zh-CN" altLang="en-US" sz="2400" kern="0" noProof="0" dirty="0">
                <a:ln>
                  <a:noFill/>
                </a:ln>
                <a:effectLst>
                  <a:outerShdw blurRad="38100" dist="38100" dir="2700000" algn="tl">
                    <a:srgbClr val="000000"/>
                  </a:outerShdw>
                </a:effectLst>
                <a:uLnTx/>
                <a:uFillTx/>
                <a:sym typeface="+mn-ea"/>
              </a:rPr>
              <a:t>的自由”，就是社会上每一个个体都有一个最低限度的空间，不受任何个人、集体、民族或者国家等等力量的干涉与强制。</a:t>
            </a:r>
            <a:r>
              <a:rPr lang="en-US" altLang="zh-CN" sz="2400" kern="0" noProof="0" dirty="0">
                <a:ln>
                  <a:noFill/>
                </a:ln>
                <a:effectLst>
                  <a:outerShdw blurRad="38100" dist="38100" dir="2700000" algn="tl">
                    <a:srgbClr val="000000"/>
                  </a:outerShdw>
                </a:effectLst>
                <a:uLnTx/>
                <a:uFillTx/>
                <a:sym typeface="+mn-ea"/>
              </a:rPr>
              <a:t>Positive Freedom</a:t>
            </a:r>
            <a:r>
              <a:rPr lang="zh-CN" altLang="en-US" sz="2400" kern="0" noProof="0" dirty="0">
                <a:ln>
                  <a:noFill/>
                </a:ln>
                <a:effectLst>
                  <a:outerShdw blurRad="38100" dist="38100" dir="2700000" algn="tl">
                    <a:srgbClr val="000000"/>
                  </a:outerShdw>
                </a:effectLst>
                <a:uLnTx/>
                <a:uFillTx/>
                <a:sym typeface="+mn-ea"/>
              </a:rPr>
              <a:t>，伯林的解释是“去做</a:t>
            </a:r>
            <a:r>
              <a:rPr lang="en-US" altLang="zh-CN" sz="2400" kern="0" noProof="0" dirty="0">
                <a:ln>
                  <a:noFill/>
                </a:ln>
                <a:effectLst>
                  <a:outerShdw blurRad="38100" dist="38100" dir="2700000" algn="tl">
                    <a:srgbClr val="000000"/>
                  </a:outerShdw>
                </a:effectLst>
                <a:uLnTx/>
                <a:uFillTx/>
                <a:sym typeface="+mn-ea"/>
              </a:rPr>
              <a:t>……</a:t>
            </a:r>
            <a:r>
              <a:rPr lang="zh-CN" altLang="en-US" sz="2400" kern="0" noProof="0" dirty="0">
                <a:ln>
                  <a:noFill/>
                </a:ln>
                <a:effectLst>
                  <a:outerShdw blurRad="38100" dist="38100" dir="2700000" algn="tl">
                    <a:srgbClr val="000000"/>
                  </a:outerShdw>
                </a:effectLst>
                <a:uLnTx/>
                <a:uFillTx/>
                <a:sym typeface="+mn-ea"/>
              </a:rPr>
              <a:t>的自由”。伯林的结论是</a:t>
            </a:r>
            <a:r>
              <a:rPr lang="en-US" altLang="zh-CN" sz="2400" kern="0" noProof="0" dirty="0" err="1">
                <a:ln>
                  <a:noFill/>
                </a:ln>
                <a:effectLst>
                  <a:outerShdw blurRad="38100" dist="38100" dir="2700000" algn="tl">
                    <a:srgbClr val="000000"/>
                  </a:outerShdw>
                </a:effectLst>
                <a:uLnTx/>
                <a:uFillTx/>
                <a:sym typeface="+mn-ea"/>
              </a:rPr>
              <a:t>nagative</a:t>
            </a:r>
            <a:r>
              <a:rPr lang="en-US" altLang="zh-CN" sz="2400" kern="0" noProof="0" dirty="0">
                <a:ln>
                  <a:noFill/>
                </a:ln>
                <a:effectLst>
                  <a:outerShdw blurRad="38100" dist="38100" dir="2700000" algn="tl">
                    <a:srgbClr val="000000"/>
                  </a:outerShdw>
                </a:effectLst>
                <a:uLnTx/>
                <a:uFillTx/>
                <a:sym typeface="+mn-ea"/>
              </a:rPr>
              <a:t> </a:t>
            </a:r>
            <a:r>
              <a:rPr lang="en-US" altLang="zh-CN" sz="2400" kern="0" noProof="0" dirty="0" err="1">
                <a:ln>
                  <a:noFill/>
                </a:ln>
                <a:effectLst>
                  <a:outerShdw blurRad="38100" dist="38100" dir="2700000" algn="tl">
                    <a:srgbClr val="000000"/>
                  </a:outerShdw>
                </a:effectLst>
                <a:uLnTx/>
                <a:uFillTx/>
                <a:sym typeface="+mn-ea"/>
              </a:rPr>
              <a:t>freedom似乎是微不足道的，却是保护个人自由的最好堡垒，而Positive</a:t>
            </a:r>
            <a:r>
              <a:rPr lang="en-US" altLang="zh-CN" sz="2400" kern="0" noProof="0" dirty="0">
                <a:ln>
                  <a:noFill/>
                </a:ln>
                <a:effectLst>
                  <a:outerShdw blurRad="38100" dist="38100" dir="2700000" algn="tl">
                    <a:srgbClr val="000000"/>
                  </a:outerShdw>
                </a:effectLst>
                <a:uLnTx/>
                <a:uFillTx/>
                <a:sym typeface="+mn-ea"/>
              </a:rPr>
              <a:t> </a:t>
            </a:r>
            <a:r>
              <a:rPr lang="en-US" altLang="zh-CN" sz="2400" kern="0" noProof="0" dirty="0" err="1">
                <a:ln>
                  <a:noFill/>
                </a:ln>
                <a:effectLst>
                  <a:outerShdw blurRad="38100" dist="38100" dir="2700000" algn="tl">
                    <a:srgbClr val="000000"/>
                  </a:outerShdw>
                </a:effectLst>
                <a:uLnTx/>
                <a:uFillTx/>
                <a:sym typeface="+mn-ea"/>
              </a:rPr>
              <a:t>Freedom虽然看起来更崇高</a:t>
            </a:r>
            <a:r>
              <a:rPr lang="zh-CN" altLang="en-US" sz="2400" kern="0" noProof="0" dirty="0">
                <a:ln>
                  <a:noFill/>
                </a:ln>
                <a:effectLst>
                  <a:outerShdw blurRad="38100" dist="38100" dir="2700000" algn="tl">
                    <a:srgbClr val="000000"/>
                  </a:outerShdw>
                </a:effectLst>
                <a:uLnTx/>
                <a:uFillTx/>
                <a:sym typeface="+mn-ea"/>
              </a:rPr>
              <a:t>和吸引力，但是结果可能与自由背道而驰。合理的自由只能是一种权利，不受干预地行为的权利，义务本质上是束缚和强制。</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sz="2400" kern="0" noProof="0" dirty="0">
                <a:ln>
                  <a:noFill/>
                </a:ln>
                <a:effectLst>
                  <a:outerShdw blurRad="38100" dist="38100" dir="2700000" algn="tl">
                    <a:srgbClr val="000000"/>
                  </a:outerShdw>
                </a:effectLst>
                <a:uLnTx/>
                <a:uFillTx/>
                <a:sym typeface="+mn-ea"/>
              </a:rPr>
              <a:t>      </a:t>
            </a:r>
            <a:r>
              <a:rPr lang="en-US" altLang="zh-CN" sz="2400" kern="0" noProof="0" dirty="0" err="1">
                <a:ln>
                  <a:noFill/>
                </a:ln>
                <a:effectLst>
                  <a:outerShdw blurRad="38100" dist="38100" dir="2700000" algn="tl">
                    <a:srgbClr val="000000"/>
                  </a:outerShdw>
                </a:effectLst>
                <a:uLnTx/>
                <a:uFillTx/>
                <a:sym typeface="+mn-ea"/>
              </a:rPr>
              <a:t>黑格尔认为</a:t>
            </a:r>
            <a:r>
              <a:rPr lang="en-US" altLang="zh-CN" sz="2400" kern="0" noProof="0" dirty="0">
                <a:ln>
                  <a:noFill/>
                </a:ln>
                <a:effectLst>
                  <a:outerShdw blurRad="38100" dist="38100" dir="2700000" algn="tl">
                    <a:srgbClr val="000000"/>
                  </a:outerShdw>
                </a:effectLst>
                <a:uLnTx/>
                <a:uFillTx/>
                <a:sym typeface="+mn-ea"/>
              </a:rPr>
              <a:t>：“</a:t>
            </a:r>
            <a:r>
              <a:rPr lang="en-US" altLang="zh-CN" sz="2400" kern="0" noProof="0" dirty="0" err="1">
                <a:ln>
                  <a:noFill/>
                </a:ln>
                <a:effectLst>
                  <a:outerShdw blurRad="38100" dist="38100" dir="2700000" algn="tl">
                    <a:srgbClr val="000000"/>
                  </a:outerShdw>
                </a:effectLst>
                <a:uLnTx/>
                <a:uFillTx/>
                <a:sym typeface="+mn-ea"/>
              </a:rPr>
              <a:t>在义务中个人毋宁说是获得了解放</a:t>
            </a:r>
            <a:r>
              <a:rPr lang="en-US" altLang="zh-CN" sz="2400" kern="0" noProof="0" dirty="0">
                <a:ln>
                  <a:noFill/>
                </a:ln>
                <a:effectLst>
                  <a:outerShdw blurRad="38100" dist="38100" dir="2700000" algn="tl">
                    <a:srgbClr val="000000"/>
                  </a:outerShdw>
                </a:effectLst>
                <a:uLnTx/>
                <a:uFillTx/>
                <a:sym typeface="+mn-ea"/>
              </a:rPr>
              <a:t>。</a:t>
            </a:r>
            <a:r>
              <a:rPr lang="en-US" altLang="zh-CN" sz="2400" kern="0" noProof="0" dirty="0" err="1">
                <a:ln>
                  <a:noFill/>
                </a:ln>
                <a:effectLst>
                  <a:outerShdw blurRad="38100" dist="38100" dir="2700000" algn="tl">
                    <a:srgbClr val="000000"/>
                  </a:outerShdw>
                </a:effectLst>
                <a:uLnTx/>
                <a:uFillTx/>
                <a:sym typeface="+mn-ea"/>
              </a:rPr>
              <a:t>一方面，他既摆脱了对赤裸裸的自然冲动的依附状态</a:t>
            </a:r>
            <a:r>
              <a:rPr lang="en-US" altLang="zh-CN" sz="2400" kern="0" noProof="0" dirty="0">
                <a:ln>
                  <a:noFill/>
                </a:ln>
                <a:effectLst>
                  <a:outerShdw blurRad="38100" dist="38100" dir="2700000" algn="tl">
                    <a:srgbClr val="000000"/>
                  </a:outerShdw>
                </a:effectLst>
                <a:uLnTx/>
                <a:uFillTx/>
                <a:sym typeface="+mn-ea"/>
              </a:rPr>
              <a:t>……</a:t>
            </a:r>
            <a:r>
              <a:rPr lang="en-US" altLang="zh-CN" sz="2400" kern="0" noProof="0" dirty="0" err="1">
                <a:ln>
                  <a:noFill/>
                </a:ln>
                <a:effectLst>
                  <a:outerShdw blurRad="38100" dist="38100" dir="2700000" algn="tl">
                    <a:srgbClr val="000000"/>
                  </a:outerShdw>
                </a:effectLst>
                <a:uLnTx/>
                <a:uFillTx/>
                <a:sym typeface="+mn-ea"/>
              </a:rPr>
              <a:t>另一方面，他摆脱了没有规定性的主观性</a:t>
            </a:r>
            <a:r>
              <a:rPr lang="en-US" altLang="zh-CN" sz="2400" kern="0" noProof="0" dirty="0">
                <a:ln>
                  <a:noFill/>
                </a:ln>
                <a:effectLst>
                  <a:outerShdw blurRad="38100" dist="38100" dir="2700000" algn="tl">
                    <a:srgbClr val="000000"/>
                  </a:outerShdw>
                </a:effectLst>
                <a:uLnTx/>
                <a:uFillTx/>
                <a:sym typeface="+mn-ea"/>
              </a:rPr>
              <a:t>……</a:t>
            </a:r>
            <a:r>
              <a:rPr lang="en-US" altLang="zh-CN" sz="2400" kern="0" noProof="0" dirty="0" err="1">
                <a:ln>
                  <a:noFill/>
                </a:ln>
                <a:effectLst>
                  <a:outerShdw blurRad="38100" dist="38100" dir="2700000" algn="tl">
                    <a:srgbClr val="000000"/>
                  </a:outerShdw>
                </a:effectLst>
                <a:uLnTx/>
                <a:uFillTx/>
                <a:sym typeface="+mn-ea"/>
              </a:rPr>
              <a:t>在义务中，个人得到了解放而达到了实体性的自由</a:t>
            </a:r>
            <a:r>
              <a:rPr lang="en-US" altLang="zh-CN" sz="2400" kern="0" noProof="0" dirty="0">
                <a:ln>
                  <a:noFill/>
                </a:ln>
                <a:effectLst>
                  <a:outerShdw blurRad="38100" dist="38100" dir="2700000" algn="tl">
                    <a:srgbClr val="000000"/>
                  </a:outerShdw>
                </a:effectLst>
                <a:uLnTx/>
                <a:uFillTx/>
                <a:sym typeface="+mn-ea"/>
              </a:rPr>
              <a:t>。“（149节）</a:t>
            </a:r>
            <a:r>
              <a:rPr lang="zh-CN" altLang="en-US" sz="2400" kern="0" noProof="0" dirty="0">
                <a:ln>
                  <a:noFill/>
                </a:ln>
                <a:effectLst>
                  <a:outerShdw blurRad="38100" dist="38100" dir="2700000" algn="tl">
                    <a:srgbClr val="000000"/>
                  </a:outerShdw>
                </a:effectLst>
                <a:uLnTx/>
                <a:uFillTx/>
                <a:ea typeface="宋体" panose="02010600030101010101" pitchFamily="2" charset="-122"/>
                <a:sym typeface="+mn-ea"/>
              </a:rPr>
              <a:t>伦理之所以道德的扬弃在于它把人从道德的不确定痛苦中解放出来，使道德的善获得了具体的内容。</a:t>
            </a: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sz="4445" dirty="0"/>
              <a:t>伦理是人的第二自然</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4</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伦理既是义务也是德性</a:t>
            </a:r>
            <a:endParaRPr lang="zh-CN" altLang="en-US" dirty="0"/>
          </a:p>
        </p:txBody>
      </p:sp>
      <p:sp>
        <p:nvSpPr>
          <p:cNvPr id="3" name="文本框 2"/>
          <p:cNvSpPr txBox="1"/>
          <p:nvPr/>
        </p:nvSpPr>
        <p:spPr>
          <a:xfrm>
            <a:off x="441960" y="986155"/>
            <a:ext cx="10911840" cy="452310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zh-CN" altLang="en-US" sz="2400" kern="0" noProof="0" dirty="0">
                <a:ln>
                  <a:noFill/>
                </a:ln>
                <a:effectLst>
                  <a:outerShdw blurRad="38100" dist="38100" dir="2700000" algn="tl">
                    <a:srgbClr val="000000"/>
                  </a:outerShdw>
                </a:effectLst>
                <a:uLnTx/>
                <a:uFillTx/>
                <a:sym typeface="+mn-ea"/>
              </a:rPr>
              <a:t>伦理作为社会的制度和规范，是中国传统文化意义上的“道”，伦理作为品格和修养在个性和行为上的反映，就是德（</a:t>
            </a:r>
            <a:r>
              <a:rPr lang="en-US" sz="2400" kern="0" noProof="0" dirty="0">
                <a:ln>
                  <a:noFill/>
                </a:ln>
                <a:effectLst>
                  <a:outerShdw blurRad="38100" dist="38100" dir="2700000" algn="tl">
                    <a:srgbClr val="000000"/>
                  </a:outerShdw>
                </a:effectLst>
                <a:uLnTx/>
                <a:uFillTx/>
                <a:sym typeface="+mn-ea"/>
              </a:rPr>
              <a:t>virtue</a:t>
            </a:r>
            <a:r>
              <a:rPr lang="zh-CN" altLang="en-US" sz="2400" kern="0" noProof="0" dirty="0">
                <a:ln>
                  <a:noFill/>
                </a:ln>
                <a:effectLst>
                  <a:outerShdw blurRad="38100" dist="38100" dir="2700000" algn="tl">
                    <a:srgbClr val="000000"/>
                  </a:outerShdw>
                </a:effectLst>
                <a:uLnTx/>
                <a:uFillTx/>
                <a:sym typeface="+mn-ea"/>
              </a:rPr>
              <a:t>）。道与德是伦理的两个方面。黑格尔认为，很大程度上古代人依靠是德，现代人依靠是道。道德的古今之争是把规范与德性分离开来。道德保守主义坚持德性论传统，认为道德不能离开具体的共同体，不能离开具体的生活实践，现代派认为，道德是普遍的义务，依赖抽象的主体对义务的判断。黑格尔的伦理是对道德的扬弃，既是道，也就是德。道是显现为客观现实制度的自由理念，它采取义务的形式。德是以人格高尚和崇高形式表现出现的意志自由。黑格尔说：</a:t>
            </a:r>
            <a:r>
              <a:rPr lang="en-US" altLang="zh-CN" sz="2400" kern="0" noProof="0" dirty="0">
                <a:ln>
                  <a:noFill/>
                </a:ln>
                <a:effectLst>
                  <a:outerShdw blurRad="38100" dist="38100" dir="2700000" algn="tl">
                    <a:srgbClr val="000000"/>
                  </a:outerShdw>
                </a:effectLst>
                <a:uLnTx/>
                <a:uFillTx/>
                <a:sym typeface="+mn-ea"/>
              </a:rPr>
              <a:t>“</a:t>
            </a:r>
            <a:r>
              <a:rPr lang="en-US" altLang="zh-CN" sz="2400" kern="0" noProof="0" dirty="0" err="1">
                <a:ln>
                  <a:noFill/>
                </a:ln>
                <a:effectLst>
                  <a:outerShdw blurRad="38100" dist="38100" dir="2700000" algn="tl">
                    <a:srgbClr val="000000"/>
                  </a:outerShdw>
                </a:effectLst>
                <a:uLnTx/>
                <a:uFillTx/>
                <a:sym typeface="+mn-ea"/>
              </a:rPr>
              <a:t>一个人做了这样或那样一件合乎伦理的事，还不能说他是有德的</a:t>
            </a:r>
            <a:r>
              <a:rPr lang="zh-CN" altLang="en-US" sz="2400" kern="0" noProof="0" dirty="0">
                <a:ln>
                  <a:noFill/>
                </a:ln>
                <a:effectLst>
                  <a:outerShdw blurRad="38100" dist="38100" dir="2700000" algn="tl">
                    <a:srgbClr val="000000"/>
                  </a:outerShdw>
                </a:effectLst>
                <a:uLnTx/>
                <a:uFillTx/>
                <a:sym typeface="+mn-ea"/>
              </a:rPr>
              <a:t>；只有当这行为方式成为他性格中的固定要素时，他才可以说是有德的。德是伦理上的造诣。</a:t>
            </a:r>
            <a:r>
              <a:rPr lang="en-US" altLang="zh-CN" sz="2400" kern="0" noProof="0" dirty="0">
                <a:ln>
                  <a:noFill/>
                </a:ln>
                <a:effectLst>
                  <a:outerShdw blurRad="38100" dist="38100" dir="2700000" algn="tl">
                    <a:srgbClr val="000000"/>
                  </a:outerShdw>
                </a:effectLst>
                <a:uLnTx/>
                <a:uFillTx/>
                <a:sym typeface="+mn-ea"/>
              </a:rPr>
              <a:t>”（§150）德的学说不是单纯的义务论，它包含着具有自然规定性的人的个性，所以它是一部“精神自然史”。</a:t>
            </a:r>
            <a:endParaRPr lang="zh-CN" altLang="en-US" sz="24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br>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伦理是人的第二自然</a:t>
            </a:r>
            <a:br>
              <a:rPr kumimoji="0" lang="zh-CN" altLang="en-US"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br>
            <a:endParaRPr lang="zh-CN" altLang="en-US" dirty="0"/>
          </a:p>
        </p:txBody>
      </p:sp>
      <p:sp>
        <p:nvSpPr>
          <p:cNvPr id="3" name="文本框 2"/>
          <p:cNvSpPr txBox="1"/>
          <p:nvPr/>
        </p:nvSpPr>
        <p:spPr>
          <a:xfrm>
            <a:off x="532765" y="1196975"/>
            <a:ext cx="10821670" cy="3107690"/>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lang="en-US" altLang="zh-CN" kern="0" noProof="0" dirty="0">
                <a:ln>
                  <a:noFill/>
                </a:ln>
                <a:effectLst>
                  <a:outerShdw blurRad="38100" dist="38100" dir="2700000" algn="tl">
                    <a:srgbClr val="000000"/>
                  </a:outerShdw>
                </a:effectLst>
                <a:uLnTx/>
                <a:uFillTx/>
                <a:sym typeface="+mn-ea"/>
              </a:rPr>
              <a:t>     </a:t>
            </a:r>
            <a:r>
              <a:rPr lang="en-US" altLang="zh-CN" sz="2800" kern="0" noProof="0" dirty="0">
                <a:ln>
                  <a:noFill/>
                </a:ln>
                <a:effectLst>
                  <a:outerShdw blurRad="38100" dist="38100" dir="2700000" algn="tl">
                    <a:srgbClr val="000000"/>
                  </a:outerShdw>
                </a:effectLst>
                <a:uLnTx/>
                <a:uFillTx/>
                <a:sym typeface="+mn-ea"/>
              </a:rPr>
              <a:t> </a:t>
            </a:r>
            <a:r>
              <a:rPr lang="zh-CN" altLang="en-US" sz="2800" kern="0" noProof="0" dirty="0">
                <a:ln>
                  <a:noFill/>
                </a:ln>
                <a:effectLst>
                  <a:outerShdw blurRad="38100" dist="38100" dir="2700000" algn="tl">
                    <a:srgbClr val="000000"/>
                  </a:outerShdw>
                </a:effectLst>
                <a:uLnTx/>
                <a:uFillTx/>
                <a:sym typeface="+mn-ea"/>
              </a:rPr>
              <a:t>伦理除表现为义务、德性之外，还表现为习俗。当一个社会的伦理要求成为个人的普遍行为方式时，它就成了风尚。风尚是人的第二天性，如果说德是一种苦心造诣培养出来的个人品质的话，风尚则是伦理已经化为大家的行为，德是伟大的品质，风尚是普遍的操行。“对伦理事物的习惯，成为取代纯粹自然意志的第二天性，它是渗透在习惯定在中的灵魂，是习惯定在的意义和现实。”（</a:t>
            </a:r>
            <a:r>
              <a:rPr lang="en-US" altLang="zh-CN" sz="2800" kern="0" noProof="0" dirty="0">
                <a:ln>
                  <a:noFill/>
                </a:ln>
                <a:effectLst>
                  <a:outerShdw blurRad="38100" dist="38100" dir="2700000" algn="tl">
                    <a:srgbClr val="000000"/>
                  </a:outerShdw>
                </a:effectLst>
                <a:uLnTx/>
                <a:uFillTx/>
                <a:sym typeface="+mn-ea"/>
              </a:rPr>
              <a:t>§</a:t>
            </a:r>
            <a:r>
              <a:rPr lang="en-US" sz="2800" kern="0" noProof="0" dirty="0">
                <a:ln>
                  <a:noFill/>
                </a:ln>
                <a:effectLst>
                  <a:outerShdw blurRad="38100" dist="38100" dir="2700000" algn="tl">
                    <a:srgbClr val="000000"/>
                  </a:outerShdw>
                </a:effectLst>
                <a:uLnTx/>
                <a:uFillTx/>
                <a:sym typeface="+mn-ea"/>
              </a:rPr>
              <a:t>151</a:t>
            </a:r>
            <a:r>
              <a:rPr lang="zh-CN" altLang="en-US" sz="2800" kern="0" noProof="0" dirty="0">
                <a:ln>
                  <a:noFill/>
                </a:ln>
                <a:effectLst>
                  <a:outerShdw blurRad="38100" dist="38100" dir="2700000" algn="tl">
                    <a:srgbClr val="000000"/>
                  </a:outerShdw>
                </a:effectLst>
                <a:uLnTx/>
                <a:uFillTx/>
                <a:sym typeface="+mn-ea"/>
              </a:rPr>
              <a:t>，页</a:t>
            </a:r>
            <a:r>
              <a:rPr lang="en-US" sz="2800" kern="0" noProof="0" dirty="0">
                <a:ln>
                  <a:noFill/>
                </a:ln>
                <a:effectLst>
                  <a:outerShdw blurRad="38100" dist="38100" dir="2700000" algn="tl">
                    <a:srgbClr val="000000"/>
                  </a:outerShdw>
                </a:effectLst>
                <a:uLnTx/>
                <a:uFillTx/>
                <a:sym typeface="+mn-ea"/>
              </a:rPr>
              <a:t>170</a:t>
            </a:r>
            <a:r>
              <a:rPr lang="zh-CN" altLang="en-US" sz="2800" kern="0" noProof="0" dirty="0">
                <a:ln>
                  <a:noFill/>
                </a:ln>
                <a:effectLst>
                  <a:outerShdw blurRad="38100" dist="38100" dir="2700000" algn="tl">
                    <a:srgbClr val="000000"/>
                  </a:outerShdw>
                </a:effectLst>
                <a:uLnTx/>
                <a:uFillTx/>
                <a:sym typeface="+mn-ea"/>
              </a:rPr>
              <a:t>）</a:t>
            </a:r>
            <a:endParaRPr lang="zh-CN" altLang="en-US" sz="2800" dirty="0"/>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教育是使人合乎伦理的一门艺术</a:t>
            </a:r>
            <a:endParaRPr lang="zh-CN" altLang="en-US" dirty="0"/>
          </a:p>
        </p:txBody>
      </p:sp>
      <p:sp>
        <p:nvSpPr>
          <p:cNvPr id="3" name="文本框 2"/>
          <p:cNvSpPr txBox="1"/>
          <p:nvPr/>
        </p:nvSpPr>
        <p:spPr>
          <a:xfrm>
            <a:off x="532130" y="1106805"/>
            <a:ext cx="10972800" cy="5323205"/>
          </a:xfrm>
          <a:prstGeom prst="rect">
            <a:avLst/>
          </a:prstGeom>
          <a:noFill/>
        </p:spPr>
        <p:txBody>
          <a:bodyPr wrap="square" rtlCol="0">
            <a:spAutoFit/>
          </a:bodyPr>
          <a:lstStyle/>
          <a:p>
            <a:r>
              <a:rPr lang="zh-CN" altLang="en-US" sz="2000" dirty="0">
                <a:effectLst/>
                <a:latin typeface="华文中宋" panose="02010600040101010101" charset="-122"/>
                <a:ea typeface="华文中宋" panose="02010600040101010101" charset="-122"/>
                <a:cs typeface="华文中宋" panose="02010600040101010101" charset="-122"/>
              </a:rPr>
              <a:t>中国著名哲学家冯契曾提出一个命题：化知识为德性。传统的德性是自然之德，是习俗，现代人要求运用自己的理性和判断，从而获得关于社会规范的知识。正如苏格拉底所说：德性即知识。但是，仅仅有道德的知识是不够的。一个人知善未必行善，未必有行善的动机。只有通过教育和社会生活的陶冶，化知识为德性，才能获得主动性。</a:t>
            </a:r>
          </a:p>
          <a:p>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黑格尔的哲学可以理解为教化哲学，即一个人通过熟悉各种观念和精神事物，逐渐从肉体的自然的人变成社会的精神的主体，摆脱人的生命的自然限制，获得自由行动的意志和力量。自由不再于遗世独立，而在于领悟伦理生活的真谛并获得自如行动的能力。教化（</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bildung),</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类似于英文的</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cultivation. </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这个词有两个词源，一是拉丁语的</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cultus</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，有照顾、培养、陶冶的意思，这层含义在西方通过</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liberal education</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得到传承，另一个词源是</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formation,</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即塑形，形成，指与时俱进的变化和发展。两个词的含义结合起来就是通过培养和陶冶而获得一定的形式。 在人的教化中，教育起到重要的作用。教育是人的再生，使它原来的天性转变为另一种天性，即精神的天性。一旦实现了这一天，自然意志与主观意志之间的对立就消失了。（</a:t>
            </a:r>
            <a:r>
              <a:rPr 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151</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a:t>
            </a:r>
            <a:r>
              <a:rPr 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171)</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 </a:t>
            </a:r>
            <a:r>
              <a:rPr lang="en-US" altLang="zh-CN" sz="2000" kern="0" noProof="0" dirty="0" err="1">
                <a:ln>
                  <a:noFill/>
                </a:ln>
                <a:effectLst/>
                <a:uLnTx/>
                <a:uFillTx/>
                <a:latin typeface="华文中宋" panose="02010600040101010101" charset="-122"/>
                <a:ea typeface="华文中宋" panose="02010600040101010101" charset="-122"/>
                <a:cs typeface="华文中宋" panose="02010600040101010101" charset="-122"/>
                <a:sym typeface="+mn-ea"/>
              </a:rPr>
              <a:t>如何在伦理上教育子女</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sz="2000" kern="0" noProof="0" dirty="0" err="1">
                <a:ln>
                  <a:noFill/>
                </a:ln>
                <a:effectLst/>
                <a:uLnTx/>
                <a:uFillTx/>
                <a:latin typeface="华文中宋" panose="02010600040101010101" charset="-122"/>
                <a:ea typeface="华文中宋" panose="02010600040101010101" charset="-122"/>
                <a:cs typeface="华文中宋" panose="02010600040101010101" charset="-122"/>
                <a:sym typeface="+mn-ea"/>
              </a:rPr>
              <a:t>使他成为一个具有良好法律的国家的公民</a:t>
            </a:r>
            <a:r>
              <a:rPr lang="en-US" altLang="zh-CN"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。”（153，172</a:t>
            </a:r>
            <a:r>
              <a:rPr lang="zh-CN" altLang="en-US" sz="2000" kern="0" noProof="0" dirty="0">
                <a:ln>
                  <a:noFill/>
                </a:ln>
                <a:effectLst/>
                <a:uLnTx/>
                <a:uFillTx/>
                <a:latin typeface="华文中宋" panose="02010600040101010101" charset="-122"/>
                <a:ea typeface="华文中宋" panose="02010600040101010101" charset="-122"/>
                <a:cs typeface="华文中宋" panose="02010600040101010101" charset="-122"/>
                <a:sym typeface="+mn-ea"/>
              </a:rPr>
              <a:t>）伦理领域既是社会领域，也是自我教化的领域，通过伦理生活，人日益消除其自然生命的粗野性和任意性，成为精神性的存在，从而能够自觉自愿地过一种合理的生活。</a:t>
            </a:r>
            <a:endParaRPr kumimoji="0" lang="en-US" altLang="zh-CN" sz="2000" i="0" u="none" strike="noStrike" kern="0" cap="none" spc="0" normalizeH="0" baseline="0" noProof="0" dirty="0">
              <a:ln>
                <a:noFill/>
              </a:ln>
              <a:solidFill>
                <a:schemeClr val="tx1"/>
              </a:solidFill>
              <a:effectLst/>
              <a:uLnTx/>
              <a:uFillTx/>
              <a:latin typeface="华文中宋" panose="02010600040101010101" charset="-122"/>
              <a:ea typeface="华文中宋" panose="02010600040101010101" charset="-122"/>
              <a:cs typeface="华文中宋" panose="02010600040101010101" charset="-122"/>
            </a:endParaRPr>
          </a:p>
          <a:p>
            <a:endParaRPr lang="zh-CN" altLang="en-US" sz="2000" dirty="0">
              <a:latin typeface="华文中宋" panose="02010600040101010101" charset="-122"/>
              <a:ea typeface="华文中宋" panose="02010600040101010101" charset="-122"/>
              <a:cs typeface="华文中宋" panose="02010600040101010101" charset="-122"/>
            </a:endParaRPr>
          </a:p>
          <a:p>
            <a:endParaRPr lang="zh-CN" altLang="en-US" sz="2000" dirty="0">
              <a:latin typeface="华文中宋" panose="02010600040101010101" charset="-122"/>
              <a:ea typeface="华文中宋" panose="02010600040101010101" charset="-122"/>
              <a:cs typeface="华文中宋" panose="02010600040101010101" charset="-122"/>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习惯是人生的指南</a:t>
            </a:r>
            <a:endParaRPr lang="zh-CN" altLang="en-US"/>
          </a:p>
        </p:txBody>
      </p:sp>
      <p:sp>
        <p:nvSpPr>
          <p:cNvPr id="3" name="文本框 2"/>
          <p:cNvSpPr txBox="1"/>
          <p:nvPr/>
        </p:nvSpPr>
        <p:spPr>
          <a:xfrm>
            <a:off x="517525" y="1089660"/>
            <a:ext cx="10835640" cy="659066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400" kern="0" noProof="0" dirty="0">
                <a:ln>
                  <a:noFill/>
                </a:ln>
                <a:effectLst>
                  <a:outerShdw blurRad="38100" dist="38100" dir="2700000" algn="tl">
                    <a:srgbClr val="000000"/>
                  </a:outerShdw>
                </a:effectLst>
                <a:uLnTx/>
                <a:uFillTx/>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教育的本质在于把精神转变为个人的习惯。休谟曾说：</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习惯是人生的伟大的指南</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黑格尔曾进行批判</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在认识论上，习惯不能提供确定的知识，但并不影响黑格尔在伦理上肯定习惯的价值</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习惯对伦理来说具有双重意义</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在习惯中，自然意志与主观意志的对立消失了，主体内部斗争平息了，于是习惯成为伦理的一部分</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它成了抵制任性的力量</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但是，生于习惯者必死于习惯</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如果耽溺于习惯</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完全放弃主观意识，</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err="1">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主观意识与精神生活之间的对立也就消失了，这时他就死了</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。”（§151，页171）因此，习惯对伦理来说具有双重意义。</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黑格尔强调，伦理不能缺少主观性，但是“个人主观地规定为自由的权利，只有在个人属于伦理性的现实时，才能得到实现，因为只有在这种客观性中，个人对自由的确信才具有真理性，也只有在伦理中个人才实际占有他本身的实质和他的内在本质。”（</a:t>
            </a:r>
            <a:r>
              <a:rPr 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153</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）“成为良好国家的公民，才能获得自己的权利。”</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§153</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lang="zh-CN" altLang="en-US" sz="280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solidFill>
                  <a:schemeClr val="tx2"/>
                </a:solidFill>
                <a:effectLst>
                  <a:outerShdw blurRad="38100" dist="38100" dir="2700000" algn="tl">
                    <a:srgbClr val="000000"/>
                  </a:outerShdw>
                </a:effectLst>
                <a:uLnTx/>
                <a:uFillTx/>
                <a:latin typeface="+mj-lt"/>
                <a:ea typeface="+mj-ea"/>
                <a:sym typeface="+mn-ea"/>
              </a:rPr>
              <a:t>伦理领域：家庭、市民社会和国家</a:t>
            </a:r>
            <a:endParaRPr lang="zh-CN" altLang="en-US"/>
          </a:p>
        </p:txBody>
      </p:sp>
      <p:sp>
        <p:nvSpPr>
          <p:cNvPr id="3" name="文本框 2"/>
          <p:cNvSpPr txBox="1"/>
          <p:nvPr/>
        </p:nvSpPr>
        <p:spPr>
          <a:xfrm>
            <a:off x="455930" y="986155"/>
            <a:ext cx="10897870" cy="543369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800" kern="0" noProof="0" dirty="0">
                <a:ln>
                  <a:noFill/>
                </a:ln>
                <a:effectLst>
                  <a:outerShdw blurRad="38100" dist="38100" dir="2700000" algn="tl">
                    <a:srgbClr val="000000"/>
                  </a:outerShdw>
                </a:effectLst>
                <a:uLnTx/>
                <a:uFillTx/>
                <a:sym typeface="+mn-ea"/>
              </a:rPr>
              <a:t>伦理三阶段的划分</a:t>
            </a:r>
            <a:r>
              <a:rPr lang="zh-CN" altLang="en-US" sz="2800" kern="0" noProof="0" dirty="0">
                <a:ln>
                  <a:noFill/>
                </a:ln>
                <a:effectLst>
                  <a:outerShdw blurRad="38100" dist="38100" dir="2700000" algn="tl">
                    <a:srgbClr val="000000"/>
                  </a:outerShdw>
                </a:effectLst>
                <a:uLnTx/>
                <a:uFillTx/>
                <a:sym typeface="Wingdings" panose="05000000000000000000" pitchFamily="2" charset="2"/>
              </a:rPr>
              <a:t>（</a:t>
            </a:r>
            <a:r>
              <a:rPr lang="en-US" altLang="zh-CN" sz="2800" kern="0" noProof="0" dirty="0">
                <a:ln>
                  <a:noFill/>
                </a:ln>
                <a:effectLst>
                  <a:outerShdw blurRad="38100" dist="38100" dir="2700000" algn="tl">
                    <a:srgbClr val="000000"/>
                  </a:outerShdw>
                </a:effectLst>
                <a:uLnTx/>
                <a:uFillTx/>
                <a:sym typeface="+mn-ea"/>
              </a:rPr>
              <a:t>§157） </a:t>
            </a:r>
            <a:r>
              <a:rPr lang="zh-CN" altLang="en-US" sz="2800" kern="0" noProof="0" dirty="0">
                <a:ln>
                  <a:noFill/>
                </a:ln>
                <a:effectLst>
                  <a:outerShdw blurRad="38100" dist="38100" dir="2700000" algn="tl">
                    <a:srgbClr val="000000"/>
                  </a:outerShdw>
                </a:effectLst>
                <a:uLnTx/>
                <a:uFillTx/>
                <a:sym typeface="+mn-ea"/>
              </a:rPr>
              <a:t>伦理是理念自我规定的系统，是调整个人生活的伦理力量，由于人生活在不同的社会关系之中，伦理生活也区分为不同的形式。家庭是自然的伦理，市民社会是自然伦理共同体的解体，是伦理的否定。国家是伦理的最高形式，是伦理的恢复。</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lang="zh-CN" altLang="en-US" sz="2800" kern="0" noProof="0" dirty="0">
                <a:ln>
                  <a:noFill/>
                </a:ln>
                <a:effectLst>
                  <a:outerShdw blurRad="38100" dist="38100" dir="2700000" algn="tl">
                    <a:srgbClr val="000000"/>
                  </a:outerShdw>
                </a:effectLst>
                <a:uLnTx/>
                <a:uFillTx/>
                <a:sym typeface="+mn-ea"/>
              </a:rPr>
              <a:t>黑格尔设想的社会模式的魅力在于它试图区分家庭、市场和国家，既保存人的消极自由权利，同时又通过国家的伦理化为人提供超越利己动机的共同目的。国家不能取代市场，市场也不取代国家，它们在规范意义都是人类实现自由的方式。这一社会理论模型既优于自由主义，也优于传统的社会主义。它可以为我们提供一条走出集权和无政府之间相互对立的出路。</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lang="zh-CN" altLang="en-US" sz="280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4337836" y="1629000"/>
            <a:ext cx="3600000" cy="3600000"/>
          </a:xfrm>
          <a:prstGeom prst="ellipse">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9509" y="2828835"/>
            <a:ext cx="3236655" cy="1200329"/>
          </a:xfrm>
          <a:prstGeom prst="rect">
            <a:avLst/>
          </a:prstGeom>
          <a:noFill/>
        </p:spPr>
        <p:txBody>
          <a:bodyPr wrap="none" rtlCol="0">
            <a:spAutoFit/>
          </a:bodyPr>
          <a:lstStyle/>
          <a:p>
            <a:pPr algn="ctr"/>
            <a:r>
              <a:rPr lang="en-US" altLang="zh-CN" sz="7200" dirty="0">
                <a:solidFill>
                  <a:schemeClr val="bg1"/>
                </a:solidFill>
              </a:rPr>
              <a:t>THANKS</a:t>
            </a:r>
            <a:endParaRPr lang="zh-CN" altLang="en-US" sz="7200" dirty="0">
              <a:solidFill>
                <a:schemeClr val="bg1"/>
              </a:solidFill>
            </a:endParaRPr>
          </a:p>
        </p:txBody>
      </p:sp>
      <p:cxnSp>
        <p:nvCxnSpPr>
          <p:cNvPr id="7" name="直接连接符 6"/>
          <p:cNvCxnSpPr/>
          <p:nvPr/>
        </p:nvCxnSpPr>
        <p:spPr>
          <a:xfrm>
            <a:off x="4697836" y="2828835"/>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697836" y="4029164"/>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436036" y="1743300"/>
            <a:ext cx="3403600" cy="3403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d5c71f52-d7af-4fa1-9bc6-0afe9d7536ad"/>
  <p:tag name="COMMONDATA" val="eyJoZGlkIjoiNzdlMGYxYjJhZTJiODk5ZTMxMDY3MjdhNDBiZDczZW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TANDARD">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3979</Words>
  <Application>Microsoft Office PowerPoint</Application>
  <PresentationFormat>宽屏</PresentationFormat>
  <Paragraphs>62</Paragraphs>
  <Slides>22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华文中宋</vt:lpstr>
      <vt:lpstr>宋体</vt:lpstr>
      <vt:lpstr>微软雅黑</vt:lpstr>
      <vt:lpstr>Arial</vt:lpstr>
      <vt:lpstr>Calibri</vt:lpstr>
      <vt:lpstr>Wingdings</vt:lpstr>
      <vt:lpstr>Office 主题</vt:lpstr>
      <vt:lpstr>从道德到伦理</vt:lpstr>
      <vt:lpstr>道德的局限性</vt:lpstr>
      <vt:lpstr>道德是空洞的形式自由</vt:lpstr>
      <vt:lpstr>主观自由的辩证法</vt:lpstr>
      <vt:lpstr>伦理的观点</vt:lpstr>
      <vt:lpstr>伦理是对抽象法与道德片面性的扬弃</vt:lpstr>
      <vt:lpstr>什么是伦理？</vt:lpstr>
      <vt:lpstr>伦理就自由人的共同体</vt:lpstr>
      <vt:lpstr> 伦理是对象化为现实世界的自由 </vt:lpstr>
      <vt:lpstr>伦理与个人的关系</vt:lpstr>
      <vt:lpstr> 伦理是实体，个人是偶性 </vt:lpstr>
      <vt:lpstr>个人在伦理中认出自己</vt:lpstr>
      <vt:lpstr>伦理是必须履行的义务</vt:lpstr>
      <vt:lpstr>伦理是权利与义务的统一</vt:lpstr>
      <vt:lpstr>在义务中获得解放</vt:lpstr>
      <vt:lpstr>伦理是人的第二自然</vt:lpstr>
      <vt:lpstr>伦理既是义务也是德性</vt:lpstr>
      <vt:lpstr> 伦理是人的第二自然 </vt:lpstr>
      <vt:lpstr>教育是使人合乎伦理的一门艺术</vt:lpstr>
      <vt:lpstr>习惯是人生的指南</vt:lpstr>
      <vt:lpstr>伦理领域：家庭、市民社会和国家</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Ryan Lee</dc:creator>
  <cp:lastModifiedBy>lance lee</cp:lastModifiedBy>
  <cp:revision>66</cp:revision>
  <dcterms:created xsi:type="dcterms:W3CDTF">2014-04-01T11:22:00Z</dcterms:created>
  <dcterms:modified xsi:type="dcterms:W3CDTF">2024-04-23T12:11:29Z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28F5C98A016F43EAA44678429820775B_12</vt:lpwstr>
  </property>
</Properties>
</file>
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01" r:id="rId2"/>
    <p:sldId id="271" r:id="rId3"/>
    <p:sldId id="258" r:id="rId4"/>
    <p:sldId id="323" r:id="rId5"/>
    <p:sldId id="337" r:id="rId6"/>
    <p:sldId id="338" r:id="rId7"/>
    <p:sldId id="340" r:id="rId8"/>
    <p:sldId id="339" r:id="rId9"/>
    <p:sldId id="302" r:id="rId10"/>
    <p:sldId id="324" r:id="rId11"/>
    <p:sldId id="325" r:id="rId12"/>
    <p:sldId id="326" r:id="rId13"/>
    <p:sldId id="303" r:id="rId14"/>
    <p:sldId id="327" r:id="rId15"/>
    <p:sldId id="328" r:id="rId16"/>
    <p:sldId id="329" r:id="rId17"/>
    <p:sldId id="341" r:id="rId18"/>
    <p:sldId id="342" r:id="rId19"/>
    <p:sldId id="343" r:id="rId20"/>
    <p:sldId id="344" r:id="rId21"/>
    <p:sldId id="273"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p15:clr>
            <a:srgbClr val="A4A3A4"/>
          </p15:clr>
        </p15:guide>
        <p15:guide id="2" pos="381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F8A"/>
    <a:srgbClr val="335899"/>
    <a:srgbClr val="3F6AB7"/>
    <a:srgbClr val="7991CE"/>
    <a:srgbClr val="B3BEDF"/>
    <a:srgbClr val="0171C5"/>
    <a:srgbClr val="7E3A66"/>
    <a:srgbClr val="7E6CC3"/>
    <a:srgbClr val="68578F"/>
    <a:srgbClr val="3F57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29" autoAdjust="0"/>
    <p:restoredTop sz="94660"/>
  </p:normalViewPr>
  <p:slideViewPr>
    <p:cSldViewPr snapToGrid="0" showGuides="1">
      <p:cViewPr varScale="1">
        <p:scale>
          <a:sx n="66" d="100"/>
          <a:sy n="66" d="100"/>
        </p:scale>
        <p:origin x="916" y="32"/>
      </p:cViewPr>
      <p:guideLst>
        <p:guide orient="horz" pos="2137"/>
        <p:guide pos="3817"/>
      </p:guideLst>
    </p:cSldViewPr>
  </p:slideViewPr>
  <p:notesTextViewPr>
    <p:cViewPr>
      <p:scale>
        <a:sx n="1" d="1"/>
        <a:sy n="1" d="1"/>
      </p:scale>
      <p:origin x="0" y="0"/>
    </p:cViewPr>
  </p:notesTextViewPr>
  <p:sorterViewPr>
    <p:cViewPr>
      <p:scale>
        <a:sx n="60" d="100"/>
        <a:sy n="6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圆角矩形 6"/>
          <p:cNvSpPr/>
          <p:nvPr userDrawn="1"/>
        </p:nvSpPr>
        <p:spPr>
          <a:xfrm>
            <a:off x="2019869" y="5501898"/>
            <a:ext cx="10172131" cy="1284102"/>
          </a:xfrm>
          <a:prstGeom prst="roundRect">
            <a:avLst>
              <a:gd name="adj" fmla="val 0"/>
            </a:avLst>
          </a:prstGeom>
          <a:solidFill>
            <a:srgbClr val="004F8A">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7"/>
          <p:cNvSpPr/>
          <p:nvPr userDrawn="1"/>
        </p:nvSpPr>
        <p:spPr>
          <a:xfrm>
            <a:off x="0" y="5501898"/>
            <a:ext cx="3048000" cy="1284102"/>
          </a:xfrm>
          <a:custGeom>
            <a:avLst/>
            <a:gdLst>
              <a:gd name="connsiteX0" fmla="*/ 0 w 3036468"/>
              <a:gd name="connsiteY0" fmla="*/ 0 h 1800000"/>
              <a:gd name="connsiteX1" fmla="*/ 3036468 w 3036468"/>
              <a:gd name="connsiteY1" fmla="*/ 0 h 1800000"/>
              <a:gd name="connsiteX2" fmla="*/ 2061536 w 3036468"/>
              <a:gd name="connsiteY2" fmla="*/ 1800000 h 1800000"/>
              <a:gd name="connsiteX3" fmla="*/ 0 w 3036468"/>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3036468" h="1800000">
                <a:moveTo>
                  <a:pt x="0" y="0"/>
                </a:moveTo>
                <a:lnTo>
                  <a:pt x="3036468" y="0"/>
                </a:lnTo>
                <a:lnTo>
                  <a:pt x="2061536" y="1800000"/>
                </a:lnTo>
                <a:lnTo>
                  <a:pt x="0" y="1800000"/>
                </a:lnTo>
                <a:close/>
              </a:path>
            </a:pathLst>
          </a:cu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0" y="5429898"/>
            <a:ext cx="12192000" cy="72000"/>
          </a:xfrm>
          <a:prstGeom prst="rect">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0" y="6786000"/>
            <a:ext cx="12192000" cy="72000"/>
          </a:xfrm>
          <a:prstGeom prst="rect">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2743201" y="5970198"/>
            <a:ext cx="9448799" cy="522360"/>
          </a:xfrm>
        </p:spPr>
        <p:txBody>
          <a:bodyPr anchor="ctr"/>
          <a:lstStyle>
            <a:lvl1pPr algn="l">
              <a:defRPr sz="6000"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p>
            <a:fld id="{807DB26E-7550-4A68-B9ED-0930F4C79F79}" type="datetimeFigureOut">
              <a:rPr lang="zh-CN" altLang="en-US" smtClean="0"/>
              <a:t>2024/4/8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1BC2DF-976F-4C49-92B9-E79BD60CFE9D}" type="slidenum">
              <a:rPr lang="zh-CN" altLang="en-US" smtClean="0"/>
              <a:t>‹#›</a:t>
            </a:fld>
            <a:endParaRPr lang="zh-CN" altLang="en-US"/>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0362" y="5611454"/>
            <a:ext cx="1100407" cy="110364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 name="任意多边形 9"/>
          <p:cNvSpPr/>
          <p:nvPr userDrawn="1"/>
        </p:nvSpPr>
        <p:spPr>
          <a:xfrm>
            <a:off x="0" y="72000"/>
            <a:ext cx="1095825" cy="914400"/>
          </a:xfrm>
          <a:custGeom>
            <a:avLst/>
            <a:gdLst>
              <a:gd name="connsiteX0" fmla="*/ 0 w 1095825"/>
              <a:gd name="connsiteY0" fmla="*/ 0 h 914400"/>
              <a:gd name="connsiteX1" fmla="*/ 1095825 w 1095825"/>
              <a:gd name="connsiteY1" fmla="*/ 0 h 914400"/>
              <a:gd name="connsiteX2" fmla="*/ 608144 w 1095825"/>
              <a:gd name="connsiteY2" fmla="*/ 914400 h 914400"/>
              <a:gd name="connsiteX3" fmla="*/ 0 w 1095825"/>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1095825" h="914400">
                <a:moveTo>
                  <a:pt x="0" y="0"/>
                </a:moveTo>
                <a:lnTo>
                  <a:pt x="1095825" y="0"/>
                </a:lnTo>
                <a:lnTo>
                  <a:pt x="608144" y="914400"/>
                </a:lnTo>
                <a:lnTo>
                  <a:pt x="0" y="914400"/>
                </a:lnTo>
                <a:close/>
              </a:path>
            </a:pathLst>
          </a:cu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0" y="0"/>
            <a:ext cx="12192000" cy="720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095824" y="72000"/>
            <a:ext cx="10257975" cy="914400"/>
          </a:xfrm>
        </p:spPr>
        <p:txBody>
          <a:bodyPr/>
          <a:lstStyle>
            <a:lvl1pPr>
              <a:defRPr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807DB26E-7550-4A68-B9ED-0930F4C79F79}" type="datetimeFigureOut">
              <a:rPr lang="zh-CN" altLang="en-US" smtClean="0"/>
              <a:t>2024/4/8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1BC2DF-976F-4C49-92B9-E79BD60CFE9D}" type="slidenum">
              <a:rPr lang="zh-CN" altLang="en-US" smtClean="0"/>
              <a:t>‹#›</a:t>
            </a:fld>
            <a:endParaRPr lang="zh-CN" altLang="en-US"/>
          </a:p>
        </p:txBody>
      </p:sp>
      <p:sp>
        <p:nvSpPr>
          <p:cNvPr id="11" name="矩形 10"/>
          <p:cNvSpPr/>
          <p:nvPr userDrawn="1"/>
        </p:nvSpPr>
        <p:spPr>
          <a:xfrm>
            <a:off x="0" y="6786000"/>
            <a:ext cx="12192000" cy="720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6662" y="238790"/>
            <a:ext cx="528467" cy="530020"/>
          </a:xfrm>
          <a:prstGeom prst="rect">
            <a:avLst/>
          </a:prstGeom>
        </p:spPr>
      </p:pic>
      <p:sp>
        <p:nvSpPr>
          <p:cNvPr id="7" name="矩形 6"/>
          <p:cNvSpPr/>
          <p:nvPr userDrawn="1"/>
        </p:nvSpPr>
        <p:spPr>
          <a:xfrm>
            <a:off x="7945120" y="6014720"/>
            <a:ext cx="4246880" cy="706755"/>
          </a:xfrm>
          <a:prstGeom prst="rect">
            <a:avLst/>
          </a:prstGeom>
          <a:noFill/>
          <a:ln>
            <a:noFill/>
          </a:ln>
        </p:spPr>
        <p:txBody>
          <a:bodyPr wrap="none" rtlCol="0" anchor="t">
            <a:spAutoFit/>
          </a:bodyPr>
          <a:lstStyle/>
          <a:p>
            <a:pPr algn="ctr"/>
            <a:r>
              <a:rPr lang="zh-CN" altLang="en-US" sz="4000" b="1">
                <a:solidFill>
                  <a:schemeClr val="bg2"/>
                </a:solidFill>
                <a:effectLst>
                  <a:innerShdw blurRad="63500" dist="50800" dir="13500000">
                    <a:srgbClr val="000000">
                      <a:alpha val="50000"/>
                    </a:srgbClr>
                  </a:innerShdw>
                </a:effectLst>
              </a:rPr>
              <a:t>复旦大学版权所有</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rgbClr val="004F8A"/>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lgn="ctr">
              <a:defRPr sz="6000">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p>
            <a:fld id="{807DB26E-7550-4A68-B9ED-0930F4C79F79}" type="datetimeFigureOut">
              <a:rPr lang="zh-CN" altLang="en-US" smtClean="0"/>
              <a:t>2024/4/8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1BC2DF-976F-4C49-92B9-E79BD60CFE9D}" type="slidenum">
              <a:rPr lang="zh-CN" altLang="en-US" smtClean="0"/>
              <a:t>‹#›</a:t>
            </a:fld>
            <a:endParaRPr lang="zh-CN" altLang="en-US"/>
          </a:p>
        </p:txBody>
      </p:sp>
      <p:sp>
        <p:nvSpPr>
          <p:cNvPr id="9" name="图片占位符 8"/>
          <p:cNvSpPr>
            <a:spLocks noGrp="1"/>
          </p:cNvSpPr>
          <p:nvPr>
            <p:ph type="pic" sz="quarter" idx="13"/>
          </p:nvPr>
        </p:nvSpPr>
        <p:spPr>
          <a:xfrm>
            <a:off x="0" y="0"/>
            <a:ext cx="6813176" cy="6858000"/>
          </a:xfrm>
          <a:ln>
            <a:noFill/>
          </a:ln>
        </p:spPr>
        <p:txBody>
          <a:bodyPr/>
          <a:lstStyle/>
          <a:p>
            <a:endParaRPr lang="zh-CN" altLang="en-US" dirty="0"/>
          </a:p>
        </p:txBody>
      </p:sp>
      <p:sp>
        <p:nvSpPr>
          <p:cNvPr id="7" name="矩形 6"/>
          <p:cNvSpPr/>
          <p:nvPr userDrawn="1"/>
        </p:nvSpPr>
        <p:spPr>
          <a:xfrm>
            <a:off x="7945120" y="6014720"/>
            <a:ext cx="4246880" cy="706755"/>
          </a:xfrm>
          <a:prstGeom prst="rect">
            <a:avLst/>
          </a:prstGeom>
          <a:noFill/>
          <a:ln>
            <a:noFill/>
          </a:ln>
        </p:spPr>
        <p:txBody>
          <a:bodyPr wrap="none" rtlCol="0" anchor="t">
            <a:spAutoFit/>
          </a:bodyPr>
          <a:lstStyle/>
          <a:p>
            <a:pPr algn="ctr"/>
            <a:r>
              <a:rPr lang="zh-CN" altLang="en-US" sz="4000" b="1">
                <a:solidFill>
                  <a:schemeClr val="bg2"/>
                </a:solidFill>
                <a:effectLst>
                  <a:innerShdw blurRad="63500" dist="50800" dir="13500000">
                    <a:srgbClr val="000000">
                      <a:alpha val="50000"/>
                    </a:srgbClr>
                  </a:innerShdw>
                </a:effectLst>
              </a:rPr>
              <a:t>复旦大学版权所有</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8" name="任意多边形 7"/>
          <p:cNvSpPr/>
          <p:nvPr userDrawn="1"/>
        </p:nvSpPr>
        <p:spPr>
          <a:xfrm>
            <a:off x="0" y="72000"/>
            <a:ext cx="1095825" cy="914400"/>
          </a:xfrm>
          <a:custGeom>
            <a:avLst/>
            <a:gdLst>
              <a:gd name="connsiteX0" fmla="*/ 0 w 1095825"/>
              <a:gd name="connsiteY0" fmla="*/ 0 h 914400"/>
              <a:gd name="connsiteX1" fmla="*/ 1095825 w 1095825"/>
              <a:gd name="connsiteY1" fmla="*/ 0 h 914400"/>
              <a:gd name="connsiteX2" fmla="*/ 608144 w 1095825"/>
              <a:gd name="connsiteY2" fmla="*/ 914400 h 914400"/>
              <a:gd name="connsiteX3" fmla="*/ 0 w 1095825"/>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1095825" h="914400">
                <a:moveTo>
                  <a:pt x="0" y="0"/>
                </a:moveTo>
                <a:lnTo>
                  <a:pt x="1095825" y="0"/>
                </a:lnTo>
                <a:lnTo>
                  <a:pt x="608144" y="914400"/>
                </a:lnTo>
                <a:lnTo>
                  <a:pt x="0" y="914400"/>
                </a:lnTo>
                <a:close/>
              </a:path>
            </a:pathLst>
          </a:cu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0" y="0"/>
            <a:ext cx="12192000" cy="720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095824" y="72000"/>
            <a:ext cx="10257975" cy="914400"/>
          </a:xfrm>
        </p:spPr>
        <p:txBody>
          <a:bodyPr/>
          <a:lstStyle>
            <a:lvl1pPr>
              <a:defRPr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807DB26E-7550-4A68-B9ED-0930F4C79F79}" type="datetimeFigureOut">
              <a:rPr lang="zh-CN" altLang="en-US" smtClean="0"/>
              <a:t>2024/4/8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81BC2DF-976F-4C49-92B9-E79BD60CFE9D}" type="slidenum">
              <a:rPr lang="zh-CN" altLang="en-US" smtClean="0"/>
              <a:t>‹#›</a:t>
            </a:fld>
            <a:endParaRPr lang="zh-CN" altLang="en-US"/>
          </a:p>
        </p:txBody>
      </p:sp>
      <p:sp>
        <p:nvSpPr>
          <p:cNvPr id="10" name="矩形 9"/>
          <p:cNvSpPr/>
          <p:nvPr userDrawn="1"/>
        </p:nvSpPr>
        <p:spPr>
          <a:xfrm>
            <a:off x="0" y="6786000"/>
            <a:ext cx="12192000" cy="720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6662" y="238790"/>
            <a:ext cx="528467" cy="530020"/>
          </a:xfrm>
          <a:prstGeom prst="rect">
            <a:avLst/>
          </a:prstGeom>
        </p:spPr>
      </p:pic>
      <p:sp>
        <p:nvSpPr>
          <p:cNvPr id="6" name="矩形 5"/>
          <p:cNvSpPr/>
          <p:nvPr userDrawn="1"/>
        </p:nvSpPr>
        <p:spPr>
          <a:xfrm>
            <a:off x="7858760" y="6079490"/>
            <a:ext cx="4246880" cy="706755"/>
          </a:xfrm>
          <a:prstGeom prst="rect">
            <a:avLst/>
          </a:prstGeom>
          <a:noFill/>
          <a:ln>
            <a:noFill/>
          </a:ln>
        </p:spPr>
        <p:txBody>
          <a:bodyPr wrap="none" rtlCol="0" anchor="t">
            <a:spAutoFit/>
          </a:bodyPr>
          <a:lstStyle/>
          <a:p>
            <a:pPr algn="ctr"/>
            <a:r>
              <a:rPr lang="zh-CN" altLang="en-US" sz="4000" b="1">
                <a:solidFill>
                  <a:schemeClr val="bg2"/>
                </a:solidFill>
                <a:effectLst>
                  <a:innerShdw blurRad="63500" dist="50800" dir="13500000">
                    <a:srgbClr val="000000">
                      <a:alpha val="50000"/>
                    </a:srgbClr>
                  </a:innerShdw>
                </a:effectLst>
              </a:rPr>
              <a:t>复旦大学版权所有</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7DB26E-7550-4A68-B9ED-0930F4C79F79}" type="datetimeFigureOut">
              <a:rPr lang="zh-CN" altLang="en-US" smtClean="0"/>
              <a:t>2024/4/8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81BC2DF-976F-4C49-92B9-E79BD60CFE9D}" type="slidenum">
              <a:rPr lang="zh-CN" altLang="en-US" smtClean="0"/>
              <a:t>‹#›</a:t>
            </a:fld>
            <a:endParaRPr lang="zh-CN" altLang="en-US"/>
          </a:p>
        </p:txBody>
      </p:sp>
      <p:sp>
        <p:nvSpPr>
          <p:cNvPr id="5" name="矩形 4"/>
          <p:cNvSpPr/>
          <p:nvPr userDrawn="1"/>
        </p:nvSpPr>
        <p:spPr>
          <a:xfrm>
            <a:off x="0" y="0"/>
            <a:ext cx="12192000" cy="720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0" y="6786000"/>
            <a:ext cx="12192000" cy="720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a:off x="7945120" y="6014720"/>
            <a:ext cx="4246880" cy="706755"/>
          </a:xfrm>
          <a:prstGeom prst="rect">
            <a:avLst/>
          </a:prstGeom>
          <a:noFill/>
          <a:ln>
            <a:noFill/>
          </a:ln>
        </p:spPr>
        <p:txBody>
          <a:bodyPr wrap="none" rtlCol="0" anchor="t">
            <a:spAutoFit/>
          </a:bodyPr>
          <a:lstStyle/>
          <a:p>
            <a:pPr algn="ctr"/>
            <a:r>
              <a:rPr lang="zh-CN" altLang="en-US" sz="4000" b="1">
                <a:solidFill>
                  <a:schemeClr val="bg2"/>
                </a:solidFill>
                <a:effectLst>
                  <a:innerShdw blurRad="63500" dist="50800" dir="13500000">
                    <a:srgbClr val="000000">
                      <a:alpha val="50000"/>
                    </a:srgbClr>
                  </a:innerShdw>
                </a:effectLst>
              </a:rPr>
              <a:t>复旦大学版权所有</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1_空白">
    <p:bg>
      <p:bgPr>
        <a:solidFill>
          <a:srgbClr val="004F8A"/>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7DB26E-7550-4A68-B9ED-0930F4C79F79}" type="datetimeFigureOut">
              <a:rPr lang="zh-CN" altLang="en-US" smtClean="0"/>
              <a:t>2024/4/8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81BC2DF-976F-4C49-92B9-E79BD60CFE9D}" type="slidenum">
              <a:rPr lang="zh-CN" altLang="en-US" smtClean="0"/>
              <a:t>‹#›</a:t>
            </a:fld>
            <a:endParaRPr lang="zh-CN" altLang="en-US"/>
          </a:p>
        </p:txBody>
      </p:sp>
      <p:sp>
        <p:nvSpPr>
          <p:cNvPr id="7" name="矩形 6"/>
          <p:cNvSpPr/>
          <p:nvPr userDrawn="1"/>
        </p:nvSpPr>
        <p:spPr>
          <a:xfrm>
            <a:off x="7945120" y="6014720"/>
            <a:ext cx="4246880" cy="706755"/>
          </a:xfrm>
          <a:prstGeom prst="rect">
            <a:avLst/>
          </a:prstGeom>
          <a:noFill/>
          <a:ln>
            <a:noFill/>
          </a:ln>
        </p:spPr>
        <p:txBody>
          <a:bodyPr wrap="none" rtlCol="0" anchor="t">
            <a:spAutoFit/>
          </a:bodyPr>
          <a:lstStyle/>
          <a:p>
            <a:pPr algn="ctr"/>
            <a:r>
              <a:rPr lang="zh-CN" altLang="en-US" sz="4000" b="1">
                <a:solidFill>
                  <a:schemeClr val="bg2"/>
                </a:solidFill>
                <a:effectLst>
                  <a:innerShdw blurRad="63500" dist="50800" dir="13500000">
                    <a:srgbClr val="000000">
                      <a:alpha val="50000"/>
                    </a:srgbClr>
                  </a:innerShdw>
                </a:effectLst>
              </a:rPr>
              <a:t>复旦大学版权所有</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10" name="矩形 9"/>
          <p:cNvSpPr/>
          <p:nvPr userDrawn="1"/>
        </p:nvSpPr>
        <p:spPr>
          <a:xfrm>
            <a:off x="-1" y="1"/>
            <a:ext cx="10468725" cy="9525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6096000" y="6108700"/>
            <a:ext cx="6096000" cy="7493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3"/>
          <p:cNvSpPr>
            <a:spLocks noGrp="1"/>
          </p:cNvSpPr>
          <p:nvPr>
            <p:ph type="dt" sz="half" idx="10"/>
          </p:nvPr>
        </p:nvSpPr>
        <p:spPr/>
        <p:txBody>
          <a:bodyPr/>
          <a:lstStyle/>
          <a:p>
            <a:fld id="{72BB5F89-3C37-49A6-B7CC-41D189EEC0B1}" type="datetimeFigureOut">
              <a:rPr lang="zh-CN" altLang="en-US" smtClean="0"/>
              <a:t>2024/4/8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89001C-556A-4238-A7E0-2B72E20C5D72}" type="slidenum">
              <a:rPr lang="zh-CN" altLang="en-US" smtClean="0"/>
              <a:t>‹#›</a:t>
            </a:fld>
            <a:endParaRPr lang="zh-CN" altLang="en-US"/>
          </a:p>
        </p:txBody>
      </p:sp>
      <p:sp>
        <p:nvSpPr>
          <p:cNvPr id="7" name="矩形 6"/>
          <p:cNvSpPr/>
          <p:nvPr userDrawn="1"/>
        </p:nvSpPr>
        <p:spPr>
          <a:xfrm>
            <a:off x="-6350" y="5349875"/>
            <a:ext cx="8286750" cy="1511300"/>
          </a:xfrm>
          <a:custGeom>
            <a:avLst/>
            <a:gdLst>
              <a:gd name="connsiteX0" fmla="*/ 0 w 7404100"/>
              <a:gd name="connsiteY0" fmla="*/ 0 h 1498600"/>
              <a:gd name="connsiteX1" fmla="*/ 7404100 w 7404100"/>
              <a:gd name="connsiteY1" fmla="*/ 0 h 1498600"/>
              <a:gd name="connsiteX2" fmla="*/ 7404100 w 7404100"/>
              <a:gd name="connsiteY2" fmla="*/ 1498600 h 1498600"/>
              <a:gd name="connsiteX3" fmla="*/ 0 w 7404100"/>
              <a:gd name="connsiteY3" fmla="*/ 1498600 h 1498600"/>
              <a:gd name="connsiteX4" fmla="*/ 0 w 7404100"/>
              <a:gd name="connsiteY4" fmla="*/ 0 h 1498600"/>
              <a:gd name="connsiteX0-1" fmla="*/ 0 w 7404100"/>
              <a:gd name="connsiteY0-2" fmla="*/ 0 h 1498600"/>
              <a:gd name="connsiteX1-3" fmla="*/ 6121400 w 7404100"/>
              <a:gd name="connsiteY1-4" fmla="*/ 0 h 1498600"/>
              <a:gd name="connsiteX2-5" fmla="*/ 7404100 w 7404100"/>
              <a:gd name="connsiteY2-6" fmla="*/ 1498600 h 1498600"/>
              <a:gd name="connsiteX3-7" fmla="*/ 0 w 7404100"/>
              <a:gd name="connsiteY3-8" fmla="*/ 1498600 h 1498600"/>
              <a:gd name="connsiteX4-9" fmla="*/ 0 w 7404100"/>
              <a:gd name="connsiteY4-10" fmla="*/ 0 h 1498600"/>
              <a:gd name="connsiteX0-11" fmla="*/ 0 w 8280400"/>
              <a:gd name="connsiteY0-12" fmla="*/ 0 h 1511300"/>
              <a:gd name="connsiteX1-13" fmla="*/ 6121400 w 8280400"/>
              <a:gd name="connsiteY1-14" fmla="*/ 0 h 1511300"/>
              <a:gd name="connsiteX2-15" fmla="*/ 8280400 w 8280400"/>
              <a:gd name="connsiteY2-16" fmla="*/ 1511300 h 1511300"/>
              <a:gd name="connsiteX3-17" fmla="*/ 0 w 8280400"/>
              <a:gd name="connsiteY3-18" fmla="*/ 1498600 h 1511300"/>
              <a:gd name="connsiteX4-19" fmla="*/ 0 w 8280400"/>
              <a:gd name="connsiteY4-20" fmla="*/ 0 h 1511300"/>
              <a:gd name="connsiteX0-21" fmla="*/ 6350 w 8286750"/>
              <a:gd name="connsiteY0-22" fmla="*/ 0 h 1511300"/>
              <a:gd name="connsiteX1-23" fmla="*/ 6127750 w 8286750"/>
              <a:gd name="connsiteY1-24" fmla="*/ 0 h 1511300"/>
              <a:gd name="connsiteX2-25" fmla="*/ 8286750 w 8286750"/>
              <a:gd name="connsiteY2-26" fmla="*/ 1511300 h 1511300"/>
              <a:gd name="connsiteX3-27" fmla="*/ 0 w 8286750"/>
              <a:gd name="connsiteY3-28" fmla="*/ 1504950 h 1511300"/>
              <a:gd name="connsiteX4-29" fmla="*/ 6350 w 8286750"/>
              <a:gd name="connsiteY4-30" fmla="*/ 0 h 15113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286750" h="1511300">
                <a:moveTo>
                  <a:pt x="6350" y="0"/>
                </a:moveTo>
                <a:lnTo>
                  <a:pt x="6127750" y="0"/>
                </a:lnTo>
                <a:lnTo>
                  <a:pt x="8286750" y="1511300"/>
                </a:lnTo>
                <a:lnTo>
                  <a:pt x="0" y="1504950"/>
                </a:lnTo>
                <a:cubicBezTo>
                  <a:pt x="2117" y="1003300"/>
                  <a:pt x="4233" y="501650"/>
                  <a:pt x="6350" y="0"/>
                </a:cubicBezTo>
                <a:close/>
              </a:path>
            </a:pathLst>
          </a:custGeom>
          <a:solidFill>
            <a:srgbClr val="017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10121900" y="0"/>
            <a:ext cx="2070100" cy="825500"/>
          </a:xfrm>
          <a:custGeom>
            <a:avLst/>
            <a:gdLst>
              <a:gd name="connsiteX0" fmla="*/ 0 w 2692400"/>
              <a:gd name="connsiteY0" fmla="*/ 0 h 825500"/>
              <a:gd name="connsiteX1" fmla="*/ 2692400 w 2692400"/>
              <a:gd name="connsiteY1" fmla="*/ 0 h 825500"/>
              <a:gd name="connsiteX2" fmla="*/ 2692400 w 2692400"/>
              <a:gd name="connsiteY2" fmla="*/ 825500 h 825500"/>
              <a:gd name="connsiteX3" fmla="*/ 0 w 2692400"/>
              <a:gd name="connsiteY3" fmla="*/ 825500 h 825500"/>
              <a:gd name="connsiteX4" fmla="*/ 0 w 2692400"/>
              <a:gd name="connsiteY4" fmla="*/ 0 h 825500"/>
              <a:gd name="connsiteX0-1" fmla="*/ 0 w 2692400"/>
              <a:gd name="connsiteY0-2" fmla="*/ 0 h 825500"/>
              <a:gd name="connsiteX1-3" fmla="*/ 2692400 w 2692400"/>
              <a:gd name="connsiteY1-4" fmla="*/ 0 h 825500"/>
              <a:gd name="connsiteX2-5" fmla="*/ 2692400 w 2692400"/>
              <a:gd name="connsiteY2-6" fmla="*/ 825500 h 825500"/>
              <a:gd name="connsiteX3-7" fmla="*/ 965200 w 2692400"/>
              <a:gd name="connsiteY3-8" fmla="*/ 825500 h 825500"/>
              <a:gd name="connsiteX4-9" fmla="*/ 0 w 2692400"/>
              <a:gd name="connsiteY4-10" fmla="*/ 0 h 8255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692400" h="825500">
                <a:moveTo>
                  <a:pt x="0" y="0"/>
                </a:moveTo>
                <a:lnTo>
                  <a:pt x="2692400" y="0"/>
                </a:lnTo>
                <a:lnTo>
                  <a:pt x="2692400" y="825500"/>
                </a:lnTo>
                <a:lnTo>
                  <a:pt x="965200" y="825500"/>
                </a:lnTo>
                <a:lnTo>
                  <a:pt x="0" y="0"/>
                </a:lnTo>
                <a:close/>
              </a:path>
            </a:pathLst>
          </a:custGeom>
          <a:solidFill>
            <a:srgbClr val="017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393699" y="5816203"/>
            <a:ext cx="6355444" cy="800893"/>
          </a:xfrm>
        </p:spPr>
        <p:txBody>
          <a:bodyPr anchor="b">
            <a:noAutofit/>
          </a:bodyPr>
          <a:lstStyle>
            <a:lvl1pPr algn="l">
              <a:defRPr sz="4800"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副标题 2"/>
          <p:cNvSpPr>
            <a:spLocks noGrp="1"/>
          </p:cNvSpPr>
          <p:nvPr>
            <p:ph type="subTitle" idx="1"/>
          </p:nvPr>
        </p:nvSpPr>
        <p:spPr>
          <a:xfrm>
            <a:off x="8153400" y="6285706"/>
            <a:ext cx="3966030" cy="506411"/>
          </a:xfrm>
        </p:spPr>
        <p:txBody>
          <a:bodyPr/>
          <a:lstStyle>
            <a:lvl1pPr marL="0" indent="0" algn="ctr">
              <a:buNone/>
              <a:defRPr sz="24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65625" y="34567"/>
            <a:ext cx="754150" cy="756366"/>
          </a:xfrm>
          <a:prstGeom prst="rect">
            <a:avLst/>
          </a:prstGeom>
        </p:spPr>
      </p:pic>
      <p:sp>
        <p:nvSpPr>
          <p:cNvPr id="13" name="矩形 12"/>
          <p:cNvSpPr/>
          <p:nvPr userDrawn="1"/>
        </p:nvSpPr>
        <p:spPr>
          <a:xfrm>
            <a:off x="126999" y="5718629"/>
            <a:ext cx="139701" cy="959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72000"/>
            <a:ext cx="10515600" cy="9144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7DB26E-7550-4A68-B9ED-0930F4C79F79}" type="datetimeFigureOut">
              <a:rPr lang="zh-CN" altLang="en-US" smtClean="0"/>
              <a:t>2024/4/8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BC2DF-976F-4C49-92B9-E79BD60CFE9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000" r="-7000"/>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道德（</a:t>
            </a:r>
            <a:r>
              <a:rPr lang="en-US" altLang="zh-CN" dirty="0"/>
              <a:t>1</a:t>
            </a:r>
            <a:r>
              <a:rPr lang="zh-CN" altLang="en-US" dirty="0"/>
              <a:t>）</a:t>
            </a:r>
          </a:p>
        </p:txBody>
      </p:sp>
      <p:sp>
        <p:nvSpPr>
          <p:cNvPr id="3" name="副标题 2"/>
          <p:cNvSpPr>
            <a:spLocks noGrp="1"/>
          </p:cNvSpPr>
          <p:nvPr>
            <p:ph type="subTitle" idx="1"/>
          </p:nvPr>
        </p:nvSpPr>
        <p:spPr/>
        <p:txBody>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占位符 7"/>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6502" b="16502"/>
          <a:stretch>
            <a:fillRect/>
          </a:stretch>
        </p:blipFill>
        <p:spPr/>
      </p:pic>
      <p:sp>
        <p:nvSpPr>
          <p:cNvPr id="11" name="圆角矩形 10"/>
          <p:cNvSpPr/>
          <p:nvPr/>
        </p:nvSpPr>
        <p:spPr>
          <a:xfrm>
            <a:off x="0" y="2870200"/>
            <a:ext cx="6502399" cy="1089061"/>
          </a:xfrm>
          <a:prstGeom prst="roundRect">
            <a:avLst>
              <a:gd name="adj" fmla="val 0"/>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手动输入 9"/>
          <p:cNvSpPr/>
          <p:nvPr/>
        </p:nvSpPr>
        <p:spPr>
          <a:xfrm rot="16200000" flipH="1">
            <a:off x="5201024" y="-132977"/>
            <a:ext cx="6858000" cy="7123953"/>
          </a:xfrm>
          <a:prstGeom prst="flowChartManualInput">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标题 6"/>
          <p:cNvSpPr>
            <a:spLocks noGrp="1"/>
          </p:cNvSpPr>
          <p:nvPr>
            <p:ph type="title"/>
          </p:nvPr>
        </p:nvSpPr>
        <p:spPr>
          <a:xfrm>
            <a:off x="0" y="2576811"/>
            <a:ext cx="5570071" cy="1800000"/>
          </a:xfrm>
        </p:spPr>
        <p:txBody>
          <a:bodyPr anchor="ctr"/>
          <a:lstStyle/>
          <a:p>
            <a:pPr algn="r"/>
            <a:r>
              <a:rPr lang="zh-CN" altLang="en-US" dirty="0"/>
              <a:t>道德的观点</a:t>
            </a:r>
          </a:p>
        </p:txBody>
      </p:sp>
      <p:sp>
        <p:nvSpPr>
          <p:cNvPr id="12" name="文本框 11"/>
          <p:cNvSpPr txBox="1"/>
          <p:nvPr/>
        </p:nvSpPr>
        <p:spPr>
          <a:xfrm>
            <a:off x="6956723" y="-1518701"/>
            <a:ext cx="4084773" cy="9325630"/>
          </a:xfrm>
          <a:prstGeom prst="rect">
            <a:avLst/>
          </a:prstGeom>
          <a:noFill/>
        </p:spPr>
        <p:txBody>
          <a:bodyPr wrap="none" rtlCol="0">
            <a:spAutoFit/>
          </a:bodyPr>
          <a:lstStyle/>
          <a:p>
            <a:r>
              <a:rPr lang="en-US" altLang="zh-CN" sz="60000" dirty="0">
                <a:solidFill>
                  <a:srgbClr val="004F8A"/>
                </a:solidFill>
              </a:rPr>
              <a:t>1</a:t>
            </a:r>
            <a:endParaRPr lang="zh-CN" altLang="en-US" sz="60000" dirty="0">
              <a:solidFill>
                <a:srgbClr val="004F8A"/>
              </a:solidFill>
            </a:endParaRPr>
          </a:p>
        </p:txBody>
      </p:sp>
      <p:cxnSp>
        <p:nvCxnSpPr>
          <p:cNvPr id="4" name="直接连接符 3"/>
          <p:cNvCxnSpPr/>
          <p:nvPr/>
        </p:nvCxnSpPr>
        <p:spPr>
          <a:xfrm>
            <a:off x="0" y="2971800"/>
            <a:ext cx="58928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3873500"/>
            <a:ext cx="5689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sym typeface="+mn-ea"/>
              </a:rPr>
              <a:t>从抽象法到道德</a:t>
            </a:r>
            <a:endParaRPr lang="zh-CN" altLang="en-US"/>
          </a:p>
        </p:txBody>
      </p:sp>
      <p:sp>
        <p:nvSpPr>
          <p:cNvPr id="2" name="文本框 1"/>
          <p:cNvSpPr txBox="1"/>
          <p:nvPr/>
        </p:nvSpPr>
        <p:spPr>
          <a:xfrm>
            <a:off x="471805" y="1198880"/>
            <a:ext cx="10881995" cy="4893647"/>
          </a:xfrm>
          <a:prstGeom prst="rect">
            <a:avLst/>
          </a:prstGeom>
          <a:noFill/>
        </p:spPr>
        <p:txBody>
          <a:bodyPr wrap="square" rtlCol="0">
            <a:spAutoFit/>
          </a:bodyPr>
          <a:lstStyle/>
          <a:p>
            <a:pPr eaLnBrk="1" hangingPunct="1"/>
            <a:r>
              <a:rPr lang="zh-CN" altLang="en-US" sz="2400" dirty="0">
                <a:latin typeface="宋体" panose="02010600030101010101" pitchFamily="2" charset="-122"/>
                <a:ea typeface="宋体" panose="02010600030101010101" pitchFamily="2" charset="-122"/>
                <a:cs typeface="宋体" panose="02010600030101010101" pitchFamily="2" charset="-122"/>
                <a:sym typeface="+mn-ea"/>
              </a:rPr>
              <a:t>犯罪揭示了自在存在的普遍意志与自为的单个意志之间对立，而惩罚意味着普遍意志对单个意志的克服和扬弃并回到自身。通过犯罪与惩罚，普遍意志通过否定之否定得到了肯定，并在单个的主体意志中获得现实的存在。通过惩罚恢复了的普遍意志并非是自在的普遍意志，而是自为的普遍意志（以个体认罪为中介），即个体意识应该把自身作为普遍意志的主体来看待。</a:t>
            </a:r>
            <a:r>
              <a:rPr lang="en-US" altLang="zh-CN" sz="2400"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400" dirty="0">
                <a:latin typeface="宋体" panose="02010600030101010101" pitchFamily="2" charset="-122"/>
                <a:ea typeface="宋体" panose="02010600030101010101" pitchFamily="2" charset="-122"/>
                <a:cs typeface="宋体" panose="02010600030101010101" pitchFamily="2" charset="-122"/>
                <a:sym typeface="+mn-ea"/>
              </a:rPr>
              <a:t>这种自为地无限的自由的主观性构成了道德观点的原则。</a:t>
            </a:r>
            <a:r>
              <a:rPr lang="en-US" altLang="zh-CN" sz="2400"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40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400" dirty="0">
                <a:latin typeface="宋体" panose="02010600030101010101" pitchFamily="2" charset="-122"/>
                <a:ea typeface="宋体" panose="02010600030101010101" pitchFamily="2" charset="-122"/>
                <a:cs typeface="宋体" panose="02010600030101010101" pitchFamily="2" charset="-122"/>
                <a:sym typeface="+mn-ea"/>
              </a:rPr>
              <a:t>109</a:t>
            </a:r>
            <a:r>
              <a:rPr lang="zh-CN" altLang="en-US" sz="2400" dirty="0">
                <a:latin typeface="宋体" panose="02010600030101010101" pitchFamily="2" charset="-122"/>
                <a:ea typeface="宋体" panose="02010600030101010101" pitchFamily="2" charset="-122"/>
                <a:cs typeface="宋体" panose="02010600030101010101" pitchFamily="2" charset="-122"/>
                <a:sym typeface="+mn-ea"/>
              </a:rPr>
              <a:t>）因此，犯罪和惩罚是法的领域向道德领域的过渡。</a:t>
            </a:r>
            <a:endParaRPr lang="en-US" altLang="zh-CN" sz="2400" dirty="0">
              <a:latin typeface="宋体" panose="02010600030101010101" pitchFamily="2" charset="-122"/>
              <a:ea typeface="宋体" panose="02010600030101010101" pitchFamily="2" charset="-122"/>
              <a:cs typeface="宋体" panose="02010600030101010101" pitchFamily="2" charset="-122"/>
            </a:endParaRPr>
          </a:p>
          <a:p>
            <a:pPr eaLnBrk="1" hangingPunct="1"/>
            <a:r>
              <a:rPr lang="zh-CN" altLang="en-US" sz="2400" dirty="0">
                <a:latin typeface="宋体" panose="02010600030101010101" pitchFamily="2" charset="-122"/>
                <a:ea typeface="宋体" panose="02010600030101010101" pitchFamily="2" charset="-122"/>
                <a:cs typeface="宋体" panose="02010600030101010101" pitchFamily="2" charset="-122"/>
              </a:rPr>
              <a:t>黑格尔在</a:t>
            </a:r>
            <a:r>
              <a:rPr lang="en-US" altLang="zh-CN" sz="2400" dirty="0">
                <a:latin typeface="宋体" panose="02010600030101010101" pitchFamily="2" charset="-122"/>
                <a:ea typeface="宋体" panose="02010600030101010101" pitchFamily="2" charset="-122"/>
                <a:cs typeface="宋体" panose="02010600030101010101" pitchFamily="2" charset="-122"/>
              </a:rPr>
              <a:t>“</a:t>
            </a:r>
            <a:r>
              <a:rPr lang="zh-CN" altLang="en-US" sz="2400" dirty="0">
                <a:latin typeface="宋体" panose="02010600030101010101" pitchFamily="2" charset="-122"/>
                <a:ea typeface="宋体" panose="02010600030101010101" pitchFamily="2" charset="-122"/>
                <a:cs typeface="宋体" panose="02010600030101010101" pitchFamily="2" charset="-122"/>
              </a:rPr>
              <a:t>从法到道德的过渡</a:t>
            </a:r>
            <a:r>
              <a:rPr lang="en-US" altLang="zh-CN" sz="2400" dirty="0">
                <a:latin typeface="宋体" panose="02010600030101010101" pitchFamily="2" charset="-122"/>
                <a:ea typeface="宋体" panose="02010600030101010101" pitchFamily="2" charset="-122"/>
                <a:cs typeface="宋体" panose="02010600030101010101" pitchFamily="2" charset="-122"/>
              </a:rPr>
              <a:t>”</a:t>
            </a:r>
            <a:r>
              <a:rPr lang="zh-CN" altLang="en-US" sz="2400" dirty="0">
                <a:latin typeface="宋体" panose="02010600030101010101" pitchFamily="2" charset="-122"/>
                <a:ea typeface="宋体" panose="02010600030101010101" pitchFamily="2" charset="-122"/>
                <a:cs typeface="宋体" panose="02010600030101010101" pitchFamily="2" charset="-122"/>
              </a:rPr>
              <a:t>一节的补充中说：</a:t>
            </a:r>
            <a:r>
              <a:rPr lang="en-US" altLang="zh-CN" sz="2400" dirty="0">
                <a:latin typeface="宋体" panose="02010600030101010101" pitchFamily="2" charset="-122"/>
                <a:ea typeface="宋体" panose="02010600030101010101" pitchFamily="2" charset="-122"/>
                <a:cs typeface="宋体" panose="02010600030101010101" pitchFamily="2" charset="-122"/>
              </a:rPr>
              <a:t>“</a:t>
            </a:r>
            <a:r>
              <a:rPr lang="zh-CN" altLang="en-US" sz="2400" dirty="0">
                <a:latin typeface="宋体" panose="02010600030101010101" pitchFamily="2" charset="-122"/>
                <a:ea typeface="宋体" panose="02010600030101010101" pitchFamily="2" charset="-122"/>
                <a:cs typeface="宋体" panose="02010600030101010101" pitchFamily="2" charset="-122"/>
              </a:rPr>
              <a:t>概念存在着，而且概念的定在与其概念符合，这就是真理。在抽象法中，意志的定在是在外在的东西中，在下一阶段，意志的定在是在意志本身即在某种内在的东西中。</a:t>
            </a:r>
            <a:r>
              <a:rPr lang="en-US" altLang="zh-CN" sz="2400" dirty="0">
                <a:latin typeface="宋体" panose="02010600030101010101" pitchFamily="2" charset="-122"/>
                <a:ea typeface="宋体" panose="02010600030101010101" pitchFamily="2" charset="-122"/>
                <a:cs typeface="宋体" panose="02010600030101010101" pitchFamily="2" charset="-122"/>
              </a:rPr>
              <a:t>”</a:t>
            </a:r>
            <a:r>
              <a:rPr lang="zh-CN" altLang="en-US" sz="2400" dirty="0">
                <a:latin typeface="宋体" panose="02010600030101010101" pitchFamily="2" charset="-122"/>
                <a:ea typeface="宋体" panose="02010600030101010101" pitchFamily="2" charset="-122"/>
                <a:cs typeface="宋体" panose="02010600030101010101" pitchFamily="2" charset="-122"/>
              </a:rPr>
              <a:t>意志不仅可以以物为其对象，而且应该以自身为对象，这种意志以自身为对象的关系只有通过对意志以物为对象的关系的扬弃才能达到。</a:t>
            </a:r>
            <a:r>
              <a:rPr lang="en-US" altLang="zh-CN" sz="2400" dirty="0">
                <a:latin typeface="宋体" panose="02010600030101010101" pitchFamily="2" charset="-122"/>
                <a:ea typeface="宋体" panose="02010600030101010101" pitchFamily="2" charset="-122"/>
                <a:cs typeface="宋体" panose="02010600030101010101" pitchFamily="2" charset="-122"/>
              </a:rPr>
              <a:t>“</a:t>
            </a:r>
            <a:r>
              <a:rPr lang="en-US" altLang="zh-CN" sz="2400" dirty="0" err="1">
                <a:latin typeface="宋体" panose="02010600030101010101" pitchFamily="2" charset="-122"/>
                <a:ea typeface="宋体" panose="02010600030101010101" pitchFamily="2" charset="-122"/>
                <a:cs typeface="宋体" panose="02010600030101010101" pitchFamily="2" charset="-122"/>
              </a:rPr>
              <a:t>在犯罪中被扬弃了的直接性，通过刑法即通过否定的否定和导向的肯定</a:t>
            </a:r>
            <a:r>
              <a:rPr lang="en-US" altLang="zh-CN" sz="2400" dirty="0">
                <a:latin typeface="宋体" panose="02010600030101010101" pitchFamily="2" charset="-122"/>
                <a:ea typeface="宋体" panose="02010600030101010101" pitchFamily="2" charset="-122"/>
                <a:cs typeface="宋体" panose="02010600030101010101" pitchFamily="2" charset="-122"/>
              </a:rPr>
              <a:t>——</a:t>
            </a:r>
            <a:r>
              <a:rPr lang="en-US" altLang="zh-CN" sz="2400" dirty="0" err="1">
                <a:latin typeface="宋体" panose="02010600030101010101" pitchFamily="2" charset="-122"/>
                <a:ea typeface="宋体" panose="02010600030101010101" pitchFamily="2" charset="-122"/>
                <a:cs typeface="宋体" panose="02010600030101010101" pitchFamily="2" charset="-122"/>
              </a:rPr>
              <a:t>导向的道德</a:t>
            </a:r>
            <a:r>
              <a:rPr lang="zh-CN" altLang="en-US" sz="2400" dirty="0">
                <a:latin typeface="宋体" panose="02010600030101010101" pitchFamily="2" charset="-122"/>
                <a:ea typeface="宋体" panose="02010600030101010101" pitchFamily="2" charset="-122"/>
                <a:cs typeface="宋体" panose="02010600030101010101" pitchFamily="2" charset="-122"/>
              </a:rPr>
              <a:t>。</a:t>
            </a:r>
            <a:r>
              <a:rPr lang="en-US" altLang="zh-CN" sz="2400" dirty="0">
                <a:latin typeface="宋体" panose="02010600030101010101" pitchFamily="2" charset="-122"/>
                <a:ea typeface="宋体" panose="02010600030101010101" pitchFamily="2" charset="-122"/>
                <a:cs typeface="宋体" panose="02010600030101010101" pitchFamily="2" charset="-122"/>
              </a:rPr>
              <a:t>”</a:t>
            </a:r>
            <a:r>
              <a:rPr lang="zh-CN" altLang="en-US" sz="2400" dirty="0">
                <a:latin typeface="宋体" panose="02010600030101010101" pitchFamily="2" charset="-122"/>
                <a:ea typeface="宋体" panose="02010600030101010101" pitchFamily="2" charset="-122"/>
                <a:cs typeface="宋体" panose="02010600030101010101" pitchFamily="2" charset="-122"/>
              </a:rPr>
              <a:t>（第</a:t>
            </a:r>
            <a:r>
              <a:rPr lang="en-US" altLang="zh-CN" sz="2400" dirty="0">
                <a:latin typeface="宋体" panose="02010600030101010101" pitchFamily="2" charset="-122"/>
                <a:ea typeface="宋体" panose="02010600030101010101" pitchFamily="2" charset="-122"/>
                <a:cs typeface="宋体" panose="02010600030101010101" pitchFamily="2" charset="-122"/>
              </a:rPr>
              <a:t>104</a:t>
            </a:r>
            <a:r>
              <a:rPr lang="zh-CN" altLang="en-US" sz="2400" dirty="0">
                <a:latin typeface="宋体" panose="02010600030101010101" pitchFamily="2" charset="-122"/>
                <a:ea typeface="宋体" panose="02010600030101010101" pitchFamily="2" charset="-122"/>
                <a:cs typeface="宋体" panose="02010600030101010101" pitchFamily="2" charset="-122"/>
              </a:rPr>
              <a:t>节）</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zh-CN" altLang="en-US">
                <a:sym typeface="+mn-ea"/>
              </a:rPr>
            </a:br>
            <a:r>
              <a:rPr lang="zh-CN" altLang="en-US" sz="4445">
                <a:sym typeface="+mn-ea"/>
              </a:rPr>
              <a:t>道德的观点</a:t>
            </a:r>
            <a:br>
              <a:rPr lang="zh-CN" altLang="en-US" sz="4445"/>
            </a:br>
            <a:endParaRPr lang="zh-CN" altLang="en-US" sz="4445"/>
          </a:p>
        </p:txBody>
      </p:sp>
      <p:sp>
        <p:nvSpPr>
          <p:cNvPr id="3" name="文本框 2"/>
          <p:cNvSpPr txBox="1"/>
          <p:nvPr/>
        </p:nvSpPr>
        <p:spPr>
          <a:xfrm>
            <a:off x="593725" y="1119505"/>
            <a:ext cx="10912475" cy="5632311"/>
          </a:xfrm>
          <a:prstGeom prst="rect">
            <a:avLst/>
          </a:prstGeom>
          <a:noFill/>
        </p:spPr>
        <p:txBody>
          <a:bodyPr wrap="square" rtlCol="0">
            <a:spAutoFit/>
          </a:bodyPr>
          <a:lstStyle/>
          <a:p>
            <a:pPr eaLnBrk="1" hangingPunct="1">
              <a:buFont typeface="Wingdings" panose="05000000000000000000" pitchFamily="2" charset="2"/>
              <a:buNone/>
            </a:pPr>
            <a:r>
              <a:rPr lang="zh-CN" altLang="en-US" sz="2400" dirty="0"/>
              <a:t>对黑格尔来说，法是自由意志的定在，自由意志的发展阶段不同，其法的形式也不同。抽象法、道德、伦理都是法，是自由意志的概念与其定在的同一，是意志的真理。但是，不同的法代表着对自由意志的不同理解。</a:t>
            </a:r>
            <a:r>
              <a:rPr lang="en-US" altLang="zh-CN" sz="2400" dirty="0">
                <a:sym typeface="+mn-ea"/>
              </a:rPr>
              <a:t> “在抽象法中，意志的人格单单作为人格而存在，如今意志已把人格作为它的对象。这种自为地无限的自由的主观性构成了道德观点的原则。”（104节）  “</a:t>
            </a:r>
            <a:r>
              <a:rPr lang="en-US" sz="2400" dirty="0" err="1">
                <a:ea typeface="宋体" panose="02010600030101010101" pitchFamily="2" charset="-122"/>
                <a:sym typeface="+mn-ea"/>
              </a:rPr>
              <a:t>道德的观点是这样一种意志的观点，这种意志不仅是自在地而且是自为地无限的</a:t>
            </a:r>
            <a:r>
              <a:rPr lang="en-US" sz="2400" dirty="0">
                <a:ea typeface="宋体" panose="02010600030101010101" pitchFamily="2" charset="-122"/>
                <a:sym typeface="+mn-ea"/>
              </a:rPr>
              <a:t>。”（</a:t>
            </a:r>
            <a:r>
              <a:rPr lang="en-US" altLang="zh-CN" sz="2400" dirty="0">
                <a:sym typeface="+mn-ea"/>
              </a:rPr>
              <a:t>105</a:t>
            </a:r>
            <a:r>
              <a:rPr lang="en-US" sz="2400" dirty="0">
                <a:ea typeface="宋体" panose="02010600030101010101" pitchFamily="2" charset="-122"/>
                <a:sym typeface="+mn-ea"/>
              </a:rPr>
              <a:t>节） </a:t>
            </a:r>
            <a:endParaRPr lang="en-US" sz="2400" dirty="0">
              <a:ea typeface="宋体" panose="02010600030101010101" pitchFamily="2" charset="-122"/>
            </a:endParaRPr>
          </a:p>
          <a:p>
            <a:pPr eaLnBrk="1" hangingPunct="1">
              <a:buFont typeface="Wingdings" panose="05000000000000000000" pitchFamily="2" charset="2"/>
              <a:buNone/>
            </a:pPr>
            <a:r>
              <a:rPr lang="en-US" sz="2400" dirty="0">
                <a:ea typeface="宋体" panose="02010600030101010101" pitchFamily="2" charset="-122"/>
                <a:sym typeface="+mn-ea"/>
              </a:rPr>
              <a:t>     在“</a:t>
            </a:r>
            <a:r>
              <a:rPr lang="zh-CN" altLang="en-US" sz="2400" dirty="0">
                <a:sym typeface="+mn-ea"/>
              </a:rPr>
              <a:t>抽象法</a:t>
            </a:r>
            <a:r>
              <a:rPr lang="en-US" sz="2400" dirty="0">
                <a:ea typeface="宋体" panose="02010600030101010101" pitchFamily="2" charset="-122"/>
                <a:sym typeface="+mn-ea"/>
              </a:rPr>
              <a:t>”</a:t>
            </a:r>
            <a:r>
              <a:rPr lang="zh-CN" altLang="en-US" sz="2400" dirty="0">
                <a:sym typeface="+mn-ea"/>
              </a:rPr>
              <a:t>阶段，自由意志把自己投射（</a:t>
            </a:r>
            <a:r>
              <a:rPr lang="en-US" altLang="zh-CN" sz="2400" dirty="0">
                <a:sym typeface="+mn-ea"/>
              </a:rPr>
              <a:t>project)</a:t>
            </a:r>
            <a:r>
              <a:rPr lang="zh-CN" altLang="en-US" sz="2400" dirty="0">
                <a:ea typeface="宋体" panose="02010600030101010101" pitchFamily="2" charset="-122"/>
                <a:sym typeface="+mn-ea"/>
              </a:rPr>
              <a:t>到</a:t>
            </a:r>
            <a:r>
              <a:rPr lang="zh-CN" altLang="en-US" sz="2400" dirty="0">
                <a:sym typeface="+mn-ea"/>
              </a:rPr>
              <a:t>物，把财产作为自己的自由意志的定在；在</a:t>
            </a:r>
            <a:r>
              <a:rPr lang="en-US" sz="2400" dirty="0">
                <a:ea typeface="宋体" panose="02010600030101010101" pitchFamily="2" charset="-122"/>
                <a:sym typeface="+mn-ea"/>
              </a:rPr>
              <a:t>“</a:t>
            </a:r>
            <a:r>
              <a:rPr lang="zh-CN" altLang="en-US" sz="2400" dirty="0">
                <a:sym typeface="+mn-ea"/>
              </a:rPr>
              <a:t>道德</a:t>
            </a:r>
            <a:r>
              <a:rPr lang="en-US" sz="2400" dirty="0">
                <a:ea typeface="宋体" panose="02010600030101010101" pitchFamily="2" charset="-122"/>
                <a:sym typeface="+mn-ea"/>
              </a:rPr>
              <a:t>”</a:t>
            </a:r>
            <a:r>
              <a:rPr lang="zh-CN" altLang="en-US" sz="2400" dirty="0">
                <a:sym typeface="+mn-ea"/>
              </a:rPr>
              <a:t>阶段，自由理念进入到</a:t>
            </a:r>
            <a:r>
              <a:rPr lang="en-US" sz="2400" dirty="0">
                <a:ea typeface="宋体" panose="02010600030101010101" pitchFamily="2" charset="-122"/>
                <a:sym typeface="+mn-ea"/>
              </a:rPr>
              <a:t>“</a:t>
            </a:r>
            <a:r>
              <a:rPr lang="zh-CN" altLang="en-US" sz="2400" dirty="0">
                <a:sym typeface="+mn-ea"/>
              </a:rPr>
              <a:t>反映</a:t>
            </a:r>
            <a:r>
              <a:rPr lang="en-US" sz="2400" dirty="0">
                <a:ea typeface="宋体" panose="02010600030101010101" pitchFamily="2" charset="-122"/>
                <a:sym typeface="+mn-ea"/>
              </a:rPr>
              <a:t>”</a:t>
            </a:r>
            <a:r>
              <a:rPr lang="zh-CN" altLang="en-US" sz="2400" dirty="0">
                <a:sym typeface="+mn-ea"/>
              </a:rPr>
              <a:t>阶段，也叫</a:t>
            </a:r>
            <a:r>
              <a:rPr lang="en-US" sz="2400" dirty="0">
                <a:ea typeface="宋体" panose="02010600030101010101" pitchFamily="2" charset="-122"/>
                <a:sym typeface="+mn-ea"/>
              </a:rPr>
              <a:t>“</a:t>
            </a:r>
            <a:r>
              <a:rPr lang="zh-CN" altLang="en-US" sz="2400" dirty="0">
                <a:sym typeface="+mn-ea"/>
              </a:rPr>
              <a:t>反思</a:t>
            </a:r>
            <a:r>
              <a:rPr lang="en-US" sz="2400" dirty="0">
                <a:ea typeface="宋体" panose="02010600030101010101" pitchFamily="2" charset="-122"/>
                <a:sym typeface="+mn-ea"/>
              </a:rPr>
              <a:t>”</a:t>
            </a:r>
            <a:r>
              <a:rPr lang="zh-CN" altLang="en-US" sz="2400" dirty="0">
                <a:sym typeface="+mn-ea"/>
              </a:rPr>
              <a:t>阶段，自由意志从对外物的关系回到对内在物的关系，回到意志本身，意志和意志本身发生关系，道德关系就是意志与其自身的内在关系。在抽象法阶段，意志在与外物的关系上找了个居所、形态或立脚点；现在意志自己和自己发生关系，在自己这个地方找立脚点、找实现的途径。在这个意义上，意志回到了自己的家。（</a:t>
            </a:r>
            <a:r>
              <a:rPr lang="en-US" altLang="zh-CN" sz="2400" dirty="0">
                <a:sym typeface="+mn-ea"/>
              </a:rPr>
              <a:t>105-106节）</a:t>
            </a:r>
            <a:r>
              <a:rPr lang="zh-CN" altLang="en-US" sz="2400" dirty="0">
                <a:sym typeface="+mn-ea"/>
              </a:rPr>
              <a:t>道德意味着从自身出发，由自己来规定什么是法。因此，道德对理解人的自由具有重要意义。</a:t>
            </a:r>
            <a:endParaRPr lang="en-US" altLang="zh-CN" sz="2400" dirty="0"/>
          </a:p>
          <a:p>
            <a:endParaRPr lang="zh-CN" altLang="en-US" sz="24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道德的观点是主体的观点</a:t>
            </a:r>
          </a:p>
        </p:txBody>
      </p:sp>
      <p:sp>
        <p:nvSpPr>
          <p:cNvPr id="3" name="文本框 2"/>
          <p:cNvSpPr txBox="1"/>
          <p:nvPr/>
        </p:nvSpPr>
        <p:spPr>
          <a:xfrm>
            <a:off x="699135" y="1089025"/>
            <a:ext cx="10984865" cy="5631180"/>
          </a:xfrm>
          <a:prstGeom prst="rect">
            <a:avLst/>
          </a:prstGeom>
          <a:noFill/>
        </p:spPr>
        <p:txBody>
          <a:bodyPr wrap="square" rtlCol="0">
            <a:spAutoFit/>
          </a:bodyPr>
          <a:lstStyle/>
          <a:p>
            <a:pPr algn="l"/>
            <a:r>
              <a:rPr lang="zh-CN" altLang="en-US" sz="2000"/>
              <a:t>在黑格尔的思想中，道德具有特殊的地位。道德不是从来就有的，它是现代性的产物。</a:t>
            </a:r>
            <a:r>
              <a:rPr lang="en-US" altLang="zh-CN" sz="2000"/>
              <a:t>“道德的观点是这样一种意志的观点，这种意志不仅自在</a:t>
            </a:r>
            <a:r>
              <a:rPr lang="zh-CN" altLang="en-US" sz="2000">
                <a:ea typeface="宋体" panose="02010600030101010101" pitchFamily="2" charset="-122"/>
              </a:rPr>
              <a:t>地</a:t>
            </a:r>
            <a:r>
              <a:rPr lang="en-US" altLang="zh-CN" sz="2000"/>
              <a:t>而且自为</a:t>
            </a:r>
            <a:r>
              <a:rPr lang="zh-CN" altLang="en-US" sz="2000">
                <a:ea typeface="宋体" panose="02010600030101010101" pitchFamily="2" charset="-122"/>
              </a:rPr>
              <a:t>地</a:t>
            </a:r>
            <a:r>
              <a:rPr lang="en-US" altLang="zh-CN" sz="2000"/>
              <a:t>无限的</a:t>
            </a:r>
            <a:r>
              <a:rPr lang="zh-CN" altLang="en-US" sz="2000">
                <a:ea typeface="宋体" panose="02010600030101010101" pitchFamily="2" charset="-122"/>
              </a:rPr>
              <a:t>。意志的这种在自身中的反思和他的自为的存在的统一性，相反于意志的自在存在和直接性，以及一直在这个阶段发展起来的各种规定性，而把人规定为主体。</a:t>
            </a:r>
            <a:r>
              <a:rPr lang="en-US" altLang="zh-CN" sz="2000">
                <a:ea typeface="宋体" panose="02010600030101010101" pitchFamily="2" charset="-122"/>
              </a:rPr>
              <a:t>”</a:t>
            </a:r>
            <a:r>
              <a:rPr lang="zh-CN" altLang="en-US" sz="2000">
                <a:ea typeface="宋体" panose="02010600030101010101" pitchFamily="2" charset="-122"/>
              </a:rPr>
              <a:t>（第</a:t>
            </a:r>
            <a:r>
              <a:rPr lang="en-US" altLang="zh-CN" sz="2000">
                <a:ea typeface="宋体" panose="02010600030101010101" pitchFamily="2" charset="-122"/>
              </a:rPr>
              <a:t>105</a:t>
            </a:r>
            <a:r>
              <a:rPr lang="zh-CN" altLang="en-US" sz="2000">
                <a:ea typeface="宋体" panose="02010600030101010101" pitchFamily="2" charset="-122"/>
              </a:rPr>
              <a:t>节）</a:t>
            </a:r>
          </a:p>
          <a:p>
            <a:pPr algn="l"/>
            <a:r>
              <a:rPr lang="zh-CN" altLang="en-US" sz="2000">
                <a:ea typeface="宋体" panose="02010600030101010101" pitchFamily="2" charset="-122"/>
              </a:rPr>
              <a:t>道德代表着自由意志发展的更高阶段，因为自由意志在主体性本身找到了概念的定在。</a:t>
            </a:r>
            <a:r>
              <a:rPr lang="en-US" altLang="zh-CN" sz="2000">
                <a:ea typeface="宋体" panose="02010600030101010101" pitchFamily="2" charset="-122"/>
              </a:rPr>
              <a:t>“这样就对自由规定的一个更高的基地”</a:t>
            </a:r>
            <a:r>
              <a:rPr lang="zh-CN" altLang="en-US" sz="2000">
                <a:ea typeface="宋体" panose="02010600030101010101" pitchFamily="2" charset="-122"/>
              </a:rPr>
              <a:t>，自由意志得到了更充分的发展，自由的理念得到更充分的实现。道德是普遍意志作用于自己主观的任性的自然意志，使其符合意志的概念。</a:t>
            </a:r>
            <a:r>
              <a:rPr lang="en-US" altLang="zh-CN" sz="2000">
                <a:ea typeface="宋体" panose="02010600030101010101" pitchFamily="2" charset="-122"/>
              </a:rPr>
              <a:t>“</a:t>
            </a:r>
            <a:r>
              <a:rPr lang="zh-CN" altLang="en-US" sz="2000">
                <a:ea typeface="宋体" panose="02010600030101010101" pitchFamily="2" charset="-122"/>
              </a:rPr>
              <a:t>这样一来，主观意识就同时规定自己为客观的，从而是真正具体的。</a:t>
            </a:r>
            <a:r>
              <a:rPr lang="en-US" altLang="zh-CN" sz="2000">
                <a:ea typeface="宋体" panose="02010600030101010101" pitchFamily="2" charset="-122"/>
              </a:rPr>
              <a:t>”</a:t>
            </a:r>
            <a:r>
              <a:rPr lang="zh-CN" altLang="en-US" sz="2000">
                <a:ea typeface="宋体" panose="02010600030101010101" pitchFamily="2" charset="-122"/>
              </a:rPr>
              <a:t>（第</a:t>
            </a:r>
            <a:r>
              <a:rPr lang="en-US" altLang="zh-CN" sz="2000">
                <a:ea typeface="宋体" panose="02010600030101010101" pitchFamily="2" charset="-122"/>
              </a:rPr>
              <a:t>106</a:t>
            </a:r>
            <a:r>
              <a:rPr lang="zh-CN" altLang="en-US" sz="2000">
                <a:ea typeface="宋体" panose="02010600030101010101" pitchFamily="2" charset="-122"/>
              </a:rPr>
              <a:t>节）</a:t>
            </a:r>
          </a:p>
          <a:p>
            <a:pPr algn="l"/>
            <a:r>
              <a:rPr lang="zh-CN" altLang="en-US" sz="2000">
                <a:sym typeface="+mn-ea"/>
              </a:rPr>
              <a:t>道德经验的核心是人的自我同一性或认同。道德的观点是主体的观点，</a:t>
            </a:r>
            <a:r>
              <a:rPr lang="en-US" altLang="zh-CN" sz="2000">
                <a:sym typeface="+mn-ea"/>
              </a:rPr>
              <a:t>人都意愿别人对他按他的自我规定来评价，因为他需要别人承认他</a:t>
            </a:r>
            <a:r>
              <a:rPr lang="zh-CN" altLang="en-US" sz="2000">
                <a:ea typeface="宋体" panose="02010600030101010101" pitchFamily="2" charset="-122"/>
                <a:sym typeface="+mn-ea"/>
              </a:rPr>
              <a:t>是</a:t>
            </a:r>
            <a:r>
              <a:rPr lang="en-US" altLang="zh-CN" sz="2000">
                <a:sym typeface="+mn-ea"/>
              </a:rPr>
              <a:t>自己行为的主人。</a:t>
            </a:r>
            <a:r>
              <a:rPr lang="zh-CN" altLang="en-US" sz="2000">
                <a:ea typeface="宋体" panose="02010600030101010101" pitchFamily="2" charset="-122"/>
                <a:sym typeface="+mn-ea"/>
              </a:rPr>
              <a:t>道德观点的优越性可以从它与抽象法的区别看出。</a:t>
            </a:r>
          </a:p>
          <a:p>
            <a:pPr algn="l"/>
            <a:r>
              <a:rPr lang="en-US" altLang="zh-CN" sz="2000">
                <a:ea typeface="宋体" panose="02010600030101010101" pitchFamily="2" charset="-122"/>
                <a:sym typeface="+mn-ea"/>
              </a:rPr>
              <a:t>“在严格意义的抽象法中还会发生什么是我的原则和我的意图的问题</a:t>
            </a:r>
            <a:r>
              <a:rPr lang="zh-CN" altLang="en-US" sz="2000">
                <a:ea typeface="宋体" panose="02010600030101010101" pitchFamily="2" charset="-122"/>
                <a:sym typeface="+mn-ea"/>
              </a:rPr>
              <a:t>。这一个关于意志的自我规定和动机，以及关于故意的问题，现在在道德领域中被提到日程上来。人都意愿别人对他按他的自我规定来作出评价，所以不问各种外在的规定怎样，他在这个这种关系中是自由的。人在自身中的这种信念是无法突破的，任何暴力都不能左右他，因此道德的意志是他人所不能过问的，</a:t>
            </a:r>
            <a:r>
              <a:rPr lang="en-US" altLang="zh-CN" sz="2000">
                <a:sym typeface="+mn-ea"/>
              </a:rPr>
              <a:t>人的价值应按照他的内部行为予以评价，所以道德的观点就是自为地存在的自由。”（106节）</a:t>
            </a:r>
            <a:r>
              <a:rPr lang="zh-CN" altLang="en-US" sz="2000">
                <a:sym typeface="+mn-ea"/>
              </a:rPr>
              <a:t>在此意义上，道德的观点是主体的观点。</a:t>
            </a:r>
            <a:endParaRPr lang="en-US" altLang="zh-CN" sz="2000"/>
          </a:p>
          <a:p>
            <a:pPr algn="l"/>
            <a:endParaRPr lang="zh-CN" altLang="en-US" sz="2000">
              <a:ea typeface="宋体" panose="02010600030101010101"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道德是主观意志的法</a:t>
            </a:r>
            <a:endParaRPr lang="zh-CN" altLang="en-US"/>
          </a:p>
        </p:txBody>
      </p:sp>
      <p:sp>
        <p:nvSpPr>
          <p:cNvPr id="3" name="文本框 2"/>
          <p:cNvSpPr txBox="1"/>
          <p:nvPr/>
        </p:nvSpPr>
        <p:spPr>
          <a:xfrm>
            <a:off x="242570" y="986155"/>
            <a:ext cx="11111865" cy="5262245"/>
          </a:xfrm>
          <a:prstGeom prst="rect">
            <a:avLst/>
          </a:prstGeom>
          <a:noFill/>
        </p:spPr>
        <p:txBody>
          <a:bodyPr wrap="square" rtlCol="0">
            <a:spAutoFit/>
          </a:bodyPr>
          <a:lstStyle/>
          <a:p>
            <a:pPr marL="274320" indent="-274320" eaLnBrk="1" fontAlgn="auto" hangingPunct="1">
              <a:spcAft>
                <a:spcPts val="0"/>
              </a:spcAft>
              <a:buClr>
                <a:schemeClr val="accent3"/>
              </a:buClr>
              <a:buFont typeface="Wingdings 2" panose="05020102010507070707"/>
              <a:buChar char=""/>
              <a:defRPr/>
            </a:pPr>
            <a:r>
              <a:rPr lang="zh-CN" altLang="en-US" sz="2400" dirty="0">
                <a:sym typeface="+mn-ea"/>
              </a:rPr>
              <a:t>道德是自由意志概念的一个环节，对自由意志的发展来说具有必然性。黑格尔强调，</a:t>
            </a:r>
            <a:r>
              <a:rPr lang="en-US" altLang="zh-CN" sz="2400" dirty="0">
                <a:sym typeface="+mn-ea"/>
              </a:rPr>
              <a:t>“</a:t>
            </a:r>
            <a:r>
              <a:rPr lang="zh-CN" altLang="en-US" sz="2400" dirty="0">
                <a:sym typeface="+mn-ea"/>
              </a:rPr>
              <a:t>道德的观点，从它的形态上看是主观意志的法。按照这种法，意志承认某种东西，并且是某种东西，但仅仅以某种东西是意志自己的东西，而且意志在其中作为主观的东西而对自身存在为限。</a:t>
            </a:r>
            <a:r>
              <a:rPr lang="en-US" altLang="zh-CN" sz="2400" dirty="0">
                <a:sym typeface="+mn-ea"/>
              </a:rPr>
              <a:t>”</a:t>
            </a:r>
            <a:r>
              <a:rPr lang="zh-CN" altLang="en-US" sz="2400" dirty="0">
                <a:sym typeface="+mn-ea"/>
              </a:rPr>
              <a:t>（第</a:t>
            </a:r>
            <a:r>
              <a:rPr lang="en-US" altLang="zh-CN" sz="2400" dirty="0">
                <a:sym typeface="+mn-ea"/>
              </a:rPr>
              <a:t>106</a:t>
            </a:r>
            <a:r>
              <a:rPr lang="zh-CN" altLang="en-US" sz="2400" dirty="0">
                <a:ea typeface="宋体" panose="02010600030101010101" pitchFamily="2" charset="-122"/>
                <a:sym typeface="+mn-ea"/>
              </a:rPr>
              <a:t>节</a:t>
            </a:r>
            <a:r>
              <a:rPr lang="zh-CN" altLang="en-US" sz="2400" dirty="0">
                <a:sym typeface="+mn-ea"/>
              </a:rPr>
              <a:t>）这一界定具有极其重要的意义，它表明，道德的观点具有其优越性，也有其局限性。</a:t>
            </a:r>
          </a:p>
          <a:p>
            <a:pPr marL="274320" indent="-274320" eaLnBrk="1" fontAlgn="auto" hangingPunct="1">
              <a:spcAft>
                <a:spcPts val="0"/>
              </a:spcAft>
              <a:buClr>
                <a:schemeClr val="accent3"/>
              </a:buClr>
              <a:buFont typeface="Wingdings 2" panose="05020102010507070707"/>
              <a:buChar char=""/>
              <a:defRPr/>
            </a:pPr>
            <a:r>
              <a:rPr lang="zh-CN" altLang="en-US" sz="2400" dirty="0">
                <a:sym typeface="+mn-ea"/>
              </a:rPr>
              <a:t>道德的观点本质是主体的观点，道德是发生在主体内部的自我关系，道德作为自由意志的自我规定既不受外在物质力量的影响，也不受社会的影响。道德把自己与现存的世界对立起来，因而，在道德中，主观性与客观性不是相互依赖，而是相互对立的，虽然道德也力求从内部解决这种冲突，但</a:t>
            </a:r>
            <a:r>
              <a:rPr lang="en-US" altLang="zh-CN" sz="2400" dirty="0">
                <a:sym typeface="+mn-ea"/>
              </a:rPr>
              <a:t>“</a:t>
            </a:r>
            <a:r>
              <a:rPr lang="en-US" altLang="zh-CN" sz="2400" dirty="0" err="1">
                <a:sym typeface="+mn-ea"/>
              </a:rPr>
              <a:t>其解决在道德领域是相对的</a:t>
            </a:r>
            <a:r>
              <a:rPr lang="en-US" altLang="zh-CN" sz="2400" dirty="0">
                <a:sym typeface="+mn-ea"/>
              </a:rPr>
              <a:t>。”（115节）</a:t>
            </a:r>
            <a:r>
              <a:rPr lang="zh-CN" altLang="en-US" sz="2400" dirty="0">
                <a:sym typeface="+mn-ea"/>
              </a:rPr>
              <a:t>这就意味着在道德阶段不能达到自由的主观性和客观性的真正统一，就此而言，道德的法是不确定的。在道德中，凡事都从</a:t>
            </a:r>
            <a:r>
              <a:rPr lang="en-US" altLang="zh-CN" sz="2400" dirty="0">
                <a:sym typeface="+mn-ea"/>
              </a:rPr>
              <a:t>”</a:t>
            </a:r>
            <a:r>
              <a:rPr lang="zh-CN" altLang="en-US" sz="2400" dirty="0">
                <a:sym typeface="+mn-ea"/>
              </a:rPr>
              <a:t>应当</a:t>
            </a:r>
            <a:r>
              <a:rPr lang="en-US" altLang="zh-CN" sz="2400" dirty="0">
                <a:sym typeface="+mn-ea"/>
              </a:rPr>
              <a:t>”</a:t>
            </a:r>
            <a:r>
              <a:rPr lang="zh-CN" altLang="en-US" sz="2400" dirty="0">
                <a:ea typeface="宋体" panose="02010600030101010101" pitchFamily="2" charset="-122"/>
                <a:sym typeface="+mn-ea"/>
              </a:rPr>
              <a:t>，既不考虑道德目标的实现条件，也不考虑它的后果。一切以自我为中心，一切以主观意愿为核心，以良心自我满足为核心，道德最终必然陷入</a:t>
            </a:r>
            <a:r>
              <a:rPr lang="en-US" altLang="zh-CN" sz="2400" dirty="0">
                <a:ea typeface="宋体" panose="02010600030101010101" pitchFamily="2" charset="-122"/>
                <a:sym typeface="+mn-ea"/>
              </a:rPr>
              <a:t>“</a:t>
            </a:r>
            <a:r>
              <a:rPr lang="zh-CN" altLang="en-US" sz="2400" dirty="0">
                <a:ea typeface="宋体" panose="02010600030101010101" pitchFamily="2" charset="-122"/>
                <a:sym typeface="+mn-ea"/>
              </a:rPr>
              <a:t>优美心灵</a:t>
            </a:r>
            <a:r>
              <a:rPr lang="en-US" altLang="zh-CN" sz="2400" dirty="0">
                <a:ea typeface="宋体" panose="02010600030101010101" pitchFamily="2" charset="-122"/>
                <a:sym typeface="+mn-ea"/>
              </a:rPr>
              <a:t>”</a:t>
            </a:r>
            <a:r>
              <a:rPr lang="zh-CN" altLang="en-US" sz="2400" dirty="0">
                <a:ea typeface="宋体" panose="02010600030101010101" pitchFamily="2" charset="-122"/>
                <a:sym typeface="+mn-ea"/>
              </a:rPr>
              <a:t>幻想。</a:t>
            </a:r>
            <a:r>
              <a:rPr lang="zh-CN" altLang="en-US" sz="2400" dirty="0">
                <a:sym typeface="+mn-ea"/>
              </a:rPr>
              <a:t>黑格尔的道德理论既是对它的合法性的辩护，也是对它的局限性的批判和诊断。</a:t>
            </a:r>
            <a:endParaRPr lang="zh-CN" altLang="en-US" sz="240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道德与法律的区别</a:t>
            </a:r>
          </a:p>
        </p:txBody>
      </p:sp>
      <p:sp>
        <p:nvSpPr>
          <p:cNvPr id="3" name="文本框 2"/>
          <p:cNvSpPr txBox="1"/>
          <p:nvPr/>
        </p:nvSpPr>
        <p:spPr>
          <a:xfrm>
            <a:off x="867410" y="1169035"/>
            <a:ext cx="10485755" cy="5016758"/>
          </a:xfrm>
          <a:prstGeom prst="rect">
            <a:avLst/>
          </a:prstGeom>
          <a:noFill/>
        </p:spPr>
        <p:txBody>
          <a:bodyPr wrap="square" rtlCol="0">
            <a:spAutoFit/>
          </a:bodyPr>
          <a:lstStyle/>
          <a:p>
            <a:r>
              <a:rPr lang="zh-CN" altLang="en-US" sz="2000" dirty="0">
                <a:latin typeface="华文中宋" panose="02010600040101010101" charset="-122"/>
                <a:ea typeface="华文中宋" panose="02010600040101010101" charset="-122"/>
                <a:cs typeface="华文中宋" panose="02010600040101010101" charset="-122"/>
              </a:rPr>
              <a:t>虽然法与道德都表现为行为，但道德与法律是有区别的。</a:t>
            </a:r>
            <a:endParaRPr lang="en-US" altLang="zh-CN" sz="2000" dirty="0">
              <a:latin typeface="华文中宋" panose="02010600040101010101" charset="-122"/>
              <a:ea typeface="华文中宋" panose="02010600040101010101" charset="-122"/>
              <a:cs typeface="华文中宋" panose="02010600040101010101" charset="-122"/>
            </a:endParaRPr>
          </a:p>
          <a:p>
            <a:r>
              <a:rPr lang="zh-CN" altLang="en-US" sz="2000" dirty="0">
                <a:latin typeface="华文中宋" panose="02010600040101010101" charset="-122"/>
                <a:ea typeface="华文中宋" panose="02010600040101010101" charset="-122"/>
                <a:cs typeface="华文中宋" panose="02010600040101010101" charset="-122"/>
              </a:rPr>
              <a:t>一般认为，法律只考虑后果，不考虑动机；法律是他律的，道德是自律的；对法律的违反会受到惩罚，违反道德只受到良心的自我谴责。</a:t>
            </a:r>
            <a:endParaRPr lang="en-US" altLang="zh-CN" sz="2000" dirty="0">
              <a:latin typeface="华文中宋" panose="02010600040101010101" charset="-122"/>
              <a:ea typeface="华文中宋" panose="02010600040101010101" charset="-122"/>
              <a:cs typeface="华文中宋" panose="02010600040101010101" charset="-122"/>
            </a:endParaRPr>
          </a:p>
          <a:p>
            <a:r>
              <a:rPr lang="zh-CN" altLang="en-US" sz="2000" dirty="0">
                <a:latin typeface="华文中宋" panose="02010600040101010101" charset="-122"/>
                <a:ea typeface="华文中宋" panose="02010600040101010101" charset="-122"/>
                <a:cs typeface="华文中宋" panose="02010600040101010101" charset="-122"/>
              </a:rPr>
              <a:t>黑格尔主要从两个方面讨论两者的区别。在抽象法中，自由意志是直接的，它没有在自身内部建立起区分，没有把意志区分为符合概念的普遍意志和仅仅是个人的主观的任性意志。其次，在抽象法中，我的意志与他人的意志没有任何肯定的关系，人的意志是通过对他人意志的排他性来证明自己的财产权的。</a:t>
            </a:r>
            <a:r>
              <a:rPr lang="en-US" altLang="zh-CN" sz="2000" dirty="0">
                <a:latin typeface="华文中宋" panose="02010600040101010101" charset="-122"/>
                <a:ea typeface="华文中宋" panose="02010600040101010101" charset="-122"/>
                <a:cs typeface="华文中宋" panose="02010600040101010101" charset="-122"/>
              </a:rPr>
              <a:t>“</a:t>
            </a:r>
            <a:r>
              <a:rPr lang="en-US" altLang="zh-CN" sz="2000" dirty="0" err="1">
                <a:latin typeface="华文中宋" panose="02010600040101010101" charset="-122"/>
                <a:ea typeface="华文中宋" panose="02010600040101010101" charset="-122"/>
                <a:cs typeface="华文中宋" panose="02010600040101010101" charset="-122"/>
              </a:rPr>
              <a:t>法的命令从</a:t>
            </a:r>
            <a:r>
              <a:rPr lang="zh-CN" altLang="en-US" sz="2000" dirty="0">
                <a:latin typeface="华文中宋" panose="02010600040101010101" charset="-122"/>
                <a:ea typeface="华文中宋" panose="02010600040101010101" charset="-122"/>
                <a:cs typeface="华文中宋" panose="02010600040101010101" charset="-122"/>
              </a:rPr>
              <a:t>它</a:t>
            </a:r>
            <a:r>
              <a:rPr lang="en-US" altLang="zh-CN" sz="2000" dirty="0" err="1">
                <a:latin typeface="华文中宋" panose="02010600040101010101" charset="-122"/>
                <a:ea typeface="华文中宋" panose="02010600040101010101" charset="-122"/>
                <a:cs typeface="华文中宋" panose="02010600040101010101" charset="-122"/>
              </a:rPr>
              <a:t>的根本规定上说来，只不过是一种禁止</a:t>
            </a:r>
            <a:r>
              <a:rPr lang="zh-CN" altLang="en-US" sz="2000" dirty="0">
                <a:latin typeface="华文中宋" panose="02010600040101010101" charset="-122"/>
                <a:ea typeface="华文中宋" panose="02010600040101010101" charset="-122"/>
                <a:cs typeface="华文中宋" panose="02010600040101010101" charset="-122"/>
              </a:rPr>
              <a:t>。在契约与不法中才开始与他人一直发生关系，但是在契约中所成立的合意是基于任性的；而且在契约中跟他人意志的本质关系，作为法的东西说来还是某种消极的东西这一方面，我还保留着我的所有权（在价值上），另一方面承认他人的所有权。反之，犯罪方面作为发自主观意志的东西以及按它在意志中的实存方式，在这里才初次成为我们所遇考察的问题。</a:t>
            </a:r>
            <a:r>
              <a:rPr lang="en-US" altLang="zh-CN" sz="2000" dirty="0">
                <a:latin typeface="华文中宋" panose="02010600040101010101" charset="-122"/>
                <a:ea typeface="华文中宋" panose="02010600040101010101" charset="-122"/>
                <a:cs typeface="华文中宋" panose="02010600040101010101" charset="-122"/>
              </a:rPr>
              <a:t>”</a:t>
            </a:r>
            <a:r>
              <a:rPr lang="zh-CN" altLang="en-US" sz="2000" dirty="0">
                <a:latin typeface="华文中宋" panose="02010600040101010101" charset="-122"/>
                <a:ea typeface="华文中宋" panose="02010600040101010101" charset="-122"/>
                <a:cs typeface="华文中宋" panose="02010600040101010101" charset="-122"/>
              </a:rPr>
              <a:t>（第</a:t>
            </a:r>
            <a:r>
              <a:rPr lang="en-US" altLang="zh-CN" sz="2000" dirty="0">
                <a:latin typeface="华文中宋" panose="02010600040101010101" charset="-122"/>
                <a:ea typeface="华文中宋" panose="02010600040101010101" charset="-122"/>
                <a:cs typeface="华文中宋" panose="02010600040101010101" charset="-122"/>
              </a:rPr>
              <a:t>113</a:t>
            </a:r>
            <a:r>
              <a:rPr lang="zh-CN" altLang="en-US" sz="2000" dirty="0">
                <a:latin typeface="华文中宋" panose="02010600040101010101" charset="-122"/>
                <a:ea typeface="华文中宋" panose="02010600040101010101" charset="-122"/>
                <a:cs typeface="华文中宋" panose="02010600040101010101" charset="-122"/>
              </a:rPr>
              <a:t>节）</a:t>
            </a:r>
          </a:p>
          <a:p>
            <a:r>
              <a:rPr lang="zh-CN" altLang="en-US" sz="2000" dirty="0">
                <a:latin typeface="华文中宋" panose="02010600040101010101" charset="-122"/>
                <a:ea typeface="华文中宋" panose="02010600040101010101" charset="-122"/>
                <a:cs typeface="华文中宋" panose="02010600040101010101" charset="-122"/>
              </a:rPr>
              <a:t>简言之，道德与法律都涉及到人的行为，在抽象法中，人的主观动机是不予考虑的，只有当它与结果发生关系时才会被考虑。而在道德中，主观动机不仅是行为的一个方面，而且是主体性一部分。所以，道德上的行为与法律行为是有区别的。简单地说，法律只考虑一个事是怎样的，而道德考虑的是一个人是怎么样，它涉及到整个人的个体性的评价。</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道德的环节</a:t>
            </a:r>
          </a:p>
        </p:txBody>
      </p:sp>
      <p:sp>
        <p:nvSpPr>
          <p:cNvPr id="3" name="文本框 2"/>
          <p:cNvSpPr txBox="1"/>
          <p:nvPr/>
        </p:nvSpPr>
        <p:spPr>
          <a:xfrm>
            <a:off x="532130" y="1090295"/>
            <a:ext cx="10822305" cy="5262979"/>
          </a:xfrm>
          <a:prstGeom prst="rect">
            <a:avLst/>
          </a:prstGeom>
          <a:noFill/>
        </p:spPr>
        <p:txBody>
          <a:bodyPr wrap="square" rtlCol="0">
            <a:spAutoFit/>
          </a:bodyPr>
          <a:lstStyle/>
          <a:p>
            <a:r>
              <a:rPr lang="zh-CN" altLang="en-US" sz="2400" dirty="0">
                <a:sym typeface="+mn-ea"/>
              </a:rPr>
              <a:t>道德是一种反思的关系，在道德关系中，必然有两个方面，一是道德的主观性方面，即动机方面和意图方面，二是主体所追求的对象，即道德关系的客观性方面，追求的目标和对象方面。</a:t>
            </a:r>
            <a:endParaRPr lang="en-US" altLang="zh-CN" sz="2400" dirty="0">
              <a:sym typeface="+mn-ea"/>
            </a:endParaRPr>
          </a:p>
          <a:p>
            <a:r>
              <a:rPr lang="zh-CN" altLang="en-US" sz="2400" dirty="0">
                <a:sym typeface="+mn-ea"/>
              </a:rPr>
              <a:t>从动机的主观形式和客观内容来考察，道德可分为三个阶段：</a:t>
            </a:r>
            <a:r>
              <a:rPr lang="en-US" altLang="zh-CN" sz="2400" dirty="0">
                <a:sym typeface="+mn-ea"/>
              </a:rPr>
              <a:t>“</a:t>
            </a:r>
            <a:r>
              <a:rPr lang="zh-CN" altLang="en-US" sz="2400" dirty="0">
                <a:sym typeface="+mn-ea"/>
              </a:rPr>
              <a:t>故意</a:t>
            </a:r>
            <a:r>
              <a:rPr lang="en-US" altLang="zh-CN" sz="2400" dirty="0">
                <a:sym typeface="+mn-ea"/>
              </a:rPr>
              <a:t>”</a:t>
            </a:r>
            <a:r>
              <a:rPr lang="zh-CN" altLang="en-US" sz="2400" dirty="0">
                <a:sym typeface="+mn-ea"/>
              </a:rPr>
              <a:t>（</a:t>
            </a:r>
            <a:r>
              <a:rPr lang="en-US" altLang="zh-CN" sz="2400" dirty="0">
                <a:sym typeface="+mn-ea"/>
              </a:rPr>
              <a:t>purpose)</a:t>
            </a:r>
            <a:r>
              <a:rPr lang="zh-CN" altLang="en-US" sz="2400" dirty="0">
                <a:sym typeface="+mn-ea"/>
              </a:rPr>
              <a:t>与</a:t>
            </a:r>
            <a:r>
              <a:rPr lang="en-US" altLang="zh-CN" sz="2400" dirty="0">
                <a:sym typeface="+mn-ea"/>
              </a:rPr>
              <a:t>“</a:t>
            </a:r>
            <a:r>
              <a:rPr lang="en-US" altLang="zh-CN" sz="2400" dirty="0" err="1">
                <a:sym typeface="+mn-ea"/>
              </a:rPr>
              <a:t>责任</a:t>
            </a:r>
            <a:r>
              <a:rPr lang="en-US" altLang="zh-CN" sz="2400" dirty="0">
                <a:sym typeface="+mn-ea"/>
              </a:rPr>
              <a:t>” (responsibility)</a:t>
            </a:r>
            <a:r>
              <a:rPr lang="zh-CN" altLang="en-US" sz="2400" dirty="0">
                <a:sym typeface="+mn-ea"/>
              </a:rPr>
              <a:t>阶段；</a:t>
            </a:r>
            <a:r>
              <a:rPr lang="en-US" altLang="zh-CN" sz="2400" dirty="0">
                <a:sym typeface="+mn-ea"/>
              </a:rPr>
              <a:t>“</a:t>
            </a:r>
            <a:r>
              <a:rPr lang="zh-CN" altLang="en-US" sz="2400" dirty="0">
                <a:sym typeface="+mn-ea"/>
              </a:rPr>
              <a:t>意图</a:t>
            </a:r>
            <a:r>
              <a:rPr lang="en-US" altLang="zh-CN" sz="2400" dirty="0">
                <a:sym typeface="+mn-ea"/>
              </a:rPr>
              <a:t>” (intention)</a:t>
            </a:r>
            <a:r>
              <a:rPr lang="zh-CN" altLang="en-US" sz="2400" dirty="0">
                <a:sym typeface="+mn-ea"/>
              </a:rPr>
              <a:t>与</a:t>
            </a:r>
            <a:r>
              <a:rPr lang="en-US" altLang="zh-CN" sz="2400" dirty="0">
                <a:sym typeface="+mn-ea"/>
              </a:rPr>
              <a:t>“</a:t>
            </a:r>
            <a:r>
              <a:rPr lang="en-US" altLang="zh-CN" sz="2400" dirty="0" err="1">
                <a:sym typeface="+mn-ea"/>
              </a:rPr>
              <a:t>福利</a:t>
            </a:r>
            <a:r>
              <a:rPr lang="en-US" altLang="zh-CN" sz="2400" dirty="0">
                <a:sym typeface="+mn-ea"/>
              </a:rPr>
              <a:t>”（welfare)</a:t>
            </a:r>
            <a:r>
              <a:rPr lang="zh-CN" altLang="en-US" sz="2400" dirty="0">
                <a:sym typeface="+mn-ea"/>
              </a:rPr>
              <a:t>阶段；</a:t>
            </a:r>
            <a:r>
              <a:rPr lang="en-US" altLang="zh-CN" sz="2400" dirty="0">
                <a:sym typeface="+mn-ea"/>
              </a:rPr>
              <a:t>“</a:t>
            </a:r>
            <a:r>
              <a:rPr lang="zh-CN" altLang="en-US" sz="2400" dirty="0">
                <a:sym typeface="+mn-ea"/>
              </a:rPr>
              <a:t>良心</a:t>
            </a:r>
            <a:r>
              <a:rPr lang="en-US" altLang="zh-CN" sz="2400" dirty="0">
                <a:sym typeface="+mn-ea"/>
              </a:rPr>
              <a:t>”(conscience)</a:t>
            </a:r>
            <a:r>
              <a:rPr lang="zh-CN" altLang="en-US" sz="2400" dirty="0">
                <a:sym typeface="+mn-ea"/>
              </a:rPr>
              <a:t>与</a:t>
            </a:r>
            <a:r>
              <a:rPr lang="en-US" altLang="zh-CN" sz="2400" dirty="0">
                <a:sym typeface="+mn-ea"/>
              </a:rPr>
              <a:t>“</a:t>
            </a:r>
            <a:r>
              <a:rPr lang="en-US" altLang="zh-CN" sz="2400" dirty="0" err="1">
                <a:sym typeface="+mn-ea"/>
              </a:rPr>
              <a:t>善”（good</a:t>
            </a:r>
            <a:r>
              <a:rPr lang="en-US" altLang="zh-CN" sz="2400" dirty="0">
                <a:sym typeface="+mn-ea"/>
              </a:rPr>
              <a:t>)</a:t>
            </a:r>
            <a:r>
              <a:rPr lang="zh-CN" altLang="en-US" sz="2400" dirty="0">
                <a:sym typeface="+mn-ea"/>
              </a:rPr>
              <a:t>阶段</a:t>
            </a:r>
            <a:r>
              <a:rPr lang="en-US" altLang="zh-CN" sz="2400" dirty="0">
                <a:sym typeface="+mn-ea"/>
              </a:rPr>
              <a:t>。</a:t>
            </a:r>
            <a:r>
              <a:rPr lang="zh-CN" altLang="en-US" sz="2400" dirty="0">
                <a:sym typeface="+mn-ea"/>
              </a:rPr>
              <a:t>道德意识的发展需要从两个方面来评价，一动机的主观自觉性程度，二是目标的普遍性程度，在其最高阶段，道德的主观 性是良心，道德的客观性是善。这里的客观性不是实际存在意义上的实存性，而是概念的客观性。</a:t>
            </a:r>
          </a:p>
          <a:p>
            <a:r>
              <a:rPr lang="zh-CN" altLang="en-US" sz="2400" dirty="0">
                <a:sym typeface="+mn-ea"/>
              </a:rPr>
              <a:t> </a:t>
            </a:r>
            <a:r>
              <a:rPr lang="en-US" altLang="zh-CN" sz="2400" dirty="0">
                <a:sym typeface="+mn-ea"/>
              </a:rPr>
              <a:t>“</a:t>
            </a:r>
            <a:r>
              <a:rPr lang="zh-CN" altLang="en-US" sz="2400" dirty="0">
                <a:sym typeface="+mn-ea"/>
              </a:rPr>
              <a:t>故意</a:t>
            </a:r>
            <a:r>
              <a:rPr lang="en-US" altLang="zh-CN" sz="2400" dirty="0">
                <a:sym typeface="+mn-ea"/>
              </a:rPr>
              <a:t>”</a:t>
            </a:r>
            <a:r>
              <a:rPr lang="zh-CN" altLang="en-US" sz="2400" dirty="0">
                <a:sym typeface="+mn-ea"/>
              </a:rPr>
              <a:t>指有意做某事，至于内容是什么是无所谓的，因而是最低级的道德意识，缺乏真正的道德自觉性，在这里我们只需考虑行为的责任。</a:t>
            </a:r>
            <a:r>
              <a:rPr lang="en-US" altLang="zh-CN" sz="2400" dirty="0">
                <a:sym typeface="+mn-ea"/>
              </a:rPr>
              <a:t>“</a:t>
            </a:r>
            <a:r>
              <a:rPr lang="zh-CN" altLang="en-US" sz="2400" dirty="0">
                <a:sym typeface="+mn-ea"/>
              </a:rPr>
              <a:t>意图</a:t>
            </a:r>
            <a:r>
              <a:rPr lang="en-US" altLang="zh-CN" sz="2400" dirty="0">
                <a:sym typeface="+mn-ea"/>
              </a:rPr>
              <a:t>”</a:t>
            </a:r>
            <a:r>
              <a:rPr lang="zh-CN" altLang="en-US" sz="2400" dirty="0">
                <a:sym typeface="+mn-ea"/>
              </a:rPr>
              <a:t>是更高的动机形式，摆脱了偶然性，开始追求某个普遍的目标，如人的幸福。</a:t>
            </a:r>
            <a:r>
              <a:rPr lang="en-US" altLang="zh-CN" sz="2400" dirty="0">
                <a:sym typeface="+mn-ea"/>
              </a:rPr>
              <a:t>“</a:t>
            </a:r>
            <a:r>
              <a:rPr lang="zh-CN" altLang="en-US" sz="2400" dirty="0">
                <a:sym typeface="+mn-ea"/>
              </a:rPr>
              <a:t>良心</a:t>
            </a:r>
            <a:r>
              <a:rPr lang="en-US" altLang="zh-CN" sz="2400" dirty="0">
                <a:sym typeface="+mn-ea"/>
              </a:rPr>
              <a:t>”</a:t>
            </a:r>
            <a:r>
              <a:rPr lang="zh-CN" altLang="en-US" sz="2400" dirty="0">
                <a:sym typeface="+mn-ea"/>
              </a:rPr>
              <a:t>是道德意识发展的最高阶段，它不仅是完全自觉的，而且把追求普遍的善作为自己的目的。</a:t>
            </a:r>
            <a:endParaRPr lang="zh-CN" altLang="en-US" sz="24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占位符 7"/>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6502" b="16502"/>
          <a:stretch>
            <a:fillRect/>
          </a:stretch>
        </p:blipFill>
        <p:spPr/>
      </p:pic>
      <p:sp>
        <p:nvSpPr>
          <p:cNvPr id="11" name="圆角矩形 10"/>
          <p:cNvSpPr/>
          <p:nvPr/>
        </p:nvSpPr>
        <p:spPr>
          <a:xfrm>
            <a:off x="0" y="2870200"/>
            <a:ext cx="6502399" cy="1089061"/>
          </a:xfrm>
          <a:prstGeom prst="roundRect">
            <a:avLst>
              <a:gd name="adj" fmla="val 0"/>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手动输入 9"/>
          <p:cNvSpPr/>
          <p:nvPr/>
        </p:nvSpPr>
        <p:spPr>
          <a:xfrm rot="16200000" flipH="1">
            <a:off x="5201024" y="-132977"/>
            <a:ext cx="6858000" cy="7123953"/>
          </a:xfrm>
          <a:prstGeom prst="flowChartManualInput">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标题 6"/>
          <p:cNvSpPr>
            <a:spLocks noGrp="1"/>
          </p:cNvSpPr>
          <p:nvPr>
            <p:ph type="title"/>
          </p:nvPr>
        </p:nvSpPr>
        <p:spPr>
          <a:xfrm>
            <a:off x="0" y="2576811"/>
            <a:ext cx="5570071" cy="1800000"/>
          </a:xfrm>
        </p:spPr>
        <p:txBody>
          <a:bodyPr anchor="ctr"/>
          <a:lstStyle/>
          <a:p>
            <a:pPr algn="r"/>
            <a:r>
              <a:rPr lang="zh-CN" altLang="en-US" dirty="0"/>
              <a:t>故意与责任</a:t>
            </a:r>
          </a:p>
        </p:txBody>
      </p:sp>
      <p:sp>
        <p:nvSpPr>
          <p:cNvPr id="12" name="文本框 11"/>
          <p:cNvSpPr txBox="1"/>
          <p:nvPr/>
        </p:nvSpPr>
        <p:spPr>
          <a:xfrm>
            <a:off x="6956723" y="-1518701"/>
            <a:ext cx="4084773" cy="9325630"/>
          </a:xfrm>
          <a:prstGeom prst="rect">
            <a:avLst/>
          </a:prstGeom>
          <a:noFill/>
        </p:spPr>
        <p:txBody>
          <a:bodyPr wrap="none" rtlCol="0">
            <a:spAutoFit/>
          </a:bodyPr>
          <a:lstStyle/>
          <a:p>
            <a:r>
              <a:rPr lang="en-US" altLang="zh-CN" sz="60000" dirty="0">
                <a:solidFill>
                  <a:srgbClr val="004F8A"/>
                </a:solidFill>
              </a:rPr>
              <a:t>2</a:t>
            </a:r>
            <a:endParaRPr lang="zh-CN" altLang="en-US" sz="60000" dirty="0">
              <a:solidFill>
                <a:srgbClr val="004F8A"/>
              </a:solidFill>
            </a:endParaRPr>
          </a:p>
        </p:txBody>
      </p:sp>
      <p:cxnSp>
        <p:nvCxnSpPr>
          <p:cNvPr id="4" name="直接连接符 3"/>
          <p:cNvCxnSpPr/>
          <p:nvPr/>
        </p:nvCxnSpPr>
        <p:spPr>
          <a:xfrm>
            <a:off x="0" y="2971800"/>
            <a:ext cx="58928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3873500"/>
            <a:ext cx="5689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故意</a:t>
            </a:r>
            <a:endParaRPr lang="zh-CN" altLang="en-US"/>
          </a:p>
        </p:txBody>
      </p:sp>
      <p:sp>
        <p:nvSpPr>
          <p:cNvPr id="3" name="文本框 2"/>
          <p:cNvSpPr txBox="1"/>
          <p:nvPr/>
        </p:nvSpPr>
        <p:spPr>
          <a:xfrm>
            <a:off x="623570" y="1625600"/>
            <a:ext cx="10948670" cy="3576955"/>
          </a:xfrm>
          <a:prstGeom prst="rect">
            <a:avLst/>
          </a:prstGeom>
          <a:noFill/>
        </p:spPr>
        <p:txBody>
          <a:bodyPr wrap="square" rtlCol="0">
            <a:spAutoFit/>
          </a:bodyPr>
          <a:lstStyle/>
          <a:p>
            <a:pPr eaLnBrk="1" hangingPunct="1">
              <a:lnSpc>
                <a:spcPct val="90000"/>
              </a:lnSpc>
              <a:buFont typeface="Wingdings" panose="05000000000000000000" pitchFamily="2" charset="2"/>
              <a:buNone/>
            </a:pPr>
            <a:r>
              <a:rPr lang="en-US" altLang="zh-CN" sz="2800" dirty="0">
                <a:sym typeface="+mn-ea"/>
              </a:rPr>
              <a:t>“</a:t>
            </a:r>
            <a:r>
              <a:rPr lang="zh-CN" altLang="en-US" sz="2800" dirty="0">
                <a:sym typeface="+mn-ea"/>
              </a:rPr>
              <a:t>故意与责任</a:t>
            </a:r>
            <a:r>
              <a:rPr lang="en-US" altLang="zh-CN" sz="2800" dirty="0">
                <a:sym typeface="+mn-ea"/>
              </a:rPr>
              <a:t>”</a:t>
            </a:r>
            <a:r>
              <a:rPr lang="zh-CN" altLang="en-US" sz="2800" dirty="0">
                <a:sym typeface="+mn-ea"/>
              </a:rPr>
              <a:t>是 道德意识发展的第一个阶段，也是最初的阶段。作为自为的自由意志，故意带有自我意识的特征，但是，这种主观性没有明确的内容，它只是一种故意（</a:t>
            </a:r>
            <a:r>
              <a:rPr lang="en-US" altLang="zh-CN" sz="2800" dirty="0">
                <a:sym typeface="+mn-ea"/>
              </a:rPr>
              <a:t>purpose)</a:t>
            </a:r>
            <a:r>
              <a:rPr lang="zh-CN" altLang="en-US" sz="2800" dirty="0">
                <a:ea typeface="宋体" panose="02010600030101010101" pitchFamily="2" charset="-122"/>
                <a:sym typeface="+mn-ea"/>
              </a:rPr>
              <a:t>。</a:t>
            </a:r>
            <a:r>
              <a:rPr lang="en-US" altLang="zh-CN" sz="2800" dirty="0">
                <a:sym typeface="+mn-ea"/>
              </a:rPr>
              <a:t>“</a:t>
            </a:r>
            <a:r>
              <a:rPr lang="zh-CN" altLang="en-US" sz="2800" dirty="0">
                <a:sym typeface="+mn-ea"/>
              </a:rPr>
              <a:t>故意</a:t>
            </a:r>
            <a:r>
              <a:rPr lang="en-US" altLang="zh-CN" sz="2800" dirty="0">
                <a:sym typeface="+mn-ea"/>
              </a:rPr>
              <a:t>”</a:t>
            </a:r>
            <a:r>
              <a:rPr lang="zh-CN" altLang="en-US" sz="2800" dirty="0">
                <a:sym typeface="+mn-ea"/>
              </a:rPr>
              <a:t>指有意做某事，人的行为总是具有主观性，带有主观故意的成分。由于缺少主体对自己意志的明确的反思关系，意志的内容是不确定的，我们无法进行内在评价，在这个阶段，意志直接地表现为某种行动，人们对它的评价不是根据动机的内容，而仅仅要求其对行动的后果负责。因此，故意与责任之间关系构成这一阶段的核心问题。</a:t>
            </a:r>
          </a:p>
          <a:p>
            <a:pPr eaLnBrk="1" hangingPunct="1">
              <a:lnSpc>
                <a:spcPct val="90000"/>
              </a:lnSpc>
              <a:buFont typeface="Wingdings" panose="05000000000000000000" pitchFamily="2" charset="2"/>
              <a:buNone/>
            </a:pPr>
            <a:r>
              <a:rPr lang="zh-CN" altLang="en-US" sz="2800" dirty="0">
                <a:sym typeface="+mn-ea"/>
              </a:rPr>
              <a:t>   </a:t>
            </a:r>
            <a:endParaRPr lang="zh-CN" altLang="en-US" sz="28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zh-CN" altLang="en-US">
                <a:sym typeface="+mn-ea"/>
              </a:rPr>
            </a:br>
            <a:r>
              <a:rPr lang="zh-CN" altLang="en-US">
                <a:sym typeface="+mn-ea"/>
              </a:rPr>
              <a:t>责任是主观认知的法</a:t>
            </a:r>
            <a:br>
              <a:rPr lang="zh-CN" altLang="en-US">
                <a:sym typeface="+mn-ea"/>
              </a:rPr>
            </a:br>
            <a:endParaRPr lang="zh-CN" altLang="en-US"/>
          </a:p>
        </p:txBody>
      </p:sp>
      <p:sp>
        <p:nvSpPr>
          <p:cNvPr id="3" name="文本框 2"/>
          <p:cNvSpPr txBox="1"/>
          <p:nvPr/>
        </p:nvSpPr>
        <p:spPr>
          <a:xfrm>
            <a:off x="532765" y="986155"/>
            <a:ext cx="11151235" cy="4769485"/>
          </a:xfrm>
          <a:prstGeom prst="rect">
            <a:avLst/>
          </a:prstGeom>
          <a:noFill/>
        </p:spPr>
        <p:txBody>
          <a:bodyPr wrap="square" rtlCol="0">
            <a:spAutoFit/>
          </a:bodyPr>
          <a:lstStyle/>
          <a:p>
            <a:pPr algn="l"/>
            <a:r>
              <a:rPr lang="zh-CN" altLang="en-US" sz="2000">
                <a:sym typeface="+mn-ea"/>
              </a:rPr>
              <a:t>在伦理学中，人是否应该为自己的行为负责是一个争论不休的问题，自由意志论认为人应该为自己的行为负责，因为这个行为是你的行为。机械决定论认为，没有人应该为自己的行为负责，因为每个人行为都处在行为链的一个环节上，都是由其他的行为决定的。黑格尔通过对人的行为（</a:t>
            </a:r>
            <a:r>
              <a:rPr lang="en-US" altLang="zh-CN" sz="2000">
                <a:sym typeface="+mn-ea"/>
              </a:rPr>
              <a:t>action)</a:t>
            </a:r>
            <a:r>
              <a:rPr lang="zh-CN" altLang="en-US" sz="2000">
                <a:ea typeface="宋体" panose="02010600030101010101" pitchFamily="2" charset="-122"/>
                <a:sym typeface="+mn-ea"/>
              </a:rPr>
              <a:t>概念的内在结构和辩证关系的分析，为这个问题提供了解答。</a:t>
            </a:r>
            <a:endParaRPr lang="zh-CN" altLang="en-US" sz="2000">
              <a:sym typeface="+mn-ea"/>
            </a:endParaRPr>
          </a:p>
          <a:p>
            <a:pPr algn="l"/>
            <a:r>
              <a:rPr lang="zh-CN" altLang="en-US" sz="2000">
                <a:sym typeface="+mn-ea"/>
              </a:rPr>
              <a:t>黑格尔认为，人应该为自己的行为负责，但只应当为他所知道的后果负责。</a:t>
            </a:r>
            <a:r>
              <a:rPr lang="en-US" altLang="zh-CN" sz="2000">
                <a:sym typeface="+mn-ea"/>
              </a:rPr>
              <a:t>“在行为（action)的直接性中主观意志的有限性直接包含在这样的事实中：意志的行为预先假定存在着外部对象以及相关联的环境。行动(deed)对特定的存在造成某种变化，就这些变化的东西带有我的东西的抽象规定，所以意志应该为其行为负责。”(§115)</a:t>
            </a:r>
          </a:p>
          <a:p>
            <a:pPr eaLnBrk="1" hangingPunct="1">
              <a:lnSpc>
                <a:spcPct val="120000"/>
              </a:lnSpc>
              <a:buFont typeface="Wingdings" panose="05000000000000000000" pitchFamily="2" charset="2"/>
              <a:buNone/>
            </a:pPr>
            <a:r>
              <a:rPr lang="zh-CN" altLang="en-US" sz="2000">
                <a:sym typeface="+mn-ea"/>
              </a:rPr>
              <a:t>人的行为动机是主观的，但是行为结果中包含着主观无法主宰的偶然性，人不应该为行为的一切后果负责，只因为可以意识到的后果负责。在此意义上，</a:t>
            </a:r>
            <a:r>
              <a:rPr lang="en-US" altLang="zh-CN" sz="2000">
                <a:sym typeface="+mn-ea"/>
              </a:rPr>
              <a:t>“</a:t>
            </a:r>
            <a:r>
              <a:rPr lang="zh-CN" altLang="en-US" sz="2000" b="1">
                <a:sym typeface="+mn-ea"/>
              </a:rPr>
              <a:t>责任是作为主观认知的法</a:t>
            </a:r>
            <a:r>
              <a:rPr lang="en-US" altLang="zh-CN" sz="2000" b="1">
                <a:sym typeface="+mn-ea"/>
              </a:rPr>
              <a:t>”</a:t>
            </a:r>
            <a:r>
              <a:rPr lang="zh-CN" altLang="en-US" sz="2000" b="1">
                <a:sym typeface="+mn-ea"/>
              </a:rPr>
              <a:t>。黑格尔说：</a:t>
            </a:r>
            <a:r>
              <a:rPr lang="en-US" altLang="zh-CN" sz="2000">
                <a:sym typeface="+mn-ea"/>
              </a:rPr>
              <a:t>“意志的法，在意志行动中仅仅以意志在它的目的中所知道的这些假定</a:t>
            </a:r>
            <a:r>
              <a:rPr lang="zh-CN" altLang="en-US" sz="2000">
                <a:sym typeface="+mn-ea"/>
              </a:rPr>
              <a:t>以及包含在故意中的东西为限，承认是它的行为，而应对这一行为负责。行动只有作为意志的过错才能归责于我。这是认识的法。</a:t>
            </a:r>
            <a:r>
              <a:rPr lang="en-US" altLang="zh-CN" sz="2000">
                <a:sym typeface="+mn-ea"/>
              </a:rPr>
              <a:t>”（§117</a:t>
            </a:r>
            <a:r>
              <a:rPr lang="zh-CN" altLang="en-US" sz="2000">
                <a:ea typeface="宋体" panose="02010600030101010101" pitchFamily="2" charset="-122"/>
                <a:sym typeface="+mn-ea"/>
              </a:rPr>
              <a:t>）</a:t>
            </a:r>
            <a:r>
              <a:rPr lang="en-US" altLang="zh-CN" sz="2000">
                <a:sym typeface="+mn-ea"/>
              </a:rPr>
              <a:t>“按照意志的法，意志只对最初的后果负责，只有这最初的后果是包含在它的故意之中。”</a:t>
            </a:r>
            <a:r>
              <a:rPr lang="zh-CN" altLang="en-US" sz="2000">
                <a:ea typeface="宋体" panose="02010600030101010101" pitchFamily="2" charset="-122"/>
                <a:sym typeface="+mn-ea"/>
              </a:rPr>
              <a:t>（</a:t>
            </a:r>
            <a:r>
              <a:rPr lang="en-US" altLang="zh-CN" sz="2000">
                <a:sym typeface="+mn-ea"/>
              </a:rPr>
              <a:t>§118</a:t>
            </a:r>
            <a:r>
              <a:rPr lang="zh-CN" altLang="en-US" sz="2000">
                <a:ea typeface="宋体" panose="02010600030101010101" pitchFamily="2" charset="-122"/>
                <a:sym typeface="+mn-ea"/>
              </a:rPr>
              <a:t>）因为</a:t>
            </a:r>
            <a:r>
              <a:rPr lang="en-US" altLang="zh-CN" sz="2000">
                <a:sym typeface="+mn-ea"/>
              </a:rPr>
              <a:t> “人只能以我知道的东西归责于我。”（121页）</a:t>
            </a:r>
            <a:endParaRPr lang="zh-CN" altLang="en-US" sz="200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超越唯动机论和后果论的对立</a:t>
            </a:r>
          </a:p>
        </p:txBody>
      </p:sp>
      <p:sp>
        <p:nvSpPr>
          <p:cNvPr id="3" name="文本框 2"/>
          <p:cNvSpPr txBox="1"/>
          <p:nvPr/>
        </p:nvSpPr>
        <p:spPr>
          <a:xfrm>
            <a:off x="272415" y="880745"/>
            <a:ext cx="11434445" cy="6334125"/>
          </a:xfrm>
          <a:prstGeom prst="rect">
            <a:avLst/>
          </a:prstGeom>
          <a:noFill/>
        </p:spPr>
        <p:txBody>
          <a:bodyPr wrap="square" rtlCol="0">
            <a:spAutoFit/>
          </a:bodyPr>
          <a:lstStyle/>
          <a:p>
            <a:pPr marL="274320" indent="-274320" eaLnBrk="1" fontAlgn="auto" hangingPunct="1">
              <a:lnSpc>
                <a:spcPct val="115000"/>
              </a:lnSpc>
              <a:spcAft>
                <a:spcPts val="0"/>
              </a:spcAft>
              <a:buClr>
                <a:schemeClr val="accent3"/>
              </a:buClr>
              <a:buFont typeface="Wingdings" panose="05000000000000000000" pitchFamily="2" charset="2"/>
              <a:buNone/>
              <a:defRPr/>
            </a:pPr>
            <a:r>
              <a:rPr lang="en-US" altLang="zh-CN" dirty="0">
                <a:sym typeface="+mn-ea"/>
              </a:rPr>
              <a:t>     </a:t>
            </a:r>
            <a:r>
              <a:rPr lang="en-US" altLang="zh-CN" sz="2000" dirty="0">
                <a:sym typeface="+mn-ea"/>
              </a:rPr>
              <a:t> </a:t>
            </a:r>
            <a:r>
              <a:rPr lang="zh-CN" altLang="en-US" sz="2000" dirty="0">
                <a:ea typeface="宋体" panose="02010600030101010101" pitchFamily="2" charset="-122"/>
                <a:sym typeface="+mn-ea"/>
              </a:rPr>
              <a:t>动机与结果的关系是我们在行为评价中经常遇到的问题</a:t>
            </a:r>
            <a:r>
              <a:rPr lang="zh-CN" altLang="en-US" sz="2000" dirty="0">
                <a:sym typeface="+mn-ea"/>
              </a:rPr>
              <a:t>。在日常生活中，我们往往陷入决定论或自由意志的二律背反之中，或者认为人有自由意志的，所以人应该为自己的行为的一切后果负责，或者认为人没有自由意志，所以无需为自己的行为负责。这两种观点都是片面的，它没有意识到人的行为（</a:t>
            </a:r>
            <a:r>
              <a:rPr lang="en-US" altLang="zh-CN" sz="2000" dirty="0">
                <a:sym typeface="+mn-ea"/>
              </a:rPr>
              <a:t>action)</a:t>
            </a:r>
            <a:r>
              <a:rPr lang="en-US" altLang="zh-CN" sz="2000" dirty="0" err="1">
                <a:sym typeface="+mn-ea"/>
              </a:rPr>
              <a:t>造成的后果，既有主观</a:t>
            </a:r>
            <a:r>
              <a:rPr lang="zh-CN" altLang="en-US" sz="2000" dirty="0">
                <a:sym typeface="+mn-ea"/>
              </a:rPr>
              <a:t>的故意，也有客观的偶然性。一方面，一切行为都出于我的故意，因而我必须对它的后果负责。另一方面，我的行动的后果包含着非我的故意成分，即外界我不在这个备课吗？环境的偶然性的成为，因而我不应该为其所有的后果负责。在此意义上，无论是意志主义还是机械主义都是片面的，前者夸大了故意对行动的影响，要求人们对一切后果负责，如萨特。后者夸大了人的行为中客观环境和偶然性的影响，认为人无需为自己的行动后果负责，如法国机械唯物主义。两者割裂了道德行为中主观因素与客观因素之间的相互关系，陷入片面。</a:t>
            </a:r>
          </a:p>
          <a:p>
            <a:pPr marL="274320" indent="-274320" eaLnBrk="1" fontAlgn="auto" hangingPunct="1">
              <a:spcAft>
                <a:spcPts val="0"/>
              </a:spcAft>
              <a:buClr>
                <a:schemeClr val="accent3"/>
              </a:buClr>
              <a:buFont typeface="Wingdings 2" panose="05020102010507070707"/>
              <a:buChar char=""/>
              <a:defRPr/>
            </a:pPr>
            <a:r>
              <a:rPr lang="zh-CN" altLang="en-US" sz="2000" dirty="0">
                <a:ea typeface="宋体" panose="02010600030101010101" pitchFamily="2" charset="-122"/>
                <a:sym typeface="+mn-ea"/>
              </a:rPr>
              <a:t>黑格尔强调动机与效果的统一。</a:t>
            </a:r>
            <a:r>
              <a:rPr lang="en-US" altLang="zh-CN" sz="2000" dirty="0">
                <a:sym typeface="+mn-ea"/>
              </a:rPr>
              <a:t>“</a:t>
            </a:r>
            <a:r>
              <a:rPr lang="en-US" altLang="zh-CN" sz="2000" dirty="0" err="1">
                <a:sym typeface="+mn-ea"/>
              </a:rPr>
              <a:t>论行为而不问其后果这样一个原则</a:t>
            </a:r>
            <a:r>
              <a:rPr lang="zh-CN" altLang="en-US" sz="2000" dirty="0">
                <a:sym typeface="+mn-ea"/>
              </a:rPr>
              <a:t>以及另一原则，即应该按其后果来论行为并把后果当作正义的和善的一样，都属于抽象的理智。后果是行为特有的内在形态，是行为本性的表现，而且就是行为本身，所以行为既不能否认也不能轻视其后果。但是另一方面，后果也包含着外部侵入的东西和偶然附加的东西，这却与行为的本性无关。</a:t>
            </a:r>
            <a:r>
              <a:rPr lang="en-US" altLang="zh-CN" sz="2000" dirty="0">
                <a:sym typeface="+mn-ea"/>
              </a:rPr>
              <a:t>”§118</a:t>
            </a:r>
            <a:r>
              <a:rPr lang="zh-CN" altLang="en-US" sz="2000" dirty="0">
                <a:ea typeface="宋体" panose="02010600030101010101" pitchFamily="2" charset="-122"/>
                <a:sym typeface="+mn-ea"/>
              </a:rPr>
              <a:t>。</a:t>
            </a:r>
            <a:r>
              <a:rPr lang="zh-CN" altLang="en-US" sz="2000" dirty="0">
                <a:sym typeface="+mn-ea"/>
              </a:rPr>
              <a:t>动机论和后果论之所以是片面的在于，它们没有认为到人的行为包含着行动又不能还原为行动。动机论者只承认人的行为完全视为主观的，不承认其中受物质环境作用的行动成分，后果论者只承认行动，不承认行为中主观意志成分。因而，它们都没有在概念上对行动</a:t>
            </a:r>
            <a:r>
              <a:rPr lang="en-US" altLang="zh-CN" sz="2000" dirty="0">
                <a:sym typeface="+mn-ea"/>
              </a:rPr>
              <a:t>(deed)</a:t>
            </a:r>
            <a:r>
              <a:rPr lang="en-US" altLang="zh-CN" sz="2000" dirty="0" err="1">
                <a:sym typeface="+mn-ea"/>
              </a:rPr>
              <a:t>和行为（action</a:t>
            </a:r>
            <a:r>
              <a:rPr lang="en-US" altLang="zh-CN" sz="2000" dirty="0">
                <a:sym typeface="+mn-ea"/>
              </a:rPr>
              <a:t>)，</a:t>
            </a:r>
            <a:r>
              <a:rPr lang="en-US" altLang="zh-CN" sz="2000" dirty="0" err="1">
                <a:sym typeface="+mn-ea"/>
              </a:rPr>
              <a:t>在外部事件（external</a:t>
            </a:r>
            <a:r>
              <a:rPr lang="en-US" altLang="zh-CN" sz="2000" dirty="0">
                <a:sym typeface="+mn-ea"/>
              </a:rPr>
              <a:t> event)</a:t>
            </a:r>
            <a:r>
              <a:rPr lang="en-US" altLang="zh-CN" sz="2000" dirty="0" err="1">
                <a:sym typeface="+mn-ea"/>
              </a:rPr>
              <a:t>和目的（purpose</a:t>
            </a:r>
            <a:r>
              <a:rPr lang="en-US" altLang="zh-CN" sz="2000" dirty="0">
                <a:sym typeface="+mn-ea"/>
              </a:rPr>
              <a:t>)</a:t>
            </a:r>
            <a:r>
              <a:rPr lang="en-US" altLang="zh-CN" sz="2000" dirty="0" err="1">
                <a:sym typeface="+mn-ea"/>
              </a:rPr>
              <a:t>之间</a:t>
            </a:r>
            <a:r>
              <a:rPr lang="zh-CN" altLang="en-US" sz="2000" dirty="0" err="1">
                <a:ea typeface="宋体" panose="02010600030101010101" pitchFamily="2" charset="-122"/>
                <a:sym typeface="+mn-ea"/>
              </a:rPr>
              <a:t>的关系做出合理的解释</a:t>
            </a:r>
            <a:r>
              <a:rPr lang="en-US" altLang="zh-CN" sz="2000" dirty="0">
                <a:sym typeface="+mn-ea"/>
              </a:rPr>
              <a:t>。</a:t>
            </a:r>
            <a:r>
              <a:rPr lang="zh-CN" altLang="en-US" sz="2000" dirty="0">
                <a:sym typeface="+mn-ea"/>
              </a:rPr>
              <a:t> </a:t>
            </a:r>
            <a:endParaRPr lang="en-US" altLang="zh-CN" sz="2000" dirty="0"/>
          </a:p>
          <a:p>
            <a:pPr marL="274320" indent="-274320" eaLnBrk="1" fontAlgn="auto" hangingPunct="1">
              <a:spcAft>
                <a:spcPts val="0"/>
              </a:spcAft>
              <a:buClr>
                <a:schemeClr val="accent3"/>
              </a:buClr>
              <a:buFont typeface="Wingdings 2" panose="05020102010507070707"/>
              <a:buChar char=""/>
              <a:defRPr/>
            </a:pPr>
            <a:endParaRPr lang="zh-CN" altLang="en-US" dirty="0"/>
          </a:p>
          <a:p>
            <a:pPr marL="274320" indent="-274320" eaLnBrk="1" fontAlgn="auto" hangingPunct="1">
              <a:lnSpc>
                <a:spcPct val="115000"/>
              </a:lnSpc>
              <a:spcAft>
                <a:spcPts val="0"/>
              </a:spcAft>
              <a:buClr>
                <a:schemeClr val="accent3"/>
              </a:buClr>
              <a:buFont typeface="Wingdings" panose="05000000000000000000" pitchFamily="2" charset="2"/>
              <a:buNone/>
              <a:defRPr/>
            </a:pPr>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占位符 7"/>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6502" b="16502"/>
          <a:stretch>
            <a:fillRect/>
          </a:stretch>
        </p:blipFill>
        <p:spPr/>
      </p:pic>
      <p:sp>
        <p:nvSpPr>
          <p:cNvPr id="11" name="圆角矩形 10"/>
          <p:cNvSpPr/>
          <p:nvPr/>
        </p:nvSpPr>
        <p:spPr>
          <a:xfrm>
            <a:off x="0" y="2870200"/>
            <a:ext cx="6502399" cy="1089061"/>
          </a:xfrm>
          <a:prstGeom prst="roundRect">
            <a:avLst>
              <a:gd name="adj" fmla="val 0"/>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手动输入 9"/>
          <p:cNvSpPr/>
          <p:nvPr/>
        </p:nvSpPr>
        <p:spPr>
          <a:xfrm rot="16200000" flipH="1">
            <a:off x="5201024" y="-132977"/>
            <a:ext cx="6858000" cy="7123953"/>
          </a:xfrm>
          <a:prstGeom prst="flowChartManualInput">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标题 6"/>
          <p:cNvSpPr>
            <a:spLocks noGrp="1"/>
          </p:cNvSpPr>
          <p:nvPr>
            <p:ph type="title"/>
          </p:nvPr>
        </p:nvSpPr>
        <p:spPr>
          <a:xfrm>
            <a:off x="0" y="2576811"/>
            <a:ext cx="5570071" cy="1800000"/>
          </a:xfrm>
        </p:spPr>
        <p:txBody>
          <a:bodyPr anchor="ctr"/>
          <a:lstStyle/>
          <a:p>
            <a:pPr algn="r"/>
            <a:r>
              <a:rPr lang="zh-CN" altLang="en-US" dirty="0"/>
              <a:t>意图与福利</a:t>
            </a:r>
          </a:p>
        </p:txBody>
      </p:sp>
      <p:sp>
        <p:nvSpPr>
          <p:cNvPr id="12" name="文本框 11"/>
          <p:cNvSpPr txBox="1"/>
          <p:nvPr/>
        </p:nvSpPr>
        <p:spPr>
          <a:xfrm>
            <a:off x="6956723" y="-1518701"/>
            <a:ext cx="4084773" cy="9325630"/>
          </a:xfrm>
          <a:prstGeom prst="rect">
            <a:avLst/>
          </a:prstGeom>
          <a:noFill/>
        </p:spPr>
        <p:txBody>
          <a:bodyPr wrap="none" rtlCol="0">
            <a:spAutoFit/>
          </a:bodyPr>
          <a:lstStyle/>
          <a:p>
            <a:r>
              <a:rPr lang="en-US" altLang="zh-CN" sz="60000" dirty="0">
                <a:solidFill>
                  <a:srgbClr val="004F8A"/>
                </a:solidFill>
              </a:rPr>
              <a:t>3</a:t>
            </a:r>
            <a:endParaRPr lang="zh-CN" altLang="en-US" sz="60000" dirty="0">
              <a:solidFill>
                <a:srgbClr val="004F8A"/>
              </a:solidFill>
            </a:endParaRPr>
          </a:p>
        </p:txBody>
      </p:sp>
      <p:cxnSp>
        <p:nvCxnSpPr>
          <p:cNvPr id="4" name="直接连接符 3"/>
          <p:cNvCxnSpPr/>
          <p:nvPr/>
        </p:nvCxnSpPr>
        <p:spPr>
          <a:xfrm>
            <a:off x="0" y="2971800"/>
            <a:ext cx="58928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3873500"/>
            <a:ext cx="5689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从故意到意图</a:t>
            </a:r>
          </a:p>
        </p:txBody>
      </p:sp>
      <p:sp>
        <p:nvSpPr>
          <p:cNvPr id="3" name="文本框 2"/>
          <p:cNvSpPr txBox="1"/>
          <p:nvPr/>
        </p:nvSpPr>
        <p:spPr>
          <a:xfrm>
            <a:off x="593090" y="1151255"/>
            <a:ext cx="10880725" cy="5262979"/>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故意是特殊目的的行为，也就是，无论一个行为是什么，只要它出自自我的主观性目的，都属于道德行为。但是，人的行为不仅是有目的的，而且还追求普遍的目的。当行为的动机超出当下的直接后果而取向于某种普遍的目的时，道德意识的发展就从故意发展到意图。在故意中，我只对我的表现的东西负责，只对可预知到的行为后果负责，也就是对行为的特殊内容负责。从故意到意图的过渡意味着我们意识到，虽然行为的特殊结果是与行为有关的，但有一些必然的后果与每一个行为有关，这些结果就是特殊物中的普遍物。而对一切行为中普遍物的追求就是意图。</a:t>
            </a:r>
          </a:p>
          <a:p>
            <a:endParaRPr lang="zh-CN" altLang="en-US"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我固然不能预见到那些可也许可以防止的后果，但我必须认识到个别行动的普遍性质在这里，问题不是个别而是整体，而这不与特殊的行为的特殊方面有相关，而是与普遍性质相关，现在有故意向意图的过渡，在于我不但应该知道我的个别行为，而且应知道与它相关的普遍物，这样出现的普遍物就是我需求的东西，就是我的意图。”</a:t>
            </a:r>
            <a:endParaRPr lang="en-US" altLang="zh-CN" sz="24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zh-CN" altLang="en-US">
                <a:sym typeface="+mn-ea"/>
              </a:rPr>
            </a:br>
            <a:r>
              <a:rPr lang="zh-CN" altLang="en-US">
                <a:sym typeface="+mn-ea"/>
              </a:rPr>
              <a:t>主观自由的法是古代到现代的转折点</a:t>
            </a:r>
            <a:br>
              <a:rPr lang="zh-CN" altLang="en-US"/>
            </a:br>
            <a:endParaRPr lang="zh-CN" altLang="en-US"/>
          </a:p>
        </p:txBody>
      </p:sp>
      <p:sp>
        <p:nvSpPr>
          <p:cNvPr id="3" name="文本框 2"/>
          <p:cNvSpPr txBox="1"/>
          <p:nvPr/>
        </p:nvSpPr>
        <p:spPr>
          <a:xfrm>
            <a:off x="289560" y="1083310"/>
            <a:ext cx="11292205" cy="5492750"/>
          </a:xfrm>
          <a:prstGeom prst="rect">
            <a:avLst/>
          </a:prstGeom>
          <a:noFill/>
        </p:spPr>
        <p:txBody>
          <a:bodyPr wrap="square" rtlCol="0">
            <a:spAutoFit/>
          </a:bodyPr>
          <a:lstStyle/>
          <a:p>
            <a:pPr marL="274320" indent="-274320" eaLnBrk="1" fontAlgn="auto" hangingPunct="1">
              <a:lnSpc>
                <a:spcPct val="135000"/>
              </a:lnSpc>
              <a:spcAft>
                <a:spcPts val="0"/>
              </a:spcAft>
              <a:buClr>
                <a:schemeClr val="accent3"/>
              </a:buClr>
              <a:buFont typeface="Wingdings" panose="05000000000000000000" pitchFamily="2" charset="2"/>
              <a:buNone/>
              <a:defRPr/>
            </a:pPr>
            <a:r>
              <a:rPr lang="en-US" altLang="zh-CN" dirty="0">
                <a:sym typeface="+mn-ea"/>
              </a:rPr>
              <a:t>     </a:t>
            </a:r>
            <a:r>
              <a:rPr lang="zh-CN" altLang="en-US" sz="2000" dirty="0">
                <a:ea typeface="宋体" panose="02010600030101010101" pitchFamily="2" charset="-122"/>
                <a:sym typeface="+mn-ea"/>
              </a:rPr>
              <a:t>康德与黑格尔都承认，现代世界与古代世界的重大区别是人的道德意识的改变。古代的道德意识是集体的道德意识，它通过人的角色系统和相应的行为规则 体现的。一个很好地履行社会行为规范的人是一个有德性的人，道德是社会的凝合剂。而现代道德的基础是个人，道德被理解为个人的自主性要求。黑格尔非常强调古代世界向现代世界转变的意义。</a:t>
            </a:r>
          </a:p>
          <a:p>
            <a:pPr marL="274320" indent="-274320" eaLnBrk="1" fontAlgn="auto" hangingPunct="1">
              <a:lnSpc>
                <a:spcPct val="135000"/>
              </a:lnSpc>
              <a:spcAft>
                <a:spcPts val="0"/>
              </a:spcAft>
              <a:buClr>
                <a:schemeClr val="accent3"/>
              </a:buClr>
              <a:buFont typeface="Wingdings" panose="05000000000000000000" pitchFamily="2" charset="2"/>
              <a:buNone/>
              <a:defRPr/>
            </a:pPr>
            <a:r>
              <a:rPr lang="zh-CN" altLang="en-US" sz="2000" dirty="0">
                <a:ea typeface="宋体" panose="02010600030101010101" pitchFamily="2" charset="-122"/>
                <a:sym typeface="+mn-ea"/>
              </a:rPr>
              <a:t> </a:t>
            </a:r>
            <a:r>
              <a:rPr lang="en-US" altLang="zh-CN" sz="2000" dirty="0">
                <a:sym typeface="+mn-ea"/>
              </a:rPr>
              <a:t>   “</a:t>
            </a:r>
            <a:r>
              <a:rPr lang="zh-CN" altLang="en-US" sz="2000" dirty="0">
                <a:sym typeface="+mn-ea"/>
              </a:rPr>
              <a:t>主体的特殊性求获自我满足的这种法，或者说，主观自由的法，是划分古代近代的转折点和中心点。</a:t>
            </a:r>
            <a:r>
              <a:rPr lang="en-US" altLang="zh-CN" sz="2000" dirty="0">
                <a:sym typeface="+mn-ea"/>
              </a:rPr>
              <a:t>”（§124）</a:t>
            </a:r>
            <a:r>
              <a:rPr lang="zh-CN" altLang="en-US" sz="2000" dirty="0">
                <a:sym typeface="+mn-ea"/>
              </a:rPr>
              <a:t>道德行为人的基本特征是主观的自觉性，行为出于自我意识到的动机。</a:t>
            </a:r>
            <a:r>
              <a:rPr lang="en-US" altLang="zh-CN" sz="2000" dirty="0">
                <a:sym typeface="+mn-ea"/>
              </a:rPr>
              <a:t>“</a:t>
            </a:r>
            <a:r>
              <a:rPr lang="en-US" altLang="zh-CN" sz="2000" dirty="0" err="1">
                <a:sym typeface="+mn-ea"/>
              </a:rPr>
              <a:t>行动的动机就是我们叫做道德的东西</a:t>
            </a:r>
            <a:r>
              <a:rPr lang="en-US" altLang="zh-CN" sz="2000" dirty="0">
                <a:sym typeface="+mn-ea"/>
              </a:rPr>
              <a:t>。”（124页）在意图阶段，道德动机中既包含着自在的普遍物，也包含着自为的特殊</a:t>
            </a:r>
            <a:r>
              <a:rPr lang="zh-CN" altLang="en-US" sz="2000" dirty="0">
                <a:sym typeface="+mn-ea"/>
              </a:rPr>
              <a:t>物，</a:t>
            </a:r>
            <a:r>
              <a:rPr lang="en-US" altLang="zh-CN" sz="2000" dirty="0">
                <a:sym typeface="+mn-ea"/>
              </a:rPr>
              <a:t>“</a:t>
            </a:r>
            <a:r>
              <a:rPr lang="en-US" altLang="zh-CN" sz="2000" dirty="0" err="1">
                <a:sym typeface="+mn-ea"/>
              </a:rPr>
              <a:t>近人特别对行为常常追问动</a:t>
            </a:r>
            <a:r>
              <a:rPr lang="zh-CN" altLang="en-US" sz="2000" dirty="0" err="1">
                <a:ea typeface="宋体" panose="02010600030101010101" pitchFamily="2" charset="-122"/>
                <a:sym typeface="+mn-ea"/>
              </a:rPr>
              <a:t>机。以前人们只不过问这个人是否正直的人？他是否在尽他的义务？今天人们却要深入到他们的内心，而且同时假定着在行为的客观方面和内在方面，即主观动机</a:t>
            </a:r>
            <a:r>
              <a:rPr lang="en-US" altLang="zh-CN" sz="2000" dirty="0" err="1">
                <a:ea typeface="宋体" panose="02010600030101010101" pitchFamily="2" charset="-122"/>
                <a:sym typeface="+mn-ea"/>
              </a:rPr>
              <a:t>——</a:t>
            </a:r>
            <a:r>
              <a:rPr lang="zh-CN" altLang="en-US" sz="2000" dirty="0" err="1">
                <a:ea typeface="宋体" panose="02010600030101010101" pitchFamily="2" charset="-122"/>
                <a:sym typeface="+mn-ea"/>
              </a:rPr>
              <a:t>之间隔了一条鸿沟。</a:t>
            </a:r>
            <a:r>
              <a:rPr lang="en-US" altLang="zh-CN" sz="2000" dirty="0" err="1">
                <a:ea typeface="宋体" panose="02010600030101010101" pitchFamily="2" charset="-122"/>
                <a:sym typeface="+mn-ea"/>
              </a:rPr>
              <a:t>……</a:t>
            </a:r>
            <a:r>
              <a:rPr lang="en-US" altLang="zh-CN" sz="2000" dirty="0" err="1">
                <a:sym typeface="+mn-ea"/>
              </a:rPr>
              <a:t>他希求的某种东西，他所以希理由是在他本身中</a:t>
            </a:r>
            <a:r>
              <a:rPr lang="zh-CN" altLang="en-US" sz="2000" dirty="0">
                <a:sym typeface="+mn-ea"/>
              </a:rPr>
              <a:t>；他希求满足他的欲望，满足自己的热情 。</a:t>
            </a:r>
            <a:r>
              <a:rPr lang="en-US" altLang="zh-CN" sz="2000" dirty="0">
                <a:sym typeface="+mn-ea"/>
              </a:rPr>
              <a:t>”（§121）</a:t>
            </a:r>
            <a:r>
              <a:rPr lang="zh-CN" altLang="en-US" sz="2000" dirty="0">
                <a:sym typeface="+mn-ea"/>
              </a:rPr>
              <a:t>主观自由与抽象法的人格平等原则同是现代性的基本特征。</a:t>
            </a:r>
          </a:p>
          <a:p>
            <a:pPr marL="274320" indent="-274320" eaLnBrk="1" fontAlgn="auto" hangingPunct="1">
              <a:lnSpc>
                <a:spcPct val="135000"/>
              </a:lnSpc>
              <a:spcAft>
                <a:spcPts val="0"/>
              </a:spcAft>
              <a:buClr>
                <a:schemeClr val="accent3"/>
              </a:buClr>
              <a:buFont typeface="Wingdings" panose="05000000000000000000" pitchFamily="2" charset="2"/>
              <a:buNone/>
              <a:defRPr/>
            </a:pPr>
            <a:r>
              <a:rPr lang="zh-CN" altLang="en-US" sz="2000" dirty="0">
                <a:sym typeface="+mn-ea"/>
              </a:rPr>
              <a:t>    </a:t>
            </a:r>
            <a:endParaRPr lang="zh-CN" altLang="en-US" sz="20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意图</a:t>
            </a:r>
          </a:p>
        </p:txBody>
      </p:sp>
      <p:sp>
        <p:nvSpPr>
          <p:cNvPr id="3" name="文本框 2"/>
          <p:cNvSpPr txBox="1"/>
          <p:nvPr/>
        </p:nvSpPr>
        <p:spPr>
          <a:xfrm>
            <a:off x="379730" y="1090295"/>
            <a:ext cx="10873105" cy="4556125"/>
          </a:xfrm>
          <a:prstGeom prst="rect">
            <a:avLst/>
          </a:prstGeom>
          <a:noFill/>
        </p:spPr>
        <p:txBody>
          <a:bodyPr wrap="square" rtlCol="0">
            <a:spAutoFit/>
          </a:bodyPr>
          <a:lstStyle/>
          <a:p>
            <a:pPr marL="274320" indent="-274320" eaLnBrk="1" fontAlgn="auto" hangingPunct="1">
              <a:lnSpc>
                <a:spcPct val="110000"/>
              </a:lnSpc>
              <a:spcAft>
                <a:spcPts val="0"/>
              </a:spcAft>
              <a:buClr>
                <a:schemeClr val="accent3"/>
              </a:buClr>
              <a:buFont typeface="Wingdings" panose="05000000000000000000" pitchFamily="2" charset="2"/>
              <a:buNone/>
              <a:defRPr/>
            </a:pPr>
            <a:r>
              <a:rPr lang="en-US" altLang="zh-CN" dirty="0">
                <a:sym typeface="+mn-ea"/>
              </a:rPr>
              <a:t>     </a:t>
            </a:r>
            <a:r>
              <a:rPr lang="zh-CN" altLang="en-US" sz="2400" dirty="0">
                <a:sym typeface="+mn-ea"/>
              </a:rPr>
              <a:t>人的动机的内容可以是偶然的，也可以是经过思考的，当一个联系到自己的主体的统一性而设定自己行为的动机时，动机就是意图。</a:t>
            </a:r>
            <a:r>
              <a:rPr lang="en-US" altLang="zh-CN" sz="2400" dirty="0">
                <a:sym typeface="+mn-ea"/>
              </a:rPr>
              <a:t>“</a:t>
            </a:r>
            <a:r>
              <a:rPr lang="en-US" altLang="zh-CN" sz="2400" dirty="0" err="1">
                <a:sym typeface="+mn-ea"/>
              </a:rPr>
              <a:t>出自一个能思维的人的故意，不仅含有单一性，而且实质上含有上述行为的普遍方面，即意图</a:t>
            </a:r>
            <a:r>
              <a:rPr lang="en-US" altLang="zh-CN" sz="2400" dirty="0">
                <a:sym typeface="+mn-ea"/>
              </a:rPr>
              <a:t>。”（§119）意图是一种特殊的法，“</a:t>
            </a:r>
            <a:r>
              <a:rPr lang="en-US" altLang="zh-CN" sz="2400" dirty="0" err="1">
                <a:sym typeface="+mn-ea"/>
              </a:rPr>
              <a:t>意图的法在于，行为的普遍性质不仅是自在地存在，而且是为行为人所知道的，从而自始就包含在他的主观</a:t>
            </a:r>
            <a:r>
              <a:rPr lang="zh-CN" altLang="en-US" sz="2400" dirty="0">
                <a:sym typeface="+mn-ea"/>
              </a:rPr>
              <a:t>意志中。</a:t>
            </a:r>
            <a:r>
              <a:rPr lang="en-US" altLang="zh-CN" sz="2400" dirty="0">
                <a:sym typeface="+mn-ea"/>
              </a:rPr>
              <a:t>”§120 </a:t>
            </a:r>
            <a:r>
              <a:rPr lang="en-US" altLang="zh-CN" sz="2400" dirty="0" err="1">
                <a:sym typeface="+mn-ea"/>
              </a:rPr>
              <a:t>在这个阶段，人不仅是一个行为者，而是一个具有主体性的个人，行为实现的不仅是个人意图中的特殊物，也</a:t>
            </a:r>
            <a:r>
              <a:rPr lang="zh-CN" altLang="en-US" sz="2400" dirty="0">
                <a:sym typeface="+mn-ea"/>
              </a:rPr>
              <a:t>包含着</a:t>
            </a:r>
            <a:r>
              <a:rPr lang="en-US" altLang="zh-CN" sz="2400" dirty="0" err="1">
                <a:sym typeface="+mn-ea"/>
              </a:rPr>
              <a:t>他的主观自由</a:t>
            </a:r>
            <a:r>
              <a:rPr lang="zh-CN" altLang="en-US" sz="2400" dirty="0">
                <a:sym typeface="+mn-ea"/>
              </a:rPr>
              <a:t>的普遍物，如一个人想获得幸福，成为一个伟人等等。</a:t>
            </a:r>
            <a:r>
              <a:rPr lang="en-US" altLang="zh-CN" sz="2400" dirty="0">
                <a:sym typeface="+mn-ea"/>
              </a:rPr>
              <a:t>“</a:t>
            </a:r>
            <a:r>
              <a:rPr lang="en-US" altLang="zh-CN" sz="2400" dirty="0" err="1">
                <a:sym typeface="+mn-ea"/>
              </a:rPr>
              <a:t>行为人的这个特殊</a:t>
            </a:r>
            <a:r>
              <a:rPr lang="zh-CN" altLang="en-US" sz="2400" dirty="0">
                <a:sym typeface="+mn-ea"/>
              </a:rPr>
              <a:t>性的环节之包含在行为中，并在其中得到实现，构成更具体意义上的主观自由，也就是在行为中找到他的满足的主体的法（</a:t>
            </a:r>
            <a:r>
              <a:rPr lang="en-US" altLang="zh-CN" sz="2400" dirty="0">
                <a:sym typeface="+mn-ea"/>
              </a:rPr>
              <a:t>the right of subject)</a:t>
            </a:r>
            <a:r>
              <a:rPr lang="zh-CN" altLang="en-US" sz="2400" dirty="0">
                <a:sym typeface="+mn-ea"/>
              </a:rPr>
              <a:t>。</a:t>
            </a:r>
            <a:r>
              <a:rPr lang="en-US" altLang="zh-CN" sz="2400" dirty="0">
                <a:sym typeface="+mn-ea"/>
              </a:rPr>
              <a:t>”§121</a:t>
            </a:r>
          </a:p>
          <a:p>
            <a:pPr marL="274320" indent="-274320" eaLnBrk="1" fontAlgn="auto" hangingPunct="1">
              <a:lnSpc>
                <a:spcPct val="110000"/>
              </a:lnSpc>
              <a:spcAft>
                <a:spcPts val="0"/>
              </a:spcAft>
              <a:buClr>
                <a:schemeClr val="accent3"/>
              </a:buClr>
              <a:buFont typeface="Wingdings" panose="05000000000000000000" pitchFamily="2" charset="2"/>
              <a:buNone/>
              <a:defRPr/>
            </a:pPr>
            <a:r>
              <a:rPr lang="zh-CN" altLang="en-US" sz="2400" dirty="0">
                <a:ea typeface="宋体" panose="02010600030101010101" pitchFamily="2" charset="-122"/>
              </a:rPr>
              <a:t>    </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福利</a:t>
            </a:r>
          </a:p>
        </p:txBody>
      </p:sp>
      <p:sp>
        <p:nvSpPr>
          <p:cNvPr id="3" name="文本框 2"/>
          <p:cNvSpPr txBox="1"/>
          <p:nvPr/>
        </p:nvSpPr>
        <p:spPr>
          <a:xfrm>
            <a:off x="558264" y="986790"/>
            <a:ext cx="11146055" cy="4790735"/>
          </a:xfrm>
          <a:prstGeom prst="rect">
            <a:avLst/>
          </a:prstGeom>
          <a:noFill/>
        </p:spPr>
        <p:txBody>
          <a:bodyPr wrap="square" rtlCol="0">
            <a:spAutoFit/>
          </a:bodyPr>
          <a:lstStyle/>
          <a:p>
            <a:pPr marL="274320" indent="-274320" eaLnBrk="1" fontAlgn="auto" hangingPunct="1">
              <a:lnSpc>
                <a:spcPct val="110000"/>
              </a:lnSpc>
              <a:spcAft>
                <a:spcPts val="0"/>
              </a:spcAft>
              <a:buClr>
                <a:schemeClr val="accent3"/>
              </a:buClr>
              <a:buFont typeface="Wingdings" panose="05000000000000000000" pitchFamily="2" charset="2"/>
              <a:buNone/>
              <a:defRPr/>
            </a:pPr>
            <a:r>
              <a:rPr lang="en-US" altLang="zh-CN" dirty="0">
                <a:sym typeface="+mn-ea"/>
              </a:rPr>
              <a:t>     </a:t>
            </a:r>
            <a:r>
              <a:rPr lang="zh-CN" altLang="en-US" sz="2000" dirty="0">
                <a:latin typeface="宋体" panose="02010600030101010101" pitchFamily="2" charset="-122"/>
                <a:ea typeface="宋体" panose="02010600030101010101" pitchFamily="2" charset="-122"/>
                <a:sym typeface="+mn-ea"/>
              </a:rPr>
              <a:t>福利概念是相对人的行为动机而言的。黑格尔批判这样一种观点，即相对人的动机，行为只是从属的、次要的东西，是实现目的的手段。黑格尔认为，我们应该把行为的动机和它追求的目标视为相互依赖的关系。也就是要我们要有一种</a:t>
            </a:r>
            <a:r>
              <a:rPr lang="en-US" altLang="zh-CN" sz="2000" dirty="0">
                <a:latin typeface="宋体" panose="02010600030101010101" pitchFamily="2" charset="-122"/>
                <a:ea typeface="宋体" panose="02010600030101010101" pitchFamily="2" charset="-122"/>
                <a:sym typeface="+mn-ea"/>
              </a:rPr>
              <a:t>“</a:t>
            </a:r>
            <a:r>
              <a:rPr lang="zh-CN" altLang="en-US" sz="2000" dirty="0">
                <a:latin typeface="宋体" panose="02010600030101010101" pitchFamily="2" charset="-122"/>
                <a:ea typeface="宋体" panose="02010600030101010101" pitchFamily="2" charset="-122"/>
                <a:sym typeface="+mn-ea"/>
              </a:rPr>
              <a:t>关系</a:t>
            </a:r>
            <a:r>
              <a:rPr lang="en-US" altLang="zh-CN" sz="2000" dirty="0">
                <a:latin typeface="宋体" panose="02010600030101010101" pitchFamily="2" charset="-122"/>
                <a:ea typeface="宋体" panose="02010600030101010101" pitchFamily="2" charset="-122"/>
                <a:sym typeface="+mn-ea"/>
              </a:rPr>
              <a:t>”</a:t>
            </a:r>
            <a:r>
              <a:rPr lang="zh-CN" altLang="en-US" sz="2000" dirty="0">
                <a:latin typeface="宋体" panose="02010600030101010101" pitchFamily="2" charset="-122"/>
                <a:ea typeface="宋体" panose="02010600030101010101" pitchFamily="2" charset="-122"/>
                <a:sym typeface="+mn-ea"/>
              </a:rPr>
              <a:t>的观点。行为的主观形式是意图，它追求的内容是福利。</a:t>
            </a:r>
            <a:endParaRPr lang="zh-CN" altLang="en-US" sz="2000" dirty="0">
              <a:latin typeface="宋体" panose="02010600030101010101" pitchFamily="2" charset="-122"/>
              <a:ea typeface="宋体" panose="02010600030101010101" pitchFamily="2" charset="-122"/>
            </a:endParaRPr>
          </a:p>
          <a:p>
            <a:pPr marL="274320" indent="-274320" eaLnBrk="1" fontAlgn="auto" hangingPunct="1">
              <a:lnSpc>
                <a:spcPct val="110000"/>
              </a:lnSpc>
              <a:spcAft>
                <a:spcPts val="0"/>
              </a:spcAft>
              <a:buClr>
                <a:schemeClr val="accent3"/>
              </a:buClr>
              <a:buFont typeface="Wingdings" panose="05000000000000000000" pitchFamily="2" charset="2"/>
              <a:buNone/>
              <a:defRPr/>
            </a:pPr>
            <a:r>
              <a:rPr lang="zh-CN" altLang="en-US" sz="2000" dirty="0">
                <a:latin typeface="宋体" panose="02010600030101010101" pitchFamily="2" charset="-122"/>
                <a:ea typeface="宋体" panose="02010600030101010101" pitchFamily="2" charset="-122"/>
                <a:sym typeface="+mn-ea"/>
              </a:rPr>
              <a:t>   何谓福利？福利是相对于人来说有价值的东西，是具有合理性的普遍物，如健康、幸福、荣誉、地位。在某种意义上，也可以理解为幸福。黑格尔认为，</a:t>
            </a:r>
            <a:r>
              <a:rPr lang="en-US" altLang="zh-CN" sz="2000" dirty="0">
                <a:latin typeface="宋体" panose="02010600030101010101" pitchFamily="2" charset="-122"/>
                <a:ea typeface="宋体" panose="02010600030101010101" pitchFamily="2" charset="-122"/>
                <a:sym typeface="+mn-ea"/>
              </a:rPr>
              <a:t>“</a:t>
            </a:r>
            <a:r>
              <a:rPr lang="zh-CN" altLang="en-US" sz="2000" dirty="0">
                <a:latin typeface="宋体" panose="02010600030101010101" pitchFamily="2" charset="-122"/>
                <a:ea typeface="宋体" panose="02010600030101010101" pitchFamily="2" charset="-122"/>
                <a:sym typeface="+mn-ea"/>
              </a:rPr>
              <a:t>由于幸福的各种规定是现有的，所以它们不是自由的真实规定。</a:t>
            </a:r>
            <a:r>
              <a:rPr lang="en-US" altLang="zh-CN" sz="2000" dirty="0">
                <a:latin typeface="宋体" panose="02010600030101010101" pitchFamily="2" charset="-122"/>
                <a:ea typeface="宋体" panose="02010600030101010101" pitchFamily="2" charset="-122"/>
                <a:sym typeface="+mn-ea"/>
              </a:rPr>
              <a:t>”</a:t>
            </a:r>
            <a:r>
              <a:rPr lang="zh-CN" altLang="en-US" sz="2000" dirty="0">
                <a:latin typeface="宋体" panose="02010600030101010101" pitchFamily="2" charset="-122"/>
                <a:ea typeface="宋体" panose="02010600030101010101" pitchFamily="2" charset="-122"/>
                <a:sym typeface="+mn-ea"/>
              </a:rPr>
              <a:t>（第</a:t>
            </a:r>
            <a:r>
              <a:rPr lang="en-US" altLang="zh-CN" sz="2000" dirty="0">
                <a:latin typeface="宋体" panose="02010600030101010101" pitchFamily="2" charset="-122"/>
                <a:ea typeface="宋体" panose="02010600030101010101" pitchFamily="2" charset="-122"/>
                <a:sym typeface="+mn-ea"/>
              </a:rPr>
              <a:t>123</a:t>
            </a:r>
            <a:r>
              <a:rPr lang="zh-CN" altLang="en-US" sz="2000" dirty="0">
                <a:latin typeface="宋体" panose="02010600030101010101" pitchFamily="2" charset="-122"/>
                <a:ea typeface="宋体" panose="02010600030101010101" pitchFamily="2" charset="-122"/>
                <a:sym typeface="+mn-ea"/>
              </a:rPr>
              <a:t>节）就此而言，福利是自由意志的表现，但不是道德的最高的目的。黑格尔的福利概念可以理解为涉及到一切具有普遍性，又没有把自由本身作为目的本身的目的。</a:t>
            </a:r>
            <a:r>
              <a:rPr lang="en-US" altLang="zh-CN" sz="2000" dirty="0">
                <a:latin typeface="宋体" panose="02010600030101010101" pitchFamily="2" charset="-122"/>
                <a:ea typeface="宋体" panose="02010600030101010101" pitchFamily="2" charset="-122"/>
                <a:sym typeface="+mn-ea"/>
              </a:rPr>
              <a:t>1</a:t>
            </a:r>
            <a:r>
              <a:rPr lang="zh-CN" altLang="en-US" sz="2000" dirty="0">
                <a:latin typeface="宋体" panose="02010600030101010101" pitchFamily="2" charset="-122"/>
                <a:ea typeface="宋体" panose="02010600030101010101" pitchFamily="2" charset="-122"/>
                <a:sym typeface="+mn-ea"/>
              </a:rPr>
              <a:t>、感性的幸福：作为生物学的人，人有权追求自己的感性欲望的满足。人</a:t>
            </a:r>
            <a:r>
              <a:rPr lang="en-US" altLang="zh-CN" sz="2000" dirty="0">
                <a:latin typeface="宋体" panose="02010600030101010101" pitchFamily="2" charset="-122"/>
                <a:ea typeface="宋体" panose="02010600030101010101" pitchFamily="2" charset="-122"/>
                <a:sym typeface="+mn-ea"/>
              </a:rPr>
              <a:t>“</a:t>
            </a:r>
            <a:r>
              <a:rPr lang="en-US" altLang="zh-CN" sz="2000" dirty="0" err="1">
                <a:latin typeface="宋体" panose="02010600030101010101" pitchFamily="2" charset="-122"/>
                <a:ea typeface="宋体" panose="02010600030101010101" pitchFamily="2" charset="-122"/>
                <a:sym typeface="+mn-ea"/>
              </a:rPr>
              <a:t>是生物这一事实并不是偶然的，而是合乎理性的，这样说来人有权把他的需要作为他的目的</a:t>
            </a:r>
            <a:r>
              <a:rPr lang="zh-CN" altLang="en-US" sz="2000" dirty="0">
                <a:latin typeface="宋体" panose="02010600030101010101" pitchFamily="2" charset="-122"/>
                <a:ea typeface="宋体" panose="02010600030101010101" pitchFamily="2" charset="-122"/>
                <a:sym typeface="+mn-ea"/>
              </a:rPr>
              <a:t>。</a:t>
            </a:r>
            <a:r>
              <a:rPr lang="en-US" altLang="zh-CN" sz="2000" dirty="0">
                <a:latin typeface="宋体" panose="02010600030101010101" pitchFamily="2" charset="-122"/>
                <a:ea typeface="宋体" panose="02010600030101010101" pitchFamily="2" charset="-122"/>
                <a:sym typeface="+mn-ea"/>
              </a:rPr>
              <a:t>”</a:t>
            </a:r>
            <a:r>
              <a:rPr lang="zh-CN" altLang="en-US" sz="2000" dirty="0">
                <a:latin typeface="宋体" panose="02010600030101010101" pitchFamily="2" charset="-122"/>
                <a:ea typeface="宋体" panose="02010600030101010101" pitchFamily="2" charset="-122"/>
                <a:sym typeface="+mn-ea"/>
              </a:rPr>
              <a:t>（第</a:t>
            </a:r>
            <a:r>
              <a:rPr lang="en-US" altLang="zh-CN" sz="2000" dirty="0">
                <a:latin typeface="宋体" panose="02010600030101010101" pitchFamily="2" charset="-122"/>
                <a:ea typeface="宋体" panose="02010600030101010101" pitchFamily="2" charset="-122"/>
                <a:sym typeface="+mn-ea"/>
              </a:rPr>
              <a:t>123</a:t>
            </a:r>
            <a:r>
              <a:rPr lang="zh-CN" altLang="en-US" sz="2000" dirty="0">
                <a:latin typeface="宋体" panose="02010600030101010101" pitchFamily="2" charset="-122"/>
                <a:ea typeface="宋体" panose="02010600030101010101" pitchFamily="2" charset="-122"/>
                <a:sym typeface="+mn-ea"/>
              </a:rPr>
              <a:t>节）</a:t>
            </a:r>
            <a:r>
              <a:rPr lang="en-US" altLang="zh-CN" sz="2000" dirty="0">
                <a:latin typeface="宋体" panose="02010600030101010101" pitchFamily="2" charset="-122"/>
                <a:ea typeface="宋体" panose="02010600030101010101" pitchFamily="2" charset="-122"/>
                <a:sym typeface="+mn-ea"/>
              </a:rPr>
              <a:t>2</a:t>
            </a:r>
            <a:r>
              <a:rPr lang="zh-CN" altLang="en-US" sz="2000" dirty="0">
                <a:latin typeface="宋体" panose="02010600030101010101" pitchFamily="2" charset="-122"/>
                <a:ea typeface="宋体" panose="02010600030101010101" pitchFamily="2" charset="-122"/>
                <a:sym typeface="+mn-ea"/>
              </a:rPr>
              <a:t>、自己的福利。福利已经是一种反思着的主观意识，它的特殊追求包含着普遍的目的。如一个人追求权力、名誉、声望等。</a:t>
            </a:r>
            <a:r>
              <a:rPr lang="en-US" altLang="zh-CN" sz="2000" dirty="0">
                <a:latin typeface="宋体" panose="02010600030101010101" pitchFamily="2" charset="-122"/>
                <a:ea typeface="宋体" panose="02010600030101010101" pitchFamily="2" charset="-122"/>
                <a:sym typeface="+mn-ea"/>
              </a:rPr>
              <a:t>3</a:t>
            </a:r>
            <a:r>
              <a:rPr lang="zh-CN" altLang="en-US" sz="2000" dirty="0">
                <a:latin typeface="宋体" panose="02010600030101010101" pitchFamily="2" charset="-122"/>
                <a:ea typeface="宋体" panose="02010600030101010101" pitchFamily="2" charset="-122"/>
                <a:sym typeface="+mn-ea"/>
              </a:rPr>
              <a:t>、他人的福利，甚至一切人的福利。</a:t>
            </a:r>
            <a:r>
              <a:rPr lang="en-US" altLang="zh-CN" sz="2000" dirty="0">
                <a:latin typeface="宋体" panose="02010600030101010101" pitchFamily="2" charset="-122"/>
                <a:ea typeface="宋体" panose="02010600030101010101" pitchFamily="2" charset="-122"/>
                <a:sym typeface="+mn-ea"/>
              </a:rPr>
              <a:t>“</a:t>
            </a:r>
            <a:r>
              <a:rPr lang="zh-CN" altLang="en-US" sz="2000" dirty="0">
                <a:latin typeface="宋体" panose="02010600030101010101" pitchFamily="2" charset="-122"/>
                <a:ea typeface="宋体" panose="02010600030101010101" pitchFamily="2" charset="-122"/>
                <a:sym typeface="+mn-ea"/>
              </a:rPr>
              <a:t>最初在这个特殊性自身中所设定的普遍性这一环节，同时也是他人的福利，或者，在完全的但十分空虚的规定上，可以说是一切人的福利。</a:t>
            </a:r>
            <a:r>
              <a:rPr lang="en-US" altLang="zh-CN" sz="2000" dirty="0">
                <a:latin typeface="宋体" panose="02010600030101010101" pitchFamily="2" charset="-122"/>
                <a:ea typeface="宋体" panose="02010600030101010101" pitchFamily="2" charset="-122"/>
                <a:sym typeface="+mn-ea"/>
              </a:rPr>
              <a:t>”</a:t>
            </a:r>
            <a:r>
              <a:rPr lang="zh-CN" altLang="en-US" sz="2000" dirty="0">
                <a:latin typeface="宋体" panose="02010600030101010101" pitchFamily="2" charset="-122"/>
                <a:ea typeface="宋体" panose="02010600030101010101" pitchFamily="2" charset="-122"/>
                <a:sym typeface="+mn-ea"/>
              </a:rPr>
              <a:t>（第</a:t>
            </a:r>
            <a:r>
              <a:rPr lang="en-US" altLang="zh-CN" sz="2000" dirty="0">
                <a:latin typeface="宋体" panose="02010600030101010101" pitchFamily="2" charset="-122"/>
                <a:ea typeface="宋体" panose="02010600030101010101" pitchFamily="2" charset="-122"/>
                <a:sym typeface="+mn-ea"/>
              </a:rPr>
              <a:t>125</a:t>
            </a:r>
            <a:r>
              <a:rPr lang="zh-CN" altLang="en-US" sz="2000" dirty="0">
                <a:latin typeface="宋体" panose="02010600030101010101" pitchFamily="2" charset="-122"/>
                <a:ea typeface="宋体" panose="02010600030101010101" pitchFamily="2" charset="-122"/>
                <a:sym typeface="+mn-ea"/>
              </a:rPr>
              <a:t>节）</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意图与福利的统一</a:t>
            </a:r>
          </a:p>
        </p:txBody>
      </p:sp>
      <p:sp>
        <p:nvSpPr>
          <p:cNvPr id="4" name="文本框 3"/>
          <p:cNvSpPr txBox="1"/>
          <p:nvPr/>
        </p:nvSpPr>
        <p:spPr>
          <a:xfrm>
            <a:off x="562610" y="986790"/>
            <a:ext cx="11163935" cy="4524315"/>
          </a:xfrm>
          <a:prstGeom prst="rect">
            <a:avLst/>
          </a:prstGeom>
          <a:noFill/>
        </p:spPr>
        <p:txBody>
          <a:bodyPr wrap="square" rtlCol="0">
            <a:spAutoFit/>
          </a:bodyPr>
          <a:lstStyle/>
          <a:p>
            <a:pPr algn="l"/>
            <a:r>
              <a:rPr lang="zh-CN" altLang="en-US" sz="2400" dirty="0">
                <a:latin typeface="宋体" panose="02010600030101010101" pitchFamily="2" charset="-122"/>
                <a:ea typeface="宋体" panose="02010600030101010101" pitchFamily="2" charset="-122"/>
              </a:rPr>
              <a:t>黑格尔说：“</a:t>
            </a:r>
            <a:r>
              <a:rPr lang="en-US" altLang="zh-CN" sz="2400" dirty="0" err="1">
                <a:latin typeface="宋体" panose="02010600030101010101" pitchFamily="2" charset="-122"/>
                <a:ea typeface="宋体" panose="02010600030101010101" pitchFamily="2" charset="-122"/>
              </a:rPr>
              <a:t>由于个人自己的主观满足，也包括在达成有绝对价值的目的之内，所以要求仅仅有绝对价值的目的表现为</a:t>
            </a:r>
            <a:r>
              <a:rPr lang="zh-CN" altLang="en-US" sz="2400" dirty="0">
                <a:latin typeface="宋体" panose="02010600030101010101" pitchFamily="2" charset="-122"/>
                <a:ea typeface="宋体" panose="02010600030101010101" pitchFamily="2" charset="-122"/>
              </a:rPr>
              <a:t>被希求或</a:t>
            </a:r>
            <a:r>
              <a:rPr lang="en-US" altLang="zh-CN" sz="2400" dirty="0" err="1">
                <a:latin typeface="宋体" panose="02010600030101010101" pitchFamily="2" charset="-122"/>
                <a:ea typeface="宋体" panose="02010600030101010101" pitchFamily="2" charset="-122"/>
              </a:rPr>
              <a:t>达到的东西，以及认为客观目的和主观目的在人们需求中是相互排斥的，这种见解两者都是抽象的，理智所做的空洞主张</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（第</a:t>
            </a:r>
            <a:r>
              <a:rPr lang="en-US" altLang="zh-CN" sz="2400" dirty="0">
                <a:latin typeface="宋体" panose="02010600030101010101" pitchFamily="2" charset="-122"/>
                <a:ea typeface="宋体" panose="02010600030101010101" pitchFamily="2" charset="-122"/>
              </a:rPr>
              <a:t>124</a:t>
            </a:r>
            <a:r>
              <a:rPr lang="zh-CN" altLang="en-US" sz="2400" dirty="0">
                <a:latin typeface="宋体" panose="02010600030101010101" pitchFamily="2" charset="-122"/>
                <a:ea typeface="宋体" panose="02010600030101010101" pitchFamily="2" charset="-122"/>
              </a:rPr>
              <a:t>节）因此，那种因为动机即意图的重要就把行为贬低为实现意图的手段，并认为在道德中只需考虑动机的观点是邪恶和有害的。</a:t>
            </a:r>
            <a:r>
              <a:rPr lang="en-US" altLang="zh-CN" sz="2400" dirty="0">
                <a:latin typeface="宋体" panose="02010600030101010101" pitchFamily="2" charset="-122"/>
                <a:ea typeface="宋体" panose="02010600030101010101" pitchFamily="2" charset="-122"/>
              </a:rPr>
              <a:t>“</a:t>
            </a:r>
            <a:r>
              <a:rPr lang="en-US" altLang="zh-CN" sz="2400" dirty="0" err="1">
                <a:latin typeface="宋体" panose="02010600030101010101" pitchFamily="2" charset="-122"/>
                <a:ea typeface="宋体" panose="02010600030101010101" pitchFamily="2" charset="-122"/>
              </a:rPr>
              <a:t>主体就等于他的一连串行动，如果这些行动是一连串无价值的作品，那么它的意志的主观性也同样是无价值的</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反之</a:t>
            </a:r>
            <a:r>
              <a:rPr lang="en-US" altLang="zh-CN" sz="2400" dirty="0">
                <a:latin typeface="宋体" panose="02010600030101010101" pitchFamily="2" charset="-122"/>
                <a:ea typeface="宋体" panose="02010600030101010101" pitchFamily="2" charset="-122"/>
              </a:rPr>
              <a:t>，</a:t>
            </a:r>
            <a:r>
              <a:rPr lang="en-US" altLang="zh-CN" sz="2400" dirty="0" err="1">
                <a:latin typeface="宋体" panose="02010600030101010101" pitchFamily="2" charset="-122"/>
                <a:ea typeface="宋体" panose="02010600030101010101" pitchFamily="2" charset="-122"/>
              </a:rPr>
              <a:t>如果他的一连串行为是具有实体性质的，那么他的个人内部意见也具有实体性质</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（第</a:t>
            </a:r>
            <a:r>
              <a:rPr lang="en-US" altLang="zh-CN" sz="2400" dirty="0">
                <a:latin typeface="宋体" panose="02010600030101010101" pitchFamily="2" charset="-122"/>
                <a:ea typeface="宋体" panose="02010600030101010101" pitchFamily="2" charset="-122"/>
              </a:rPr>
              <a:t>124</a:t>
            </a:r>
            <a:r>
              <a:rPr lang="zh-CN" altLang="en-US" sz="2400" dirty="0">
                <a:latin typeface="宋体" panose="02010600030101010101" pitchFamily="2" charset="-122"/>
                <a:ea typeface="宋体" panose="02010600030101010101" pitchFamily="2" charset="-122"/>
              </a:rPr>
              <a:t>节）</a:t>
            </a:r>
          </a:p>
          <a:p>
            <a:pPr algn="l"/>
            <a:r>
              <a:rPr lang="zh-CN" altLang="en-US" sz="2400" dirty="0">
                <a:latin typeface="宋体" panose="02010600030101010101" pitchFamily="2" charset="-122"/>
                <a:ea typeface="宋体" panose="02010600030101010101" pitchFamily="2" charset="-122"/>
              </a:rPr>
              <a:t>黑格尔强调志向与实行的统一：</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【立大志就够了】，从人们应该立志做伟大事业这个意义上来说，这话是对的。但是人们还是要成大事，否则这种志向就等于0，单纯志向的桂冠就等于从不发绿的枯叶。</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（第</a:t>
            </a:r>
            <a:r>
              <a:rPr lang="en-US" altLang="zh-CN" sz="2400" dirty="0">
                <a:latin typeface="宋体" panose="02010600030101010101" pitchFamily="2" charset="-122"/>
                <a:ea typeface="宋体" panose="02010600030101010101" pitchFamily="2" charset="-122"/>
              </a:rPr>
              <a:t>126</a:t>
            </a:r>
            <a:r>
              <a:rPr lang="zh-CN" altLang="en-US" sz="2400" dirty="0">
                <a:latin typeface="宋体" panose="02010600030101010101" pitchFamily="2" charset="-122"/>
                <a:ea typeface="宋体" panose="02010600030101010101" pitchFamily="2" charset="-122"/>
              </a:rPr>
              <a:t>节）</a:t>
            </a:r>
          </a:p>
          <a:p>
            <a:pPr algn="l"/>
            <a:endParaRPr lang="zh-CN" altLang="en-US" sz="2400" dirty="0">
              <a:ea typeface="宋体" panose="02010600030101010101"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ctr"/>
            <a:br>
              <a:rPr lang="en-US" altLang="zh-CN" dirty="0">
                <a:sym typeface="+mn-ea"/>
              </a:rPr>
            </a:br>
            <a:r>
              <a:rPr lang="en-US" altLang="zh-CN" dirty="0" err="1">
                <a:sym typeface="+mn-ea"/>
              </a:rPr>
              <a:t>对道德严酷主义的批判</a:t>
            </a:r>
            <a:br>
              <a:rPr lang="zh-CN" altLang="en-US" dirty="0"/>
            </a:br>
            <a:endParaRPr lang="zh-CN" altLang="en-US" dirty="0"/>
          </a:p>
        </p:txBody>
      </p:sp>
      <p:sp>
        <p:nvSpPr>
          <p:cNvPr id="3" name="文本框 2"/>
          <p:cNvSpPr txBox="1"/>
          <p:nvPr/>
        </p:nvSpPr>
        <p:spPr>
          <a:xfrm>
            <a:off x="472440" y="985520"/>
            <a:ext cx="10881360" cy="4523105"/>
          </a:xfrm>
          <a:prstGeom prst="rect">
            <a:avLst/>
          </a:prstGeom>
          <a:noFill/>
        </p:spPr>
        <p:txBody>
          <a:bodyPr wrap="square" rtlCol="0">
            <a:spAutoFit/>
          </a:bodyPr>
          <a:lstStyle/>
          <a:p>
            <a:pPr eaLnBrk="1" hangingPunct="1"/>
            <a:r>
              <a:rPr lang="zh-CN" altLang="en-US" sz="2400" dirty="0">
                <a:latin typeface="宋体" panose="02010600030101010101" pitchFamily="2" charset="-122"/>
                <a:ea typeface="宋体" panose="02010600030101010101" pitchFamily="2" charset="-122"/>
                <a:sym typeface="+mn-ea"/>
              </a:rPr>
              <a:t>黑格尔承认，道德的主观性以及主观自由求获满足的法具有决定性意义。但是，在对道德主观性的理解上存在着两种观点，一种是快乐主义，把道德的内容还原为特殊的欲望，另一种是普遍主义的义务论，它把道德原则理解为抽象的普遍性。黑格尔说，特殊性这一原则当然有其对立面，这个对立面就是普遍性，特殊性跟普遍性既相互统一又互有差别。</a:t>
            </a:r>
            <a:r>
              <a:rPr lang="en-US" altLang="zh-CN" sz="2400" dirty="0">
                <a:latin typeface="宋体" panose="02010600030101010101" pitchFamily="2" charset="-122"/>
                <a:ea typeface="宋体" panose="02010600030101010101" pitchFamily="2" charset="-122"/>
                <a:sym typeface="+mn-ea"/>
              </a:rPr>
              <a:t>“</a:t>
            </a:r>
            <a:r>
              <a:rPr lang="en-US" altLang="zh-CN" sz="2400" dirty="0" err="1">
                <a:latin typeface="宋体" panose="02010600030101010101" pitchFamily="2" charset="-122"/>
                <a:ea typeface="宋体" panose="02010600030101010101" pitchFamily="2" charset="-122"/>
                <a:sym typeface="+mn-ea"/>
              </a:rPr>
              <a:t>可是抽象反思却把这一环节在</a:t>
            </a:r>
            <a:r>
              <a:rPr lang="zh-CN" altLang="en-US" sz="2400" dirty="0">
                <a:latin typeface="宋体" panose="02010600030101010101" pitchFamily="2" charset="-122"/>
                <a:ea typeface="宋体" panose="02010600030101010101" pitchFamily="2" charset="-122"/>
                <a:sym typeface="+mn-ea"/>
              </a:rPr>
              <a:t>它</a:t>
            </a:r>
            <a:r>
              <a:rPr lang="en-US" altLang="zh-CN" sz="2400" dirty="0" err="1">
                <a:latin typeface="宋体" panose="02010600030101010101" pitchFamily="2" charset="-122"/>
                <a:ea typeface="宋体" panose="02010600030101010101" pitchFamily="2" charset="-122"/>
                <a:sym typeface="+mn-ea"/>
              </a:rPr>
              <a:t>与普</a:t>
            </a:r>
            <a:r>
              <a:rPr lang="zh-CN" altLang="en-US" sz="2400" dirty="0">
                <a:latin typeface="宋体" panose="02010600030101010101" pitchFamily="2" charset="-122"/>
                <a:ea typeface="宋体" panose="02010600030101010101" pitchFamily="2" charset="-122"/>
                <a:sym typeface="+mn-ea"/>
              </a:rPr>
              <a:t>遍</a:t>
            </a:r>
            <a:r>
              <a:rPr lang="en-US" altLang="zh-CN" sz="2400" dirty="0" err="1">
                <a:latin typeface="宋体" panose="02010600030101010101" pitchFamily="2" charset="-122"/>
                <a:ea typeface="宋体" panose="02010600030101010101" pitchFamily="2" charset="-122"/>
                <a:sym typeface="+mn-ea"/>
              </a:rPr>
              <a:t>物的差别和对立中固定下来，于是就产生出一种对道德的见解，以为道德只是在同自我满足做持续不断的敌对斗争</a:t>
            </a:r>
            <a:r>
              <a:rPr lang="zh-CN" altLang="en-US" sz="2400" dirty="0">
                <a:latin typeface="宋体" panose="02010600030101010101" pitchFamily="2" charset="-122"/>
                <a:ea typeface="宋体" panose="02010600030101010101" pitchFamily="2" charset="-122"/>
                <a:sym typeface="+mn-ea"/>
              </a:rPr>
              <a:t>。如康德说：”</a:t>
            </a:r>
            <a:r>
              <a:rPr lang="en-US" altLang="zh-CN" sz="2400" dirty="0" err="1">
                <a:latin typeface="宋体" panose="02010600030101010101" pitchFamily="2" charset="-122"/>
                <a:ea typeface="宋体" panose="02010600030101010101" pitchFamily="2" charset="-122"/>
                <a:sym typeface="+mn-ea"/>
              </a:rPr>
              <a:t>义务命令你去做的事，你就深恶痛绝的去做</a:t>
            </a:r>
            <a:r>
              <a:rPr lang="zh-CN" altLang="en-US" sz="2400" dirty="0">
                <a:latin typeface="宋体" panose="02010600030101010101" pitchFamily="2" charset="-122"/>
                <a:ea typeface="宋体" panose="02010600030101010101" pitchFamily="2" charset="-122"/>
                <a:sym typeface="+mn-ea"/>
              </a:rPr>
              <a:t>。</a:t>
            </a:r>
            <a:r>
              <a:rPr lang="en-US" altLang="zh-CN" sz="2400" dirty="0">
                <a:latin typeface="宋体" panose="02010600030101010101" pitchFamily="2" charset="-122"/>
                <a:ea typeface="宋体" panose="02010600030101010101" pitchFamily="2" charset="-122"/>
                <a:sym typeface="+mn-ea"/>
              </a:rPr>
              <a:t>”</a:t>
            </a:r>
            <a:r>
              <a:rPr lang="zh-CN" altLang="en-US" sz="2400" dirty="0">
                <a:latin typeface="宋体" panose="02010600030101010101" pitchFamily="2" charset="-122"/>
                <a:ea typeface="宋体" panose="02010600030101010101" pitchFamily="2" charset="-122"/>
                <a:sym typeface="+mn-ea"/>
              </a:rPr>
              <a:t>（第</a:t>
            </a:r>
            <a:r>
              <a:rPr lang="en-US" altLang="zh-CN" sz="2400" dirty="0">
                <a:latin typeface="宋体" panose="02010600030101010101" pitchFamily="2" charset="-122"/>
                <a:ea typeface="宋体" panose="02010600030101010101" pitchFamily="2" charset="-122"/>
                <a:sym typeface="+mn-ea"/>
              </a:rPr>
              <a:t>124</a:t>
            </a:r>
            <a:r>
              <a:rPr lang="zh-CN" altLang="en-US" sz="2400" dirty="0">
                <a:latin typeface="宋体" panose="02010600030101010101" pitchFamily="2" charset="-122"/>
                <a:ea typeface="宋体" panose="02010600030101010101" pitchFamily="2" charset="-122"/>
                <a:sym typeface="+mn-ea"/>
              </a:rPr>
              <a:t>节）“那怕世界毁灭，也要实现正义”。</a:t>
            </a:r>
          </a:p>
          <a:p>
            <a:pPr eaLnBrk="1" hangingPunct="1"/>
            <a:r>
              <a:rPr lang="zh-CN" altLang="en-US" sz="2400" dirty="0">
                <a:latin typeface="宋体" panose="02010600030101010101" pitchFamily="2" charset="-122"/>
                <a:ea typeface="宋体" panose="02010600030101010101" pitchFamily="2" charset="-122"/>
                <a:sym typeface="+mn-ea"/>
              </a:rPr>
              <a:t>与享乐主义的特殊性放纵相反，这种伦理学走向道德的严酷主义。道德严酷主义的问题在于，它在把人视为理性存在物的同时，没有看到人还是感性的自然存在物，有其欲望和需要，违背了人的欲望和要求片面地强调道德，很容易陷入</a:t>
            </a:r>
            <a:r>
              <a:rPr lang="en-US" altLang="zh-CN" sz="2400" dirty="0">
                <a:latin typeface="宋体" panose="02010600030101010101" pitchFamily="2" charset="-122"/>
                <a:ea typeface="宋体" panose="02010600030101010101" pitchFamily="2" charset="-122"/>
                <a:sym typeface="+mn-ea"/>
              </a:rPr>
              <a:t>“</a:t>
            </a:r>
            <a:r>
              <a:rPr lang="zh-CN" altLang="en-US" sz="2400" dirty="0">
                <a:latin typeface="宋体" panose="02010600030101010101" pitchFamily="2" charset="-122"/>
                <a:ea typeface="宋体" panose="02010600030101010101" pitchFamily="2" charset="-122"/>
                <a:sym typeface="+mn-ea"/>
              </a:rPr>
              <a:t>以理杀人</a:t>
            </a:r>
            <a:r>
              <a:rPr lang="en-US" altLang="zh-CN" sz="2400" dirty="0">
                <a:latin typeface="宋体" panose="02010600030101010101" pitchFamily="2" charset="-122"/>
                <a:ea typeface="宋体" panose="02010600030101010101" pitchFamily="2" charset="-122"/>
                <a:sym typeface="+mn-ea"/>
              </a:rPr>
              <a:t>”</a:t>
            </a:r>
            <a:r>
              <a:rPr lang="zh-CN" altLang="en-US" sz="2400" dirty="0">
                <a:latin typeface="宋体" panose="02010600030101010101" pitchFamily="2" charset="-122"/>
                <a:ea typeface="宋体" panose="02010600030101010101" pitchFamily="2" charset="-122"/>
                <a:sym typeface="+mn-ea"/>
              </a:rPr>
              <a:t>（戴震）。同时也会导致社会的普遍虚伪。</a:t>
            </a:r>
            <a:endParaRPr lang="zh-CN" altLang="en-US" sz="24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sym typeface="+mn-ea"/>
              </a:rPr>
              <a:t>从意图到良心</a:t>
            </a:r>
            <a:endParaRPr lang="zh-CN" altLang="en-US"/>
          </a:p>
        </p:txBody>
      </p:sp>
      <p:sp>
        <p:nvSpPr>
          <p:cNvPr id="3" name="文本框 2"/>
          <p:cNvSpPr txBox="1"/>
          <p:nvPr/>
        </p:nvSpPr>
        <p:spPr>
          <a:xfrm>
            <a:off x="502920" y="1120775"/>
            <a:ext cx="10596880" cy="5185650"/>
          </a:xfrm>
          <a:prstGeom prst="rect">
            <a:avLst/>
          </a:prstGeom>
          <a:noFill/>
        </p:spPr>
        <p:txBody>
          <a:bodyPr wrap="square" rtlCol="0">
            <a:spAutoFit/>
          </a:bodyPr>
          <a:lstStyle/>
          <a:p>
            <a:pPr marL="274320" indent="-274320" eaLnBrk="1" fontAlgn="auto" hangingPunct="1">
              <a:lnSpc>
                <a:spcPct val="140000"/>
              </a:lnSpc>
              <a:spcAft>
                <a:spcPts val="0"/>
              </a:spcAft>
              <a:buClr>
                <a:schemeClr val="accent3"/>
              </a:buClr>
              <a:buFont typeface="Wingdings" panose="05000000000000000000" pitchFamily="2" charset="2"/>
              <a:buNone/>
              <a:defRPr/>
            </a:pPr>
            <a:r>
              <a:rPr lang="zh-CN" altLang="en-US" dirty="0">
                <a:sym typeface="+mn-ea"/>
              </a:rPr>
              <a:t>    </a:t>
            </a:r>
            <a:r>
              <a:rPr lang="zh-CN" altLang="en-US" sz="2400" dirty="0">
                <a:sym typeface="+mn-ea"/>
              </a:rPr>
              <a:t> </a:t>
            </a:r>
            <a:r>
              <a:rPr lang="zh-CN" altLang="en-US" sz="2400" dirty="0">
                <a:latin typeface="宋体" panose="02010600030101010101" pitchFamily="2" charset="-122"/>
                <a:ea typeface="宋体" panose="02010600030101010101" pitchFamily="2" charset="-122"/>
                <a:sym typeface="+mn-ea"/>
              </a:rPr>
              <a:t>道德发展的意图与福利阶段已经揭示了主观的道德自由。这一自由的特征在于行为的主观的法与行为的客观的法的统一：</a:t>
            </a:r>
            <a:r>
              <a:rPr lang="en-US" altLang="zh-CN" sz="2400" dirty="0">
                <a:latin typeface="宋体" panose="02010600030101010101" pitchFamily="2" charset="-122"/>
                <a:ea typeface="宋体" panose="02010600030101010101" pitchFamily="2" charset="-122"/>
                <a:sym typeface="+mn-ea"/>
              </a:rPr>
              <a:t>“</a:t>
            </a:r>
            <a:r>
              <a:rPr lang="en-US" altLang="zh-CN" sz="2400" dirty="0" err="1">
                <a:latin typeface="宋体" panose="02010600030101010101" pitchFamily="2" charset="-122"/>
                <a:ea typeface="宋体" panose="02010600030101010101" pitchFamily="2" charset="-122"/>
                <a:sym typeface="+mn-ea"/>
              </a:rPr>
              <a:t>意图的法在于，行为的普遍性质不仅是自在地存在，而且为行为人所知道的，从而自始就包含在他的主观意志中</a:t>
            </a:r>
            <a:r>
              <a:rPr lang="en-US" altLang="zh-CN" sz="2400" dirty="0">
                <a:latin typeface="宋体" panose="02010600030101010101" pitchFamily="2" charset="-122"/>
                <a:ea typeface="宋体" panose="02010600030101010101" pitchFamily="2" charset="-122"/>
                <a:sym typeface="+mn-ea"/>
              </a:rPr>
              <a:t>。</a:t>
            </a:r>
            <a:r>
              <a:rPr lang="en-US" altLang="zh-CN" sz="2400" dirty="0" err="1">
                <a:latin typeface="宋体" panose="02010600030101010101" pitchFamily="2" charset="-122"/>
                <a:ea typeface="宋体" panose="02010600030101010101" pitchFamily="2" charset="-122"/>
                <a:sym typeface="+mn-ea"/>
              </a:rPr>
              <a:t>倒过来说，可以叫做行为的客观</a:t>
            </a:r>
            <a:r>
              <a:rPr lang="zh-CN" altLang="en-US" sz="2400" dirty="0">
                <a:latin typeface="宋体" panose="02010600030101010101" pitchFamily="2" charset="-122"/>
                <a:ea typeface="宋体" panose="02010600030101010101" pitchFamily="2" charset="-122"/>
                <a:sym typeface="+mn-ea"/>
              </a:rPr>
              <a:t>的法，就是行为的法，以肯定自己是思维者的主体所认识和希求的东西。</a:t>
            </a:r>
            <a:r>
              <a:rPr lang="en-US" altLang="zh-CN" sz="2400" dirty="0">
                <a:latin typeface="宋体" panose="02010600030101010101" pitchFamily="2" charset="-122"/>
                <a:ea typeface="宋体" panose="02010600030101010101" pitchFamily="2" charset="-122"/>
                <a:sym typeface="+mn-ea"/>
              </a:rPr>
              <a:t>”（§120）</a:t>
            </a:r>
          </a:p>
          <a:p>
            <a:pPr marL="274320" indent="-274320" eaLnBrk="1" fontAlgn="auto" hangingPunct="1">
              <a:lnSpc>
                <a:spcPct val="140000"/>
              </a:lnSpc>
              <a:spcAft>
                <a:spcPts val="0"/>
              </a:spcAft>
              <a:buClr>
                <a:schemeClr val="accent3"/>
              </a:buClr>
              <a:buFont typeface="Wingdings" panose="05000000000000000000" pitchFamily="2" charset="2"/>
              <a:buNone/>
              <a:defRPr/>
            </a:pPr>
            <a:r>
              <a:rPr lang="en-US" altLang="zh-CN" sz="2400" dirty="0">
                <a:latin typeface="宋体" panose="02010600030101010101" pitchFamily="2" charset="-122"/>
                <a:ea typeface="宋体" panose="02010600030101010101" pitchFamily="2" charset="-122"/>
                <a:sym typeface="+mn-ea"/>
              </a:rPr>
              <a:t>    </a:t>
            </a:r>
            <a:r>
              <a:rPr lang="zh-CN" altLang="en-US" sz="2400" dirty="0">
                <a:latin typeface="宋体" panose="02010600030101010101" pitchFamily="2" charset="-122"/>
                <a:ea typeface="宋体" panose="02010600030101010101" pitchFamily="2" charset="-122"/>
                <a:sym typeface="+mn-ea"/>
              </a:rPr>
              <a:t>但是，在意图与福利阶段，道德的内容还没有摆脱主观的特殊性。当</a:t>
            </a:r>
            <a:r>
              <a:rPr lang="en-US" altLang="zh-CN" sz="2400" dirty="0">
                <a:latin typeface="宋体" panose="02010600030101010101" pitchFamily="2" charset="-122"/>
                <a:ea typeface="宋体" panose="02010600030101010101" pitchFamily="2" charset="-122"/>
                <a:sym typeface="+mn-ea"/>
              </a:rPr>
              <a:t>“I want </a:t>
            </a:r>
            <a:r>
              <a:rPr lang="en-US" altLang="zh-CN" sz="2400" dirty="0" err="1">
                <a:latin typeface="宋体" panose="02010600030101010101" pitchFamily="2" charset="-122"/>
                <a:ea typeface="宋体" panose="02010600030101010101" pitchFamily="2" charset="-122"/>
                <a:sym typeface="+mn-ea"/>
              </a:rPr>
              <a:t>x”because</a:t>
            </a:r>
            <a:r>
              <a:rPr lang="en-US" altLang="zh-CN" sz="2400" dirty="0">
                <a:latin typeface="宋体" panose="02010600030101010101" pitchFamily="2" charset="-122"/>
                <a:ea typeface="宋体" panose="02010600030101010101" pitchFamily="2" charset="-122"/>
                <a:sym typeface="+mn-ea"/>
              </a:rPr>
              <a:t> “it is a good for me”</a:t>
            </a:r>
            <a:r>
              <a:rPr lang="zh-CN" altLang="en-US" sz="2400" dirty="0">
                <a:latin typeface="宋体" panose="02010600030101010101" pitchFamily="2" charset="-122"/>
                <a:ea typeface="宋体" panose="02010600030101010101" pitchFamily="2" charset="-122"/>
                <a:sym typeface="+mn-ea"/>
              </a:rPr>
              <a:t>过渡到</a:t>
            </a:r>
            <a:r>
              <a:rPr lang="en-US" altLang="zh-CN" sz="2400" dirty="0">
                <a:latin typeface="宋体" panose="02010600030101010101" pitchFamily="2" charset="-122"/>
                <a:ea typeface="宋体" panose="02010600030101010101" pitchFamily="2" charset="-122"/>
                <a:sym typeface="+mn-ea"/>
              </a:rPr>
              <a:t> “I want </a:t>
            </a:r>
            <a:r>
              <a:rPr lang="en-US" altLang="zh-CN" sz="2400" dirty="0" err="1">
                <a:latin typeface="宋体" panose="02010600030101010101" pitchFamily="2" charset="-122"/>
                <a:ea typeface="宋体" panose="02010600030101010101" pitchFamily="2" charset="-122"/>
                <a:sym typeface="+mn-ea"/>
              </a:rPr>
              <a:t>x”because</a:t>
            </a:r>
            <a:r>
              <a:rPr lang="en-US" altLang="zh-CN" sz="2400" dirty="0">
                <a:latin typeface="宋体" panose="02010600030101010101" pitchFamily="2" charset="-122"/>
                <a:ea typeface="宋体" panose="02010600030101010101" pitchFamily="2" charset="-122"/>
                <a:sym typeface="+mn-ea"/>
              </a:rPr>
              <a:t> “it is good by itself”</a:t>
            </a:r>
            <a:r>
              <a:rPr lang="zh-CN" altLang="en-US" sz="2400" dirty="0">
                <a:latin typeface="宋体" panose="02010600030101010101" pitchFamily="2" charset="-122"/>
                <a:ea typeface="宋体" panose="02010600030101010101" pitchFamily="2" charset="-122"/>
                <a:sym typeface="+mn-ea"/>
              </a:rPr>
              <a:t>时，我们就超越了意图与福利阶段，过渡善与良心阶段。可以说，真正的道德是二阶意志，是意志的意志，是根据意志自由的概念对特殊的意志行为的选择。</a:t>
            </a:r>
            <a:endParaRPr lang="zh-CN" altLang="en-US" sz="24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4337836" y="1629000"/>
            <a:ext cx="3600000" cy="3600000"/>
          </a:xfrm>
          <a:prstGeom prst="ellipse">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4519509" y="2828835"/>
            <a:ext cx="3236655" cy="1200329"/>
          </a:xfrm>
          <a:prstGeom prst="rect">
            <a:avLst/>
          </a:prstGeom>
          <a:noFill/>
        </p:spPr>
        <p:txBody>
          <a:bodyPr wrap="none" rtlCol="0">
            <a:spAutoFit/>
          </a:bodyPr>
          <a:lstStyle/>
          <a:p>
            <a:pPr algn="ctr"/>
            <a:r>
              <a:rPr lang="en-US" altLang="zh-CN" sz="7200" dirty="0">
                <a:solidFill>
                  <a:schemeClr val="bg1"/>
                </a:solidFill>
              </a:rPr>
              <a:t>THANKS</a:t>
            </a:r>
            <a:endParaRPr lang="zh-CN" altLang="en-US" sz="7200" dirty="0">
              <a:solidFill>
                <a:schemeClr val="bg1"/>
              </a:solidFill>
            </a:endParaRPr>
          </a:p>
        </p:txBody>
      </p:sp>
      <p:cxnSp>
        <p:nvCxnSpPr>
          <p:cNvPr id="7" name="直接连接符 6"/>
          <p:cNvCxnSpPr/>
          <p:nvPr/>
        </p:nvCxnSpPr>
        <p:spPr>
          <a:xfrm>
            <a:off x="4697836" y="2828835"/>
            <a:ext cx="2880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4697836" y="4029164"/>
            <a:ext cx="2880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椭圆 1"/>
          <p:cNvSpPr/>
          <p:nvPr/>
        </p:nvSpPr>
        <p:spPr>
          <a:xfrm>
            <a:off x="4436036" y="1743300"/>
            <a:ext cx="3403600" cy="340360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TANDARD">
      <a:majorFont>
        <a:latin typeface="Calibri"/>
        <a:ea typeface="微軟正黑體"/>
        <a:cs typeface=""/>
      </a:majorFont>
      <a:minorFont>
        <a:latin typeface="Calibri"/>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4224</Words>
  <Application>Microsoft Office PowerPoint</Application>
  <PresentationFormat>宽屏</PresentationFormat>
  <Paragraphs>64</Paragraphs>
  <Slides>21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21</vt:i4>
      </vt:variant>
    </vt:vector>
  </HeadingPairs>
  <TitlesOfParts>
    <vt:vector size="29" baseType="lpstr">
      <vt:lpstr>华文中宋</vt:lpstr>
      <vt:lpstr>宋体</vt:lpstr>
      <vt:lpstr>微软雅黑</vt:lpstr>
      <vt:lpstr>Arial</vt:lpstr>
      <vt:lpstr>Calibri</vt:lpstr>
      <vt:lpstr>Wingdings</vt:lpstr>
      <vt:lpstr>Wingdings 2</vt:lpstr>
      <vt:lpstr>Office 主题</vt:lpstr>
      <vt:lpstr>道德（1）</vt:lpstr>
      <vt:lpstr>道德的观点</vt:lpstr>
      <vt:lpstr>从抽象法到道德</vt:lpstr>
      <vt:lpstr> 道德的观点 </vt:lpstr>
      <vt:lpstr>道德的观点是主体的观点</vt:lpstr>
      <vt:lpstr>道德是主观意志的法</vt:lpstr>
      <vt:lpstr>道德与法律的区别</vt:lpstr>
      <vt:lpstr>道德的环节</vt:lpstr>
      <vt:lpstr>故意与责任</vt:lpstr>
      <vt:lpstr>故意</vt:lpstr>
      <vt:lpstr> 责任是主观认知的法 </vt:lpstr>
      <vt:lpstr>超越唯动机论和后果论的对立</vt:lpstr>
      <vt:lpstr>意图与福利</vt:lpstr>
      <vt:lpstr>从故意到意图</vt:lpstr>
      <vt:lpstr> 主观自由的法是古代到现代的转折点 </vt:lpstr>
      <vt:lpstr>意图</vt:lpstr>
      <vt:lpstr>福利</vt:lpstr>
      <vt:lpstr>意图与福利的统一</vt:lpstr>
      <vt:lpstr> 对道德严酷主义的批判 </vt:lpstr>
      <vt:lpstr>从意图到良心</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Ryan Lee</dc:creator>
  <cp:lastModifiedBy>xingfuw</cp:lastModifiedBy>
  <cp:revision>66</cp:revision>
  <dcterms:created xsi:type="dcterms:W3CDTF">2014-04-01T11:22:00Z</dcterms:created>
  <dcterms:modified xsi:type="dcterms:W3CDTF">2024-04-08T05:28:54Z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2052-11.1.0.9584</vt:lpwstr>
  </property>
</Properties>
</file>
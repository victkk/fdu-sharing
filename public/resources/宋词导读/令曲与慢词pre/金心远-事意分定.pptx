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56" r:id="rId3"/>
    <p:sldId id="257" r:id="rId5"/>
    <p:sldId id="306" r:id="rId6"/>
    <p:sldId id="307" r:id="rId7"/>
    <p:sldId id="314" r:id="rId8"/>
    <p:sldId id="308" r:id="rId9"/>
    <p:sldId id="309" r:id="rId10"/>
    <p:sldId id="311" r:id="rId11"/>
    <p:sldId id="313" r:id="rId12"/>
    <p:sldId id="315" r:id="rId13"/>
    <p:sldId id="316" r:id="rId14"/>
    <p:sldId id="323" r:id="rId15"/>
    <p:sldId id="325" r:id="rId16"/>
    <p:sldId id="324" r:id="rId17"/>
    <p:sldId id="326" r:id="rId18"/>
    <p:sldId id="327" r:id="rId19"/>
    <p:sldId id="317" r:id="rId20"/>
    <p:sldId id="328" r:id="rId21"/>
    <p:sldId id="332" r:id="rId22"/>
    <p:sldId id="283" r:id="rId23"/>
  </p:sldIdLst>
  <p:sldSz cx="12192000" cy="6858000"/>
  <p:notesSz cx="6858000" cy="9144000"/>
  <p:embeddedFontLst>
    <p:embeddedFont>
      <p:font typeface="方正姚体" panose="02010601030101010101" charset="-122"/>
      <p:regular r:id="rId28"/>
    </p:embeddedFont>
    <p:embeddedFont>
      <p:font typeface="楷体" panose="02010609060101010101" pitchFamily="49" charset="-122"/>
      <p:regular r:id="rId29"/>
    </p:embeddedFont>
    <p:embeddedFont>
      <p:font typeface="湖非湖海非海" panose="02010600010101010101" charset="-122"/>
      <p:regular r:id="rId30"/>
    </p:embeddedFont>
    <p:embeddedFont>
      <p:font typeface="仿宋" panose="02010609060101010101" pitchFamily="49" charset="-122"/>
      <p:regular r:id="rId31"/>
    </p:embeddedFont>
    <p:embeddedFont>
      <p:font typeface="等线 Light" panose="02010600030101010101" charset="-122"/>
      <p:regular r:id="rId32"/>
    </p:embeddedFont>
    <p:embeddedFont>
      <p:font typeface="等线" panose="02010600030101010101" charset="-122"/>
      <p:regular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</p:embeddedFontLst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DDF"/>
    <a:srgbClr val="F6F1E7"/>
    <a:srgbClr val="F7F2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28" y="40"/>
      </p:cViewPr>
      <p:guideLst>
        <p:guide orient="horz" pos="2160"/>
        <p:guide pos="37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6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gs" Target="tags/tag19.xml"/><Relationship Id="rId37" Type="http://schemas.openxmlformats.org/officeDocument/2006/relationships/font" Target="fonts/font10.fntdata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EF993-BE21-4F61-BA21-1B72A1591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426B2-D23F-4F55-98A3-96BCAF66FA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89AC-EFB1-4394-A3EC-9FD079F744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0C80-4785-4161-BF1A-FF8EA7C9A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89AC-EFB1-4394-A3EC-9FD079F744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0C80-4785-4161-BF1A-FF8EA7C9A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E89AC-EFB1-4394-A3EC-9FD079F744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80C80-4785-4161-BF1A-FF8EA7C9A24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>
    <p:random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7" b="7807"/>
          <a:stretch>
            <a:fillRect/>
          </a:stretch>
        </p:blipFill>
        <p:spPr>
          <a:xfrm>
            <a:off x="-2460625" y="-1616075"/>
            <a:ext cx="17711420" cy="99631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88515" y="853440"/>
            <a:ext cx="8034655" cy="4573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事意分定：令曲与慢词的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结构组织与情绪表达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——以秦观《望海潮》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《千秋岁》为例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3530600" y="5244465"/>
            <a:ext cx="51504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spc="300" dirty="0">
                <a:latin typeface="楷体" panose="02010609060101010101" pitchFamily="49" charset="-122"/>
                <a:ea typeface="楷体" panose="02010609060101010101" pitchFamily="49" charset="-122"/>
              </a:rPr>
              <a:t>金心远</a:t>
            </a:r>
            <a:r>
              <a:rPr lang="en-US" altLang="zh-CN" sz="2800" spc="300" dirty="0">
                <a:latin typeface="楷体" panose="02010609060101010101" pitchFamily="49" charset="-122"/>
                <a:ea typeface="楷体" panose="02010609060101010101" pitchFamily="49" charset="-122"/>
              </a:rPr>
              <a:t> 23</a:t>
            </a:r>
            <a:r>
              <a:rPr lang="zh-CN" altLang="en-US" sz="2800" spc="300" dirty="0">
                <a:latin typeface="楷体" panose="02010609060101010101" pitchFamily="49" charset="-122"/>
                <a:ea typeface="楷体" panose="02010609060101010101" pitchFamily="49" charset="-122"/>
              </a:rPr>
              <a:t>级汉语言文学</a:t>
            </a:r>
            <a:endParaRPr lang="zh-CN" altLang="en-US" sz="2800" spc="3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076960" y="1188720"/>
            <a:ext cx="3515359" cy="3332480"/>
          </a:xfrm>
          <a:prstGeom prst="ellipse">
            <a:avLst/>
          </a:prstGeom>
          <a:blipFill>
            <a:blip r:embed="rId1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28719" y="863600"/>
            <a:ext cx="863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solidFill>
                  <a:schemeClr val="tx1">
                    <a:alpha val="78000"/>
                  </a:schemeClr>
                </a:solidFill>
                <a:latin typeface="湖非湖海非海" panose="02010600010101010101" charset="-122"/>
                <a:ea typeface="湖非湖海非海" panose="02010600010101010101" charset="-122"/>
              </a:rPr>
              <a:t>目</a:t>
            </a:r>
            <a:endParaRPr lang="zh-CN" altLang="en-US" sz="8800" dirty="0">
              <a:solidFill>
                <a:schemeClr val="tx1">
                  <a:alpha val="78000"/>
                </a:schemeClr>
              </a:solidFill>
              <a:latin typeface="湖非湖海非海" panose="02010600010101010101" charset="-122"/>
              <a:ea typeface="湖非湖海非海" panose="0201060001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78959" y="2131685"/>
            <a:ext cx="863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solidFill>
                  <a:schemeClr val="tx1">
                    <a:alpha val="78000"/>
                  </a:schemeClr>
                </a:solidFill>
                <a:latin typeface="湖非湖海非海" panose="02010600010101010101" charset="-122"/>
                <a:ea typeface="湖非湖海非海" panose="02010600010101010101" charset="-122"/>
              </a:rPr>
              <a:t>录</a:t>
            </a:r>
            <a:endParaRPr lang="zh-CN" altLang="en-US" sz="8800" dirty="0">
              <a:solidFill>
                <a:schemeClr val="tx1">
                  <a:alpha val="78000"/>
                </a:schemeClr>
              </a:solidFill>
              <a:latin typeface="湖非湖海非海" panose="02010600010101010101" charset="-122"/>
              <a:ea typeface="湖非湖海非海" panose="02010600010101010101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2"/>
            </p:custDataLst>
          </p:nvPr>
        </p:nvGrpSpPr>
        <p:grpSpPr>
          <a:xfrm>
            <a:off x="5501640" y="3010246"/>
            <a:ext cx="4490720" cy="645160"/>
            <a:chOff x="6228080" y="1351280"/>
            <a:chExt cx="4490720" cy="645160"/>
          </a:xfrm>
        </p:grpSpPr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6228080" y="1351280"/>
              <a:ext cx="86360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湖非湖海非海" panose="02010600010101010101" charset="-122"/>
                  <a:ea typeface="湖非湖海非海" panose="02010600010101010101" charset="-122"/>
                </a:rPr>
                <a:t>叁</a:t>
              </a:r>
              <a:endPara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湖非湖海非海" panose="02010600010101010101" charset="-122"/>
                <a:ea typeface="湖非湖海非海" panose="02010600010101010101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4"/>
              </p:custDataLst>
            </p:nvPr>
          </p:nvSpPr>
          <p:spPr>
            <a:xfrm>
              <a:off x="7396480" y="1474390"/>
              <a:ext cx="332232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spc="300" dirty="0">
                  <a:latin typeface="楷体" panose="02010609060101010101" pitchFamily="49" charset="-122"/>
                  <a:ea typeface="楷体" panose="02010609060101010101" pitchFamily="49" charset="-122"/>
                </a:rPr>
                <a:t>二首抒怀词</a:t>
              </a:r>
              <a:r>
                <a:rPr lang="zh-CN" altLang="en-US" sz="2400" spc="300" dirty="0">
                  <a:latin typeface="楷体" panose="02010609060101010101" pitchFamily="49" charset="-122"/>
                  <a:ea typeface="楷体" panose="02010609060101010101" pitchFamily="49" charset="-122"/>
                </a:rPr>
                <a:t>比较</a:t>
              </a:r>
              <a:endParaRPr lang="zh-CN" altLang="en-US" sz="2400" spc="3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" name="椭圆 8"/>
            <p:cNvSpPr/>
            <p:nvPr>
              <p:custDataLst>
                <p:tags r:id="rId5"/>
              </p:custDataLst>
            </p:nvPr>
          </p:nvSpPr>
          <p:spPr>
            <a:xfrm flipH="1">
              <a:off x="7105750" y="1586875"/>
              <a:ext cx="138330" cy="1383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>
            <p:custDataLst>
              <p:tags r:id="rId6"/>
            </p:custDataLst>
          </p:nvPr>
        </p:nvGrpSpPr>
        <p:grpSpPr>
          <a:xfrm>
            <a:off x="5501640" y="2143010"/>
            <a:ext cx="5363845" cy="871220"/>
            <a:chOff x="6228080" y="1351280"/>
            <a:chExt cx="5363845" cy="871220"/>
          </a:xfrm>
        </p:grpSpPr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6228080" y="1351280"/>
              <a:ext cx="86360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湖非湖海非海" panose="02010600010101010101" charset="-122"/>
                  <a:ea typeface="湖非湖海非海" panose="02010600010101010101" charset="-122"/>
                </a:rPr>
                <a:t>贰</a:t>
              </a:r>
              <a:endPara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湖非湖海非海" panose="02010600010101010101" charset="-122"/>
                <a:ea typeface="湖非湖海非海" panose="02010600010101010101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8"/>
              </p:custDataLst>
            </p:nvPr>
          </p:nvSpPr>
          <p:spPr>
            <a:xfrm>
              <a:off x="7396480" y="1477010"/>
              <a:ext cx="4195445" cy="74549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 spc="300" dirty="0">
                  <a:latin typeface="楷体" panose="02010609060101010101" pitchFamily="49" charset="-122"/>
                  <a:ea typeface="楷体" panose="02010609060101010101" pitchFamily="49" charset="-122"/>
                </a:rPr>
                <a:t>《千秋岁》《望海潮》之</a:t>
              </a:r>
              <a:r>
                <a:rPr lang="en-US" altLang="zh-CN" sz="2400" spc="300" dirty="0">
                  <a:latin typeface="楷体" panose="02010609060101010101" pitchFamily="49" charset="-122"/>
                  <a:ea typeface="楷体" panose="02010609060101010101" pitchFamily="49" charset="-122"/>
                </a:rPr>
                <a:t>“</a:t>
              </a:r>
              <a:r>
                <a:rPr lang="zh-CN" altLang="en-US" sz="2400" spc="300" dirty="0">
                  <a:latin typeface="楷体" panose="02010609060101010101" pitchFamily="49" charset="-122"/>
                  <a:ea typeface="楷体" panose="02010609060101010101" pitchFamily="49" charset="-122"/>
                </a:rPr>
                <a:t>令</a:t>
              </a:r>
              <a:r>
                <a:rPr lang="en-US" altLang="zh-CN" sz="2400" spc="300" dirty="0">
                  <a:latin typeface="楷体" panose="02010609060101010101" pitchFamily="49" charset="-122"/>
                  <a:ea typeface="楷体" panose="02010609060101010101" pitchFamily="49" charset="-122"/>
                </a:rPr>
                <a:t>”“</a:t>
              </a:r>
              <a:r>
                <a:rPr lang="zh-CN" altLang="en-US" sz="2400" spc="300" dirty="0">
                  <a:latin typeface="楷体" panose="02010609060101010101" pitchFamily="49" charset="-122"/>
                  <a:ea typeface="楷体" panose="02010609060101010101" pitchFamily="49" charset="-122"/>
                </a:rPr>
                <a:t>慢</a:t>
              </a:r>
              <a:r>
                <a:rPr lang="en-US" altLang="zh-CN" sz="2400" spc="300" dirty="0">
                  <a:latin typeface="楷体" panose="02010609060101010101" pitchFamily="49" charset="-122"/>
                  <a:ea typeface="楷体" panose="02010609060101010101" pitchFamily="49" charset="-122"/>
                </a:rPr>
                <a:t>”</a:t>
              </a:r>
              <a:r>
                <a:rPr lang="zh-CN" altLang="en-US" sz="2400" spc="300" dirty="0">
                  <a:latin typeface="楷体" panose="02010609060101010101" pitchFamily="49" charset="-122"/>
                  <a:ea typeface="楷体" panose="02010609060101010101" pitchFamily="49" charset="-122"/>
                </a:rPr>
                <a:t>性质</a:t>
              </a:r>
              <a:endParaRPr lang="zh-CN" altLang="en-US" sz="2400" spc="3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椭圆 13"/>
            <p:cNvSpPr/>
            <p:nvPr>
              <p:custDataLst>
                <p:tags r:id="rId9"/>
              </p:custDataLst>
            </p:nvPr>
          </p:nvSpPr>
          <p:spPr>
            <a:xfrm flipH="1">
              <a:off x="7105750" y="1586875"/>
              <a:ext cx="138330" cy="1383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>
            <p:custDataLst>
              <p:tags r:id="rId10"/>
            </p:custDataLst>
          </p:nvPr>
        </p:nvGrpSpPr>
        <p:grpSpPr>
          <a:xfrm>
            <a:off x="5501640" y="1438969"/>
            <a:ext cx="4490720" cy="645160"/>
            <a:chOff x="6228080" y="1351280"/>
            <a:chExt cx="4490720" cy="645160"/>
          </a:xfrm>
        </p:grpSpPr>
        <p:sp>
          <p:nvSpPr>
            <p:cNvPr id="16" name="文本框 15"/>
            <p:cNvSpPr txBox="1"/>
            <p:nvPr>
              <p:custDataLst>
                <p:tags r:id="rId11"/>
              </p:custDataLst>
            </p:nvPr>
          </p:nvSpPr>
          <p:spPr>
            <a:xfrm>
              <a:off x="6228080" y="1351280"/>
              <a:ext cx="86360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湖非湖海非海" panose="02010600010101010101" charset="-122"/>
                  <a:ea typeface="湖非湖海非海" panose="02010600010101010101" charset="-122"/>
                </a:rPr>
                <a:t>壹</a:t>
              </a:r>
              <a:endPara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湖非湖海非海" panose="02010600010101010101" charset="-122"/>
                <a:ea typeface="湖非湖海非海" panose="02010600010101010101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2"/>
              </p:custDataLst>
            </p:nvPr>
          </p:nvSpPr>
          <p:spPr>
            <a:xfrm>
              <a:off x="7396480" y="1474390"/>
              <a:ext cx="332232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spc="300" dirty="0">
                  <a:latin typeface="楷体" panose="02010609060101010101" pitchFamily="49" charset="-122"/>
                  <a:ea typeface="楷体" panose="02010609060101010101" pitchFamily="49" charset="-122"/>
                </a:rPr>
                <a:t>引言</a:t>
              </a:r>
              <a:endParaRPr lang="zh-CN" altLang="en-US" sz="2400" spc="3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13"/>
              </p:custDataLst>
            </p:nvPr>
          </p:nvSpPr>
          <p:spPr>
            <a:xfrm flipH="1">
              <a:off x="7105750" y="1586875"/>
              <a:ext cx="138330" cy="1383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>
            <p:custDataLst>
              <p:tags r:id="rId14"/>
            </p:custDataLst>
          </p:nvPr>
        </p:nvGrpSpPr>
        <p:grpSpPr>
          <a:xfrm>
            <a:off x="5501640" y="3642531"/>
            <a:ext cx="1016000" cy="645160"/>
            <a:chOff x="6228080" y="1351280"/>
            <a:chExt cx="1016000" cy="645160"/>
          </a:xfrm>
        </p:grpSpPr>
        <p:sp>
          <p:nvSpPr>
            <p:cNvPr id="20" name="文本框 19"/>
            <p:cNvSpPr txBox="1"/>
            <p:nvPr>
              <p:custDataLst>
                <p:tags r:id="rId15"/>
              </p:custDataLst>
            </p:nvPr>
          </p:nvSpPr>
          <p:spPr>
            <a:xfrm>
              <a:off x="6228080" y="1351280"/>
              <a:ext cx="86360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湖非湖海非海" panose="02010600010101010101" charset="-122"/>
                  <a:ea typeface="湖非湖海非海" panose="02010600010101010101" charset="-122"/>
                </a:rPr>
                <a:t>肆</a:t>
              </a:r>
              <a:endPara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湖非湖海非海" panose="02010600010101010101" charset="-122"/>
                <a:ea typeface="湖非湖海非海" panose="02010600010101010101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6"/>
              </p:custDataLst>
            </p:nvPr>
          </p:nvSpPr>
          <p:spPr>
            <a:xfrm flipH="1">
              <a:off x="7105750" y="1586875"/>
              <a:ext cx="138330" cy="1383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>
            <p:custDataLst>
              <p:tags r:id="rId17"/>
            </p:custDataLst>
          </p:nvPr>
        </p:nvSpPr>
        <p:spPr>
          <a:xfrm>
            <a:off x="6670040" y="3692791"/>
            <a:ext cx="3322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楷体" panose="02010609060101010101" pitchFamily="49" charset="-122"/>
                <a:ea typeface="楷体" panose="02010609060101010101" pitchFamily="49" charset="-122"/>
              </a:rPr>
              <a:t>外话</a:t>
            </a:r>
            <a:endParaRPr lang="zh-CN" altLang="en-US" sz="2400" spc="3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壹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引言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37940" y="1444299"/>
            <a:ext cx="77076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/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“作大词,先须立间架,将事与意分定了。第一要起得好,中间只铺叙,过处要清新,最紧要是末句,须是有一好出场方妙。小词只要些新意,不可太高远,却易得古人句,同一要炼句。”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r"/>
            <a:r>
              <a:rPr 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——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  <a:sym typeface="+mn-ea"/>
              </a:rPr>
              <a:t>沈义父《乐府指迷》</a:t>
            </a:r>
            <a:endParaRPr 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37940" y="3687119"/>
            <a:ext cx="7707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事意分定：事和意间架的</a:t>
            </a:r>
            <a:r>
              <a:rPr 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构思</a:t>
            </a:r>
            <a:endParaRPr lang="zh-CN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37940" y="4450389"/>
            <a:ext cx="77076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慢词：事意分定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→顿挫潜转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令曲：即景抒情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→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刹那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情感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9" r="1" b="78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0565" y="251460"/>
            <a:ext cx="8923020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贰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4800" spc="3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千秋岁》《望海潮》之</a:t>
            </a:r>
            <a:r>
              <a:rPr lang="en-US" altLang="zh-CN" sz="4800" spc="3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       “</a:t>
            </a:r>
            <a:r>
              <a:rPr lang="zh-CN" altLang="en-US" sz="4800" spc="3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令</a:t>
            </a:r>
            <a:r>
              <a:rPr lang="en-US" altLang="zh-CN" sz="4800" spc="3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”“</a:t>
            </a:r>
            <a:r>
              <a:rPr lang="zh-CN" altLang="en-US" sz="4800" spc="3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慢</a:t>
            </a:r>
            <a:r>
              <a:rPr lang="en-US" altLang="zh-CN" sz="4800" spc="3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”</a:t>
            </a:r>
            <a:r>
              <a:rPr lang="zh-CN" altLang="en-US" sz="4800" spc="3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性质</a:t>
            </a:r>
            <a:endParaRPr kumimoji="0" lang="zh-CN" altLang="en-US" sz="48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10565" y="2094230"/>
            <a:ext cx="820737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标准：《朝野与雅俗:宋真宗至高宗朝词坛生态与词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       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体雅化研究》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“令曲即多体制短小,以单式句为主,节奏上接近于近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体诗的词调;慢词则体制较长,以双式句为主,富有歌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词特色节奏的词调”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0565" y="4307205"/>
            <a:ext cx="35896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千秋岁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悲调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,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激烈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重头曲，单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式句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为主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七十一字，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中调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26965" y="4307205"/>
            <a:ext cx="35896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望海潮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舒缓，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雍容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多双式句，多对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句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一百零七字，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长调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二首抒怀词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比照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4565" y="1006784"/>
            <a:ext cx="7707630" cy="5851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千秋岁·水边沙外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水边沙外。城郭春寒退。花影乱，莺声碎。飘零疏酒盏，离别宽衣带。人不见，碧云暮合空相对。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忆昔西池会。鹓鹭同飞盖。携手处，今谁在。日边清梦断，镜里朱颜改。春去也，飞红万点愁如海。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望海潮·洛阳怀古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梅英疏淡，冰澌溶泄，东风暗换年华。金谷俊游，铜驼巷陌，新晴细履平沙。长记误随车。正絮翻蝶舞，芳思交加。柳下桃蹊，乱分春色到人家。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西园夜饮鸣笳。有华灯碍月，飞盖妨花。兰苑未空，行人渐老，重来是事堪嗟。烟暝酒旗斜。但倚楼极目，时见栖鸦。无奈归心，暗随流水到天涯。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二首抒怀词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比照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98190" y="1710690"/>
            <a:ext cx="8034020" cy="4485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>
              <a:lnSpc>
                <a:spcPct val="190000"/>
              </a:lnSpc>
            </a:pPr>
            <a:r>
              <a:rPr 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创作背景：绍圣党禁，驱逐出京，一再追贬</a:t>
            </a:r>
            <a:endParaRPr lang="zh-CN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90000"/>
              </a:lnSpc>
            </a:pPr>
            <a:r>
              <a:rPr 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《自作挽词》：“奇祸一朝作，飘零至于斯”</a:t>
            </a:r>
            <a:endParaRPr lang="zh-CN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90000"/>
              </a:lnSpc>
            </a:pPr>
            <a:r>
              <a:rPr 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生平：早年沉浮科场，中年步入仕途，七年后迁谪出</a:t>
            </a:r>
            <a:r>
              <a:rPr 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京</a:t>
            </a:r>
            <a:endParaRPr lang="zh-CN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90000"/>
              </a:lnSpc>
            </a:pPr>
            <a:r>
              <a:rPr 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西园雅集：政坛和文坛</a:t>
            </a:r>
            <a:r>
              <a:rPr 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中心</a:t>
            </a:r>
            <a:endParaRPr lang="zh-CN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90000"/>
              </a:lnSpc>
            </a:pPr>
            <a:r>
              <a:rPr 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辉煌的</a:t>
            </a:r>
            <a:r>
              <a:rPr lang="zh-CN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盛会</a:t>
            </a:r>
            <a:endParaRPr lang="zh-CN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二首抒怀词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比照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4565" y="1006784"/>
            <a:ext cx="7707630" cy="5851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>
              <a:lnSpc>
                <a:spcPct val="120000"/>
              </a:lnSpc>
            </a:pP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千秋岁·水边沙外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水边沙外。城郭春寒退。花影乱，莺声碎。飘零疏酒盏，离别宽衣带。人不见，碧云暮合空相对。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忆昔西池会。鹓鹭同飞盖。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携手处，今谁在。日边清梦断，镜里朱颜改。春去也，飞红万点愁如海。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望海潮·洛阳怀古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梅英疏淡，冰澌溶泄，东风暗换年华。金谷俊游，铜驼巷陌，新晴细履平沙。长记误随车。正絮翻蝶舞，芳思交加。柳下桃蹊，乱分春色到人家。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西园夜饮鸣笳。有华灯碍月，飞盖妨花。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兰苑未空，行人渐老，重来是事堪嗟。烟暝酒旗斜。但倚楼极目，时见栖鸦。无奈归心，暗随流水到天涯。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626735" y="2806700"/>
            <a:ext cx="240665" cy="2463800"/>
            <a:chOff x="8861" y="4420"/>
            <a:chExt cx="379" cy="3880"/>
          </a:xfrm>
        </p:grpSpPr>
        <p:sp>
          <p:nvSpPr>
            <p:cNvPr id="8" name="下箭头 7"/>
            <p:cNvSpPr/>
            <p:nvPr/>
          </p:nvSpPr>
          <p:spPr>
            <a:xfrm>
              <a:off x="9000" y="4420"/>
              <a:ext cx="240" cy="840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下箭头 9"/>
            <p:cNvSpPr/>
            <p:nvPr/>
          </p:nvSpPr>
          <p:spPr>
            <a:xfrm rot="10800000">
              <a:off x="8861" y="6420"/>
              <a:ext cx="289" cy="1880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597400" y="3477895"/>
            <a:ext cx="2527935" cy="4603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p>
            <a:r>
              <a:rPr lang="zh-CN" altLang="en-US" sz="2400"/>
              <a:t>怀古：西园盛会</a:t>
            </a:r>
            <a:endParaRPr lang="zh-CN" altLang="en-US" sz="24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二首抒怀词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比照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4565" y="1006784"/>
            <a:ext cx="7707630" cy="5851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>
              <a:lnSpc>
                <a:spcPct val="120000"/>
              </a:lnSpc>
            </a:pP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千秋岁·水边沙外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水边沙外。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城郭春寒退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。花影乱，莺声碎。飘零疏酒盏，离别宽衣带。人不见，碧云暮合空相对。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忆昔西池会。鹓鹭同飞盖。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携手处，今谁在。日边清梦断，镜里朱颜改。春去也，飞红万点愁如海。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望海潮·洛阳怀古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梅英疏淡，冰澌溶泄，东风暗换年华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。金谷俊游，铜驼巷陌，新晴细履平沙。长记误随车。正絮翻蝶舞，芳思交加。柳下桃蹊，乱分春色到人家。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西园夜饮鸣笳。有华灯碍月，飞盖妨花。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兰苑未空，行人渐老，重来是事堪嗟。烟暝酒旗斜。但倚楼极目，时见栖鸦。无奈归心，暗随流水到天涯。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248400" y="1955943"/>
            <a:ext cx="191135" cy="2234024"/>
            <a:chOff x="9840" y="-2467"/>
            <a:chExt cx="301" cy="7257"/>
          </a:xfrm>
        </p:grpSpPr>
        <p:sp>
          <p:nvSpPr>
            <p:cNvPr id="8" name="下箭头 7"/>
            <p:cNvSpPr/>
            <p:nvPr/>
          </p:nvSpPr>
          <p:spPr>
            <a:xfrm>
              <a:off x="9840" y="-2467"/>
              <a:ext cx="301" cy="4303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下箭头 9"/>
            <p:cNvSpPr/>
            <p:nvPr/>
          </p:nvSpPr>
          <p:spPr>
            <a:xfrm rot="10800000">
              <a:off x="9840" y="3117"/>
              <a:ext cx="301" cy="1673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5394325" y="3280410"/>
            <a:ext cx="1899920" cy="4603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p>
            <a:r>
              <a:rPr lang="zh-CN" altLang="en-US" sz="2400"/>
              <a:t>即景：春日</a:t>
            </a:r>
            <a:endParaRPr lang="zh-CN" altLang="en-US" sz="24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二首抒怀词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比照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4565" y="1006784"/>
            <a:ext cx="7707630" cy="5851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>
              <a:lnSpc>
                <a:spcPct val="120000"/>
              </a:lnSpc>
            </a:pP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千秋岁·水边沙外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水边沙外。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城郭春寒退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。花影</a:t>
            </a:r>
            <a:r>
              <a:rPr sz="24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乱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，莺声碎。飘零疏酒盏，离别宽衣带。人不见，碧云暮合空相对。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忆昔西池会。鹓鹭同飞盖。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携手处，今谁在。日边清梦断，镜里朱颜改。春去也，飞红万点愁如海。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望海潮·洛阳怀古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梅英疏淡，冰澌溶泄，东风暗换年华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。金谷俊游，铜驼巷陌，新晴细履平沙。长记误随车。正絮翻蝶舞，芳思交加。柳下桃蹊，</a:t>
            </a:r>
            <a:r>
              <a:rPr sz="24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乱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分春色到人家。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西园夜饮鸣笳。有华灯碍月，飞盖妨花。</a:t>
            </a:r>
            <a:r>
              <a:rPr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兰苑未空，行人渐老，重来是事堪嗟。烟暝酒旗斜。但倚楼极目，时见栖鸦。无奈归心，暗随流水到天涯。</a:t>
            </a:r>
            <a:endParaRPr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585710" y="1910724"/>
            <a:ext cx="682625" cy="3186801"/>
            <a:chOff x="10825" y="-5248"/>
            <a:chExt cx="1075" cy="10352"/>
          </a:xfrm>
        </p:grpSpPr>
        <p:sp>
          <p:nvSpPr>
            <p:cNvPr id="8" name="下箭头 7"/>
            <p:cNvSpPr/>
            <p:nvPr/>
          </p:nvSpPr>
          <p:spPr>
            <a:xfrm>
              <a:off x="11658" y="-5248"/>
              <a:ext cx="242" cy="4148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下箭头 9"/>
            <p:cNvSpPr/>
            <p:nvPr/>
          </p:nvSpPr>
          <p:spPr>
            <a:xfrm rot="10800000">
              <a:off x="10825" y="712"/>
              <a:ext cx="315" cy="4392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7033895" y="3235960"/>
            <a:ext cx="2527935" cy="4603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p>
            <a:r>
              <a:rPr lang="zh-CN" altLang="en-US" sz="2400"/>
              <a:t>感遇：迁谪</a:t>
            </a:r>
            <a:r>
              <a:rPr lang="zh-CN" altLang="en-US" sz="2400"/>
              <a:t>心态</a:t>
            </a:r>
            <a:endParaRPr lang="zh-CN" altLang="en-US" sz="24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二首抒怀词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比照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4565" y="1006784"/>
            <a:ext cx="7707630" cy="5851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千秋岁·水边沙外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水边沙外。城郭春寒退。花影乱，莺声碎。飘零疏酒盏，离别宽衣带。人不见，碧云暮合空相对。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忆昔西池会。鹓鹭同飞盖。携手处，今谁在。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日边清梦断，镜里朱颜改。春去也，飞红万点愁如海。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望海潮·洛阳怀古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梅英疏淡，冰澌溶泄，东风暗换年华。金谷俊游，铜驼巷陌，新晴细履平沙。</a:t>
            </a: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长记误随车。正絮翻蝶舞，芳思交加。柳下桃蹊，乱分春色到人家。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西园夜饮鸣笳。有华灯碍月，飞盖妨花。</a:t>
            </a: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兰苑未空，行人渐老，重来是事堪嗟。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烟暝酒旗斜。但倚楼极目，时见栖鸦。无奈归心，暗随流水到天涯。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508240" y="2306254"/>
            <a:ext cx="123190" cy="1874154"/>
            <a:chOff x="11658" y="-4747"/>
            <a:chExt cx="194" cy="6088"/>
          </a:xfrm>
        </p:grpSpPr>
        <p:sp>
          <p:nvSpPr>
            <p:cNvPr id="8" name="下箭头 7"/>
            <p:cNvSpPr/>
            <p:nvPr/>
          </p:nvSpPr>
          <p:spPr>
            <a:xfrm>
              <a:off x="11658" y="-4747"/>
              <a:ext cx="194" cy="2836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下箭头 9"/>
            <p:cNvSpPr/>
            <p:nvPr/>
          </p:nvSpPr>
          <p:spPr>
            <a:xfrm rot="10800000">
              <a:off x="11658" y="-270"/>
              <a:ext cx="194" cy="1611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5995670" y="3201670"/>
            <a:ext cx="3134360" cy="4603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p>
            <a:r>
              <a:rPr lang="zh-CN" altLang="en-US" sz="2400"/>
              <a:t>一重空间：</a:t>
            </a:r>
            <a:r>
              <a:rPr lang="zh-CN" altLang="en-US" sz="2400"/>
              <a:t>此时此地</a:t>
            </a:r>
            <a:endParaRPr lang="zh-CN" altLang="en-US" sz="2400"/>
          </a:p>
        </p:txBody>
      </p:sp>
      <p:grpSp>
        <p:nvGrpSpPr>
          <p:cNvPr id="2" name="组合 1"/>
          <p:cNvGrpSpPr/>
          <p:nvPr/>
        </p:nvGrpSpPr>
        <p:grpSpPr>
          <a:xfrm>
            <a:off x="5610860" y="2799645"/>
            <a:ext cx="682625" cy="2657925"/>
            <a:chOff x="10825" y="-3530"/>
            <a:chExt cx="1075" cy="8634"/>
          </a:xfrm>
        </p:grpSpPr>
        <p:sp>
          <p:nvSpPr>
            <p:cNvPr id="4" name="下箭头 3"/>
            <p:cNvSpPr/>
            <p:nvPr/>
          </p:nvSpPr>
          <p:spPr>
            <a:xfrm>
              <a:off x="11658" y="-3530"/>
              <a:ext cx="242" cy="2430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下箭头 6"/>
            <p:cNvSpPr/>
            <p:nvPr/>
          </p:nvSpPr>
          <p:spPr>
            <a:xfrm rot="10800000">
              <a:off x="10825" y="712"/>
              <a:ext cx="315" cy="4392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188460" y="3547745"/>
            <a:ext cx="3134360" cy="4603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p>
            <a:r>
              <a:rPr lang="zh-CN" altLang="en-US" sz="2400"/>
              <a:t>二重空间：彼时此</a:t>
            </a:r>
            <a:r>
              <a:rPr lang="zh-CN" altLang="en-US" sz="2400"/>
              <a:t>地</a:t>
            </a:r>
            <a:endParaRPr lang="zh-CN" altLang="en-US" sz="24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bldLvl="0" animBg="1"/>
      <p:bldP spid="11" grpId="1" animBg="1"/>
      <p:bldP spid="9" grpId="0" bldLvl="0" animBg="1"/>
      <p:bldP spid="9" grpId="1" animBg="1"/>
      <p:bldP spid="11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二首抒怀词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比照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4565" y="1006784"/>
            <a:ext cx="7707630" cy="5851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千秋岁·水边沙外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水边沙外。城郭春寒退。花影乱，莺声碎。飘零疏酒盏，离别宽衣带。人不见，碧云暮合空相对。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忆昔西池会。鹓鹭同飞盖。携手处，今谁在。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日边清梦断，镜里朱颜改。春去也，飞红万点愁如海。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望海潮·洛阳怀古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梅英疏淡，冰澌溶泄，东风暗换年华。金谷俊游，铜驼巷陌，新晴细履平沙。</a:t>
            </a:r>
            <a:r>
              <a:rPr sz="2400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长记误随车。正絮翻蝶舞，芳思交加。柳下桃蹊，乱分春色到人家。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西园夜饮鸣笳。有华灯碍月，飞盖妨花。</a:t>
            </a:r>
            <a:r>
              <a:rPr sz="240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兰苑未空，行人渐老，重来是事堪嗟。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烟暝酒旗斜。但倚楼极目，时见栖鸦。无奈归心，暗随流水到天涯。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10" name="下箭头 9"/>
          <p:cNvSpPr/>
          <p:nvPr/>
        </p:nvSpPr>
        <p:spPr>
          <a:xfrm rot="10800000">
            <a:off x="7258685" y="3707130"/>
            <a:ext cx="132715" cy="96647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815330" y="3246755"/>
            <a:ext cx="3210560" cy="4603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p>
            <a:r>
              <a:rPr lang="zh-CN" altLang="en-US" sz="2400"/>
              <a:t>三重空间：彼时</a:t>
            </a:r>
            <a:r>
              <a:rPr lang="zh-CN" altLang="en-US" sz="2400"/>
              <a:t>此地</a:t>
            </a:r>
            <a:endParaRPr lang="zh-CN" altLang="en-US" sz="24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1" grpId="1" animBg="1"/>
      <p:bldP spid="10" grpId="0" animBg="1"/>
      <p:bldP spid="1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二首抒怀词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比照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4565" y="1006784"/>
            <a:ext cx="7707630" cy="5851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千秋岁·水边沙外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水边沙外。城郭春寒退。花影乱，莺声碎。飘零疏酒盏，离别宽衣带。人不见，碧云暮合空相对。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忆昔西池会。鹓鹭同飞盖。携手处，今谁在。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日边清梦断，镜里朱颜改。春去也，飞红万点愁如海。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望海潮·洛阳怀古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梅英疏淡，冰澌溶泄，东风暗换年华。金谷俊游，铜驼巷陌，新晴细履平沙。</a:t>
            </a:r>
            <a:r>
              <a:rPr sz="2400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长记误随车。正絮翻蝶舞，芳思交加。柳下桃蹊，乱分春色到人家。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西园夜饮鸣笳。有华灯碍月，飞盖妨花。</a:t>
            </a:r>
            <a:r>
              <a:rPr sz="240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兰苑未空，行人渐老，重来是事堪嗟。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烟暝酒旗斜。但倚楼极目，时见栖鸦。无奈归心，暗随流水到天涯。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10" name="下箭头 9"/>
          <p:cNvSpPr/>
          <p:nvPr/>
        </p:nvSpPr>
        <p:spPr>
          <a:xfrm rot="10800000">
            <a:off x="5815330" y="4053840"/>
            <a:ext cx="180975" cy="188976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487545" y="3429000"/>
            <a:ext cx="3018790" cy="4603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p>
            <a:r>
              <a:rPr lang="zh-CN" altLang="en-US" sz="2400"/>
              <a:t>四重空间：此时彼</a:t>
            </a:r>
            <a:r>
              <a:rPr lang="zh-CN" altLang="en-US" sz="2400"/>
              <a:t>地</a:t>
            </a:r>
            <a:endParaRPr lang="zh-CN" altLang="en-US" sz="24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1" grpId="1" animBg="1"/>
      <p:bldP spid="10" grpId="0" bldLvl="0" animBg="1"/>
      <p:bldP spid="1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二首抒怀词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比照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4565" y="1006784"/>
            <a:ext cx="7707630" cy="5851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千秋岁·水边沙外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水边沙外。城郭春寒退。花影乱，莺声碎。飘零疏酒盏，离别宽衣带。人不见，碧云暮合空相对。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忆昔</a:t>
            </a: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西池会。鹓鹭同飞盖。携手处，今谁在。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日边清梦断，镜里朱颜改。春去也，飞红万点愁如海。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望海潮·洛阳怀古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梅英疏淡，冰澌溶泄，东风暗换年华。金谷俊游，铜驼巷陌，新晴细履平沙。</a:t>
            </a:r>
            <a:r>
              <a:rPr sz="2400" dirty="0">
                <a:solidFill>
                  <a:srgbClr val="7030A0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长记</a:t>
            </a:r>
            <a:r>
              <a:rPr sz="2400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误随车。正絮翻蝶舞，芳思交加。柳下桃蹊，乱分春色到人家。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西园夜饮鸣笳。有华灯碍月，飞盖妨花。</a:t>
            </a:r>
            <a:r>
              <a:rPr sz="240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兰苑未空，行人渐老，重来是事堪嗟。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烟暝酒旗斜。但倚楼极目，时见栖鸦。无奈归心，暗随流水到天涯。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362450" y="2815736"/>
            <a:ext cx="3071495" cy="1801503"/>
            <a:chOff x="8734" y="-3092"/>
            <a:chExt cx="4837" cy="5852"/>
          </a:xfrm>
        </p:grpSpPr>
        <p:sp>
          <p:nvSpPr>
            <p:cNvPr id="8" name="下箭头 7"/>
            <p:cNvSpPr/>
            <p:nvPr/>
          </p:nvSpPr>
          <p:spPr>
            <a:xfrm>
              <a:off x="8734" y="-3092"/>
              <a:ext cx="165" cy="1993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下箭头 9"/>
            <p:cNvSpPr/>
            <p:nvPr/>
          </p:nvSpPr>
          <p:spPr>
            <a:xfrm rot="10800000">
              <a:off x="13332" y="623"/>
              <a:ext cx="239" cy="2137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266565" y="3429000"/>
            <a:ext cx="3167380" cy="4603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400"/>
              <a:t>虚字作</a:t>
            </a:r>
            <a:r>
              <a:rPr lang="zh-CN" altLang="en-US" sz="2400"/>
              <a:t>领</a:t>
            </a:r>
            <a:endParaRPr lang="zh-CN" altLang="en-US" sz="24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1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二首抒怀词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比照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4565" y="1006784"/>
            <a:ext cx="7707630" cy="5851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千秋岁·水边沙外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水边沙外。城郭春寒退。花影乱，莺声碎。飘零疏酒盏，离别宽衣带。人不见，碧云暮合空相对。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忆昔西池会。鹓鹭同飞盖。携手处，今谁在。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日边清梦断，镜里朱颜改。春去也，飞红万点愁如海。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望海潮·洛阳怀古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梅英疏淡，冰澌溶泄，东风暗换年华。金谷俊游，铜驼巷陌，新晴细履平沙。</a:t>
            </a:r>
            <a:r>
              <a:rPr sz="2400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长记误随车。正絮翻蝶舞，芳思交加。柳下桃蹊，乱分春色到人家。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西园</a:t>
            </a: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夜饮鸣笳。有华灯碍月，飞盖妨花。</a:t>
            </a:r>
            <a:r>
              <a:rPr sz="2400" dirty="0">
                <a:solidFill>
                  <a:srgbClr val="002060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兰苑未空</a:t>
            </a:r>
            <a:r>
              <a:rPr sz="240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，行人渐老，重来是事堪嗟。</a:t>
            </a:r>
            <a:r>
              <a:rPr sz="2400" dirty="0">
                <a:solidFill>
                  <a:schemeClr val="accent1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烟暝酒旗斜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。但倚楼极目，时见栖鸦。无奈归心，暗随流水到天涯。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2" name="下箭头 1"/>
          <p:cNvSpPr/>
          <p:nvPr/>
        </p:nvSpPr>
        <p:spPr>
          <a:xfrm rot="10800000">
            <a:off x="7268210" y="3746500"/>
            <a:ext cx="219075" cy="207200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746115" y="3286125"/>
            <a:ext cx="3018790" cy="4603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400"/>
              <a:t>实字作</a:t>
            </a:r>
            <a:r>
              <a:rPr lang="zh-CN" altLang="en-US" sz="2400"/>
              <a:t>领</a:t>
            </a:r>
            <a:endParaRPr lang="zh-CN" altLang="en-US" sz="24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4" grpId="0" bldLvl="0" animBg="1"/>
      <p:bldP spid="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二首抒怀词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比照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4565" y="1006784"/>
            <a:ext cx="7707630" cy="5851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千秋岁·水边沙外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水边沙外。城郭春寒退。花影乱，莺声碎。飘零疏酒盏，离别宽衣带。人不见，碧云暮合空相对。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忆昔</a:t>
            </a: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西池会。鹓鹭同飞盖。携手处，今谁在。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日边清梦断，镜里朱颜改。春去也，飞红万点愁如海。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望海潮·洛阳怀古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梅英疏淡，冰澌溶泄，东风暗换年华。金谷俊游，铜驼巷陌，新晴细履平沙。</a:t>
            </a:r>
            <a:r>
              <a:rPr sz="2400" dirty="0">
                <a:solidFill>
                  <a:srgbClr val="7030A0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长记</a:t>
            </a:r>
            <a:r>
              <a:rPr sz="2400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误随车。正絮翻蝶舞，芳思交加。柳下桃蹊，乱分春色到人家。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西园</a:t>
            </a: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夜饮鸣笳。有华灯碍月，飞盖妨花。</a:t>
            </a:r>
            <a:r>
              <a:rPr sz="2400" dirty="0">
                <a:solidFill>
                  <a:srgbClr val="002060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兰苑未空</a:t>
            </a:r>
            <a:r>
              <a:rPr sz="240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，行人渐老，重来是事堪嗟。</a:t>
            </a:r>
            <a:r>
              <a:rPr sz="2400" dirty="0">
                <a:solidFill>
                  <a:schemeClr val="accent1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烟暝酒旗斜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。但倚楼极目，时见栖鸦。无奈归心，暗随流水到天涯。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9405" y="3228975"/>
            <a:ext cx="4201795" cy="69977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2000"/>
              <a:t>虚字的转接提顿：明而显</a:t>
            </a:r>
            <a:endParaRPr lang="zh-CN" altLang="en-US" sz="2000"/>
          </a:p>
          <a:p>
            <a:pPr algn="ctr"/>
            <a:r>
              <a:rPr lang="zh-CN" altLang="en-US" sz="2000"/>
              <a:t>实字的转接提顿：敛而潜</a:t>
            </a:r>
            <a:endParaRPr lang="zh-CN" altLang="en-US" sz="20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4565" y="124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二首抒怀词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比照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4565" y="1006784"/>
            <a:ext cx="7707630" cy="5851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千秋岁·水边沙外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水边沙外。城郭春寒退。花影乱，莺声碎。飘零疏酒盏，离别宽衣带。人不见，碧云暮合空相对。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忆昔</a:t>
            </a: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西池会。鹓鹭同飞盖。携手处，今谁在。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日边清梦断，镜里朱颜改。春去也，飞红万点愁如海。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望海潮·洛阳怀古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梅英疏淡，冰澌溶泄，东风暗换年华。金谷俊游，铜驼巷陌，新晴细履平沙。</a:t>
            </a:r>
            <a:r>
              <a:rPr sz="2400" dirty="0">
                <a:solidFill>
                  <a:srgbClr val="7030A0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长记</a:t>
            </a:r>
            <a:r>
              <a:rPr sz="2400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误随车。正絮翻蝶舞，芳思交加。柳下桃蹊，乱分春色到人家。</a:t>
            </a:r>
            <a:endParaRPr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 algn="ctr">
              <a:lnSpc>
                <a:spcPct val="120000"/>
              </a:lnSpc>
            </a:pPr>
            <a:r>
              <a:rPr sz="2400" dirty="0">
                <a:solidFill>
                  <a:srgbClr val="C00000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西园</a:t>
            </a:r>
            <a:r>
              <a:rPr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夜饮鸣笳。有华灯碍月，飞盖妨花。</a:t>
            </a:r>
            <a:r>
              <a:rPr sz="2400" dirty="0">
                <a:solidFill>
                  <a:srgbClr val="002060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兰苑未空</a:t>
            </a:r>
            <a:r>
              <a:rPr sz="240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，行人渐老，重来是事堪嗟。</a:t>
            </a:r>
            <a:r>
              <a:rPr sz="2400" dirty="0">
                <a:solidFill>
                  <a:schemeClr val="accent1"/>
                </a:solidFill>
                <a:highlight>
                  <a:srgbClr val="C0C0C0"/>
                </a:highlight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烟暝酒旗斜</a:t>
            </a:r>
            <a:r>
              <a:rPr sz="2400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。但倚楼极目，时见栖鸦。无奈归心，暗随流水到天涯。</a:t>
            </a:r>
            <a:endParaRPr sz="2400" dirty="0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9785" y="3228975"/>
            <a:ext cx="5606415" cy="69977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2000"/>
              <a:t>结构形式</a:t>
            </a:r>
            <a:r>
              <a:rPr lang="en-US" altLang="zh-CN" sz="2000"/>
              <a:t>→</a:t>
            </a:r>
            <a:r>
              <a:rPr lang="zh-CN" altLang="en-US" sz="2000"/>
              <a:t>词气差异</a:t>
            </a:r>
            <a:r>
              <a:rPr lang="en-US" altLang="zh-CN" sz="2000"/>
              <a:t>→</a:t>
            </a:r>
            <a:r>
              <a:rPr lang="zh-CN" altLang="en-US" sz="2000"/>
              <a:t>抒情有</a:t>
            </a:r>
            <a:r>
              <a:rPr lang="zh-CN" altLang="en-US" sz="2000"/>
              <a:t>别</a:t>
            </a:r>
            <a:endParaRPr lang="zh-CN" altLang="en-US" sz="2000"/>
          </a:p>
          <a:p>
            <a:pPr algn="ctr"/>
            <a:r>
              <a:rPr lang="zh-CN" altLang="en-US" sz="2000"/>
              <a:t>迂回曲折，深厚内敛</a:t>
            </a:r>
            <a:r>
              <a:rPr lang="en-US" altLang="zh-CN" sz="2000"/>
              <a:t>—</a:t>
            </a:r>
            <a:r>
              <a:rPr lang="zh-CN" altLang="en-US" sz="2000"/>
              <a:t>舒放直露，一气</a:t>
            </a:r>
            <a:r>
              <a:rPr lang="zh-CN" altLang="en-US" sz="2000"/>
              <a:t>而成</a:t>
            </a:r>
            <a:endParaRPr lang="zh-CN" altLang="en-US" sz="20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9" r="1" b="78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15365" y="251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肆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外话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9120" y="1362075"/>
            <a:ext cx="84963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苏轼：将个人的郁懑遣散于天地之间，达到一种“无身”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的状态，与形而上的境界相通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“人生如梦，一尊还酹江月”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8055" y="4218305"/>
            <a:ext cx="358965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苏轼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超脱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物外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获得平静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旷达超然的词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境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65320" y="4225290"/>
            <a:ext cx="40513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秦观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不能平息内心的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噪音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哀鸣的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罗网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凄清而暗藏锐鸣的词境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9120" y="2656840"/>
            <a:ext cx="84963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秦观：关注点落回自身，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反复嗟叹自己的不幸，因过多的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重复甚至形成了一种强迫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“无奈归心，暗随流水到天涯”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/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5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9" r="1" b="78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15365" y="251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肆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外话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9120" y="1564005"/>
            <a:ext cx="8044180" cy="3928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30000"/>
              </a:lnSpc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困住秦观的不是不幸，而是他对不幸的自恋式的目光。在舔舐伤口时，他对拥有这道伤口的自己进行反复的检视、反复的怜悯，最后即成为了一种自恋。他是一个嗜痛患者，在剖开伤口的时候感到快意，并因这样的快感而把疤痕一次次撕裂，直到不能承受的鲜血淋漓，失血而亡。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但我们怎能批评秦观。当我们面对不幸时，我们真的能够成为苏轼吗？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9" r="1" b="78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7070" y="251460"/>
            <a:ext cx="7501255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参考文献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5910" y="1564005"/>
            <a:ext cx="8132445" cy="5050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3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[1]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沈义父：《乐府指迷》，北京：北京联合出版社，2018年，第283页。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[2]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赵惠俊：《朝野与雅俗:宋真宗至高宗朝词坛生态与词体雅化研究》，上海：复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旦大学出版社，2019年，第53页。  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[3]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谢桃坊：《唐宋词谱粹编》，四川：四川人民出版社，2010年，第54页。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[4]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唐宋词鉴赏辞典》唐·五代·北宋卷，上海：上海辞书出版社，1988年，第820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页。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[5]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孙崇恩：《北宋婉约派四大名家词》，北京：中国书籍出版社，1995年，第62-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64页。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[6]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况周颐撰、屈兴国辑注：《蕙风词话辑注》，江西：江西人民出版社，2000年，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 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第11页。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[7]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彭玉平：《词学史上的“潜气内转”说》，文学评论，2012，第197-208页。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[8]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陈匪石：《声执》卷上，江苏：江苏古籍出版社，2022年，第188-189页。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[9]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赵惠俊：《朝野与雅俗:宋真宗至高宗朝词坛生态与词体雅化研究》，上海：复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旦大学出版社，2019年，第60页。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 indent="457200">
              <a:lnSpc>
                <a:spcPct val="130000"/>
              </a:lnSpc>
            </a:pP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07" r="1" b="780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212080" y="1343432"/>
            <a:ext cx="16052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dirty="0">
                <a:solidFill>
                  <a:schemeClr val="tx1">
                    <a:lumMod val="85000"/>
                    <a:lumOff val="15000"/>
                  </a:schemeClr>
                </a:solidFill>
                <a:latin typeface="湖非湖海非海" panose="02010600010101010101" charset="-122"/>
                <a:ea typeface="湖非湖海非海" panose="02010600010101010101" charset="-122"/>
              </a:rPr>
              <a:t>感</a:t>
            </a:r>
            <a:endParaRPr lang="zh-CN" altLang="en-US" sz="11500" dirty="0">
              <a:solidFill>
                <a:schemeClr val="tx1">
                  <a:lumMod val="85000"/>
                  <a:lumOff val="15000"/>
                </a:schemeClr>
              </a:solidFill>
              <a:latin typeface="湖非湖海非海" panose="02010600010101010101" charset="-122"/>
              <a:ea typeface="湖非湖海非海" panose="0201060001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04560" y="2606209"/>
            <a:ext cx="1605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dirty="0">
                <a:solidFill>
                  <a:schemeClr val="tx1">
                    <a:lumMod val="85000"/>
                    <a:lumOff val="15000"/>
                  </a:schemeClr>
                </a:solidFill>
                <a:latin typeface="湖非湖海非海" panose="02010600010101010101" charset="-122"/>
                <a:ea typeface="湖非湖海非海" panose="02010600010101010101" charset="-122"/>
              </a:rPr>
              <a:t>谢</a:t>
            </a:r>
            <a:endParaRPr lang="zh-CN" altLang="en-US" sz="9600" dirty="0">
              <a:solidFill>
                <a:schemeClr val="tx1">
                  <a:lumMod val="85000"/>
                  <a:lumOff val="15000"/>
                </a:schemeClr>
              </a:solidFill>
              <a:latin typeface="湖非湖海非海" panose="02010600010101010101" charset="-122"/>
              <a:ea typeface="湖非湖海非海" panose="0201060001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14240" y="3205480"/>
            <a:ext cx="16052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湖非湖海非海" panose="02010600010101010101" charset="-122"/>
                <a:ea typeface="湖非湖海非海" panose="02010600010101010101" charset="-122"/>
              </a:rPr>
              <a:t>观</a:t>
            </a:r>
            <a:endParaRPr lang="zh-CN" altLang="en-US" sz="7200" dirty="0">
              <a:solidFill>
                <a:schemeClr val="tx1">
                  <a:lumMod val="85000"/>
                  <a:lumOff val="15000"/>
                </a:schemeClr>
              </a:solidFill>
              <a:latin typeface="湖非湖海非海" panose="02010600010101010101" charset="-122"/>
              <a:ea typeface="湖非湖海非海" panose="0201060001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59120" y="4081750"/>
            <a:ext cx="16052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湖非湖海非海" panose="02010600010101010101" charset="-122"/>
                <a:ea typeface="湖非湖海非海" panose="02010600010101010101" charset="-122"/>
              </a:rPr>
              <a:t>看</a:t>
            </a:r>
            <a:endParaRPr lang="zh-CN" altLang="en-US" sz="5400" dirty="0">
              <a:solidFill>
                <a:schemeClr val="tx1">
                  <a:lumMod val="85000"/>
                  <a:lumOff val="15000"/>
                </a:schemeClr>
              </a:solidFill>
              <a:latin typeface="湖非湖海非海" panose="02010600010101010101" charset="-122"/>
              <a:ea typeface="湖非湖海非海" panose="0201060001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001770" y="5244465"/>
            <a:ext cx="4669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spc="300" dirty="0">
                <a:latin typeface="楷体" panose="02010609060101010101" pitchFamily="49" charset="-122"/>
                <a:ea typeface="楷体" panose="02010609060101010101" pitchFamily="49" charset="-122"/>
              </a:rPr>
              <a:t>金心远</a:t>
            </a:r>
            <a:r>
              <a:rPr lang="en-US" altLang="zh-CN" sz="2800" spc="300" dirty="0">
                <a:latin typeface="楷体" panose="02010609060101010101" pitchFamily="49" charset="-122"/>
                <a:ea typeface="楷体" panose="02010609060101010101" pitchFamily="49" charset="-122"/>
              </a:rPr>
              <a:t> 23</a:t>
            </a:r>
            <a:r>
              <a:rPr lang="zh-CN" altLang="en-US" sz="2800" spc="300" dirty="0">
                <a:latin typeface="楷体" panose="02010609060101010101" pitchFamily="49" charset="-122"/>
                <a:ea typeface="楷体" panose="02010609060101010101" pitchFamily="49" charset="-122"/>
              </a:rPr>
              <a:t>级汉语言文学</a:t>
            </a:r>
            <a:endParaRPr lang="zh-CN" altLang="en-US" sz="2800" spc="3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9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"/>
                            </p:stCondLst>
                            <p:childTnLst>
                              <p:par>
                                <p:cTn id="1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9"/>
                            </p:stCondLst>
                            <p:childTnLst>
                              <p:par>
                                <p:cTn id="2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5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7" grpId="0"/>
      <p:bldP spid="7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2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3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4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5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6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7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8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9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10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11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12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13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14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15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16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17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18.xml><?xml version="1.0" encoding="utf-8"?>
<p:tagLst xmlns:p="http://schemas.openxmlformats.org/presentationml/2006/main">
  <p:tag name="KSO_WM_DIAGRAM_VIRTUALLY_FRAME" val="{&quot;height&quot;:224.40102362204726,&quot;left&quot;:433.2,&quot;top&quot;:113.30464566929133,&quot;width&quot;:353.6}"/>
</p:tagLst>
</file>

<file path=ppt/tags/tag19.xml><?xml version="1.0" encoding="utf-8"?>
<p:tagLst xmlns:p="http://schemas.openxmlformats.org/presentationml/2006/main">
  <p:tag name="COMMONDATA" val="eyJjb3VudCI6MiwiaGRpZCI6IjIwZjcxYTUxNjgwODVjYzM2NzA1MjNkNTBiYzg1Zjg2IiwidXNlckNvdW50IjoyfQ=="/>
  <p:tag name="commondata" val="eyJjb3VudCI6MywiaGRpZCI6IjMxMDUzOTc2MDA0YzM5MGU1ZGY2Njg5MDBiMTRlNDk1IiwidXNlckNvdW50Ijox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3981</Words>
  <Application>WPS 演示</Application>
  <PresentationFormat>宽屏</PresentationFormat>
  <Paragraphs>256</Paragraphs>
  <Slides>20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宋体</vt:lpstr>
      <vt:lpstr>Wingdings</vt:lpstr>
      <vt:lpstr>方正姚体</vt:lpstr>
      <vt:lpstr>楷体</vt:lpstr>
      <vt:lpstr>湖非湖海非海</vt:lpstr>
      <vt:lpstr>仿宋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</dc:creator>
  <cp:lastModifiedBy>焕之</cp:lastModifiedBy>
  <cp:revision>53</cp:revision>
  <dcterms:created xsi:type="dcterms:W3CDTF">2019-12-05T12:17:00Z</dcterms:created>
  <dcterms:modified xsi:type="dcterms:W3CDTF">2024-05-19T01:15:03Z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KSOTemplateUUID">
    <vt:lpwstr>v1.0_mb_2s+URGmpJMn5e8NaTiHspw==</vt:lpwstr>
  </property>
  <property fmtid="{D5CDD505-2E9C-101B-9397-08002B2CF9AE}" pid="4" name="ICV">
    <vt:lpwstr>A8BD94C848D7448E85684B86EBDD2912_13</vt:lpwstr>
  </property>
</Properties>
</file>